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8af378a3d448c" /><Relationship Type="http://schemas.openxmlformats.org/officeDocument/2006/relationships/extended-properties" Target="/docProps/app.xml" Id="R6aeaededb4f84fbc" /><Relationship Type="http://schemas.openxmlformats.org/officeDocument/2006/relationships/officeDocument" Target="/ppt/presentation.xml" Id="Rd91d4fac6b96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d582c26d6b42b6"/>
  </p:sldMasterIdLst>
  <p:notesMasterIdLst>
    <p:notesMasterId xmlns:r="http://schemas.openxmlformats.org/officeDocument/2006/relationships" r:id="R3cc70f87209a46c6"/>
  </p:notesMasterIdLst>
  <p:sldIdLst>
    <p:sldId xmlns:r="http://schemas.openxmlformats.org/officeDocument/2006/relationships" id="256" r:id="Re54362cefb0345d0"/>
    <p:sldId xmlns:r="http://schemas.openxmlformats.org/officeDocument/2006/relationships" id="257" r:id="Rf16e018056504ff9"/>
    <p:sldId xmlns:r="http://schemas.openxmlformats.org/officeDocument/2006/relationships" id="258" r:id="R1280db3dc9074c96"/>
    <p:sldId xmlns:r="http://schemas.openxmlformats.org/officeDocument/2006/relationships" id="259" r:id="R71c9f888c25e4fe1"/>
    <p:sldId xmlns:r="http://schemas.openxmlformats.org/officeDocument/2006/relationships" id="260" r:id="R1f688863e1e7401d"/>
    <p:sldId xmlns:r="http://schemas.openxmlformats.org/officeDocument/2006/relationships" id="261" r:id="R815e010e964942a9"/>
    <p:sldId xmlns:r="http://schemas.openxmlformats.org/officeDocument/2006/relationships" id="262" r:id="Rf1083d62b83f43be"/>
    <p:sldId xmlns:r="http://schemas.openxmlformats.org/officeDocument/2006/relationships" id="263" r:id="Rbf3faafd9ea144a5"/>
    <p:sldId xmlns:r="http://schemas.openxmlformats.org/officeDocument/2006/relationships" id="264" r:id="R0d877980be914be1"/>
    <p:sldId xmlns:r="http://schemas.openxmlformats.org/officeDocument/2006/relationships" id="265" r:id="R742f92dab59046eb"/>
    <p:sldId xmlns:r="http://schemas.openxmlformats.org/officeDocument/2006/relationships" id="266" r:id="R7fd7e4e7e5974863"/>
    <p:sldId xmlns:r="http://schemas.openxmlformats.org/officeDocument/2006/relationships" id="267" r:id="Rfcff7c5d43e84ce0"/>
    <p:sldId xmlns:r="http://schemas.openxmlformats.org/officeDocument/2006/relationships" id="268" r:id="R3b8fa530ddc0497b"/>
    <p:sldId xmlns:r="http://schemas.openxmlformats.org/officeDocument/2006/relationships" id="269" r:id="Rcb4d1e4e44b543ec"/>
    <p:sldId xmlns:r="http://schemas.openxmlformats.org/officeDocument/2006/relationships" id="270" r:id="R455aa97ea0984245"/>
    <p:sldId xmlns:r="http://schemas.openxmlformats.org/officeDocument/2006/relationships" id="271" r:id="R38f97dc6489a4ffd"/>
    <p:sldId xmlns:r="http://schemas.openxmlformats.org/officeDocument/2006/relationships" id="272" r:id="R7ceb3c533cf7442c"/>
    <p:sldId xmlns:r="http://schemas.openxmlformats.org/officeDocument/2006/relationships" id="273" r:id="R2d93eccc44014282"/>
    <p:sldId xmlns:r="http://schemas.openxmlformats.org/officeDocument/2006/relationships" id="274" r:id="Re337d0ca80514a2f"/>
    <p:sldId xmlns:r="http://schemas.openxmlformats.org/officeDocument/2006/relationships" id="275" r:id="R92dd7d2cba254c0f"/>
    <p:sldId xmlns:r="http://schemas.openxmlformats.org/officeDocument/2006/relationships" id="276" r:id="R0ea0c891f38e457e"/>
    <p:sldId xmlns:r="http://schemas.openxmlformats.org/officeDocument/2006/relationships" id="277" r:id="R8b86682f193d41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dbc625f7d406d" /><Relationship Type="http://schemas.openxmlformats.org/officeDocument/2006/relationships/slideMaster" Target="/ppt/slideMasters/slideMaster1.xml" Id="Rc7d582c26d6b42b6" /><Relationship Type="http://schemas.openxmlformats.org/officeDocument/2006/relationships/notesMaster" Target="/ppt/notesMasters/notesMaster1.xml" Id="R3cc70f87209a46c6" /><Relationship Type="http://schemas.openxmlformats.org/officeDocument/2006/relationships/presProps" Target="/ppt/presProps.xml" Id="Rf4151662d0cc4a6c" /><Relationship Type="http://schemas.openxmlformats.org/officeDocument/2006/relationships/viewProps" Target="/ppt/viewProps.xml" Id="R05c6f504cfac4769" /><Relationship Type="http://schemas.openxmlformats.org/officeDocument/2006/relationships/tableStyles" Target="/ppt/tableStyles.xml" Id="R09e5c2829eb14f0d" /><Relationship Type="http://schemas.openxmlformats.org/officeDocument/2006/relationships/slide" Target="/ppt/slides/slide1.xml" Id="Re54362cefb0345d0" /><Relationship Type="http://schemas.openxmlformats.org/officeDocument/2006/relationships/slide" Target="/ppt/slides/slide2.xml" Id="Rf16e018056504ff9" /><Relationship Type="http://schemas.openxmlformats.org/officeDocument/2006/relationships/slide" Target="/ppt/slides/slide3.xml" Id="R1280db3dc9074c96" /><Relationship Type="http://schemas.openxmlformats.org/officeDocument/2006/relationships/slide" Target="/ppt/slides/slide4.xml" Id="R71c9f888c25e4fe1" /><Relationship Type="http://schemas.openxmlformats.org/officeDocument/2006/relationships/slide" Target="/ppt/slides/slide5.xml" Id="R1f688863e1e7401d" /><Relationship Type="http://schemas.openxmlformats.org/officeDocument/2006/relationships/slide" Target="/ppt/slides/slide6.xml" Id="R815e010e964942a9" /><Relationship Type="http://schemas.openxmlformats.org/officeDocument/2006/relationships/slide" Target="/ppt/slides/slide7.xml" Id="Rf1083d62b83f43be" /><Relationship Type="http://schemas.openxmlformats.org/officeDocument/2006/relationships/slide" Target="/ppt/slides/slide8.xml" Id="Rbf3faafd9ea144a5" /><Relationship Type="http://schemas.openxmlformats.org/officeDocument/2006/relationships/slide" Target="/ppt/slides/slide9.xml" Id="R0d877980be914be1" /><Relationship Type="http://schemas.openxmlformats.org/officeDocument/2006/relationships/slide" Target="/ppt/slides/slide10.xml" Id="R742f92dab59046eb" /><Relationship Type="http://schemas.openxmlformats.org/officeDocument/2006/relationships/slide" Target="/ppt/slides/slide11.xml" Id="R7fd7e4e7e5974863" /><Relationship Type="http://schemas.openxmlformats.org/officeDocument/2006/relationships/slide" Target="/ppt/slides/slide12.xml" Id="Rfcff7c5d43e84ce0" /><Relationship Type="http://schemas.openxmlformats.org/officeDocument/2006/relationships/slide" Target="/ppt/slides/slide13.xml" Id="R3b8fa530ddc0497b" /><Relationship Type="http://schemas.openxmlformats.org/officeDocument/2006/relationships/slide" Target="/ppt/slides/slide14.xml" Id="Rcb4d1e4e44b543ec" /><Relationship Type="http://schemas.openxmlformats.org/officeDocument/2006/relationships/slide" Target="/ppt/slides/slide15.xml" Id="R455aa97ea0984245" /><Relationship Type="http://schemas.openxmlformats.org/officeDocument/2006/relationships/slide" Target="/ppt/slides/slide16.xml" Id="R38f97dc6489a4ffd" /><Relationship Type="http://schemas.openxmlformats.org/officeDocument/2006/relationships/slide" Target="/ppt/slides/slide17.xml" Id="R7ceb3c533cf7442c" /><Relationship Type="http://schemas.openxmlformats.org/officeDocument/2006/relationships/slide" Target="/ppt/slides/slide18.xml" Id="R2d93eccc44014282" /><Relationship Type="http://schemas.openxmlformats.org/officeDocument/2006/relationships/slide" Target="/ppt/slides/slide19.xml" Id="Re337d0ca80514a2f" /><Relationship Type="http://schemas.openxmlformats.org/officeDocument/2006/relationships/slide" Target="/ppt/slides/slide20.xml" Id="R92dd7d2cba254c0f" /><Relationship Type="http://schemas.openxmlformats.org/officeDocument/2006/relationships/slide" Target="/ppt/slides/slide21.xml" Id="R0ea0c891f38e457e" /><Relationship Type="http://schemas.openxmlformats.org/officeDocument/2006/relationships/slide" Target="/ppt/slides/slide22.xml" Id="R8b86682f193d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1abb4f24a47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7adf847395498d" /><Relationship Type="http://schemas.openxmlformats.org/officeDocument/2006/relationships/notesMaster" Target="/ppt/notesMasters/notesMaster1.xml" Id="R6cd5c845602049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d8ab3c3aec45c1" /><Relationship Type="http://schemas.openxmlformats.org/officeDocument/2006/relationships/notesMaster" Target="/ppt/notesMasters/notesMaster1.xml" Id="R036ab8dfd85943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9f35178b84f89" /><Relationship Type="http://schemas.openxmlformats.org/officeDocument/2006/relationships/notesMaster" Target="/ppt/notesMasters/notesMaster1.xml" Id="R046b2f645f8b40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29a039468a4c2d" /><Relationship Type="http://schemas.openxmlformats.org/officeDocument/2006/relationships/notesMaster" Target="/ppt/notesMasters/notesMaster1.xml" Id="R95bc8745e26840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bd7a185884146" /><Relationship Type="http://schemas.openxmlformats.org/officeDocument/2006/relationships/notesMaster" Target="/ppt/notesMasters/notesMaster1.xml" Id="Rbb1638b4f0c84b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e01d2dafe14024" /><Relationship Type="http://schemas.openxmlformats.org/officeDocument/2006/relationships/notesMaster" Target="/ppt/notesMasters/notesMaster1.xml" Id="Rdf3acb47feae41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6062a4366b4dab" /><Relationship Type="http://schemas.openxmlformats.org/officeDocument/2006/relationships/notesMaster" Target="/ppt/notesMasters/notesMaster1.xml" Id="Rabf655a734354f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89ef5bbf346e0" /><Relationship Type="http://schemas.openxmlformats.org/officeDocument/2006/relationships/notesMaster" Target="/ppt/notesMasters/notesMaster1.xml" Id="Rffb300dbcc3a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305e81ca4c4b66" /><Relationship Type="http://schemas.openxmlformats.org/officeDocument/2006/relationships/notesMaster" Target="/ppt/notesMasters/notesMaster1.xml" Id="R202ac95cbb234e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ded5b5043643d3" /><Relationship Type="http://schemas.openxmlformats.org/officeDocument/2006/relationships/notesMaster" Target="/ppt/notesMasters/notesMaster1.xml" Id="R87a3cb4f75ec4d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22474356843ab" /><Relationship Type="http://schemas.openxmlformats.org/officeDocument/2006/relationships/notesMaster" Target="/ppt/notesMasters/notesMaster1.xml" Id="R11e28c31066841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9a3dbd17d44470" /><Relationship Type="http://schemas.openxmlformats.org/officeDocument/2006/relationships/notesMaster" Target="/ppt/notesMasters/notesMaster1.xml" Id="Rbe718dd0f8f04f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4fb635c49843f7" /><Relationship Type="http://schemas.openxmlformats.org/officeDocument/2006/relationships/notesMaster" Target="/ppt/notesMasters/notesMaster1.xml" Id="Recfd38296c0447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99d21d5e684fe9" /><Relationship Type="http://schemas.openxmlformats.org/officeDocument/2006/relationships/notesMaster" Target="/ppt/notesMasters/notesMaster1.xml" Id="R037e30a1057044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da941545f047b5" /><Relationship Type="http://schemas.openxmlformats.org/officeDocument/2006/relationships/notesMaster" Target="/ppt/notesMasters/notesMaster1.xml" Id="Rec152cd31ea6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86f1a3e55d44ef" /><Relationship Type="http://schemas.openxmlformats.org/officeDocument/2006/relationships/notesMaster" Target="/ppt/notesMasters/notesMaster1.xml" Id="Rfce1642517eb46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535433b85a4520" /><Relationship Type="http://schemas.openxmlformats.org/officeDocument/2006/relationships/notesMaster" Target="/ppt/notesMasters/notesMaster1.xml" Id="R5fd18ebb77604e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359172c93546af" /><Relationship Type="http://schemas.openxmlformats.org/officeDocument/2006/relationships/notesMaster" Target="/ppt/notesMasters/notesMaster1.xml" Id="R1ec9c6a9b78a46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a1471d01144153" /><Relationship Type="http://schemas.openxmlformats.org/officeDocument/2006/relationships/notesMaster" Target="/ppt/notesMasters/notesMaster1.xml" Id="R991f9dc21e1648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eb00a6598a42f7" /><Relationship Type="http://schemas.openxmlformats.org/officeDocument/2006/relationships/notesMaster" Target="/ppt/notesMasters/notesMaster1.xml" Id="R0e1125c78cc74b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c5d61e136b420c" /><Relationship Type="http://schemas.openxmlformats.org/officeDocument/2006/relationships/notesMaster" Target="/ppt/notesMasters/notesMaster1.xml" Id="R22378749999942c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a2ffe1f43c4d2d" /><Relationship Type="http://schemas.openxmlformats.org/officeDocument/2006/relationships/notesMaster" Target="/ppt/notesMasters/notesMaster1.xml" Id="Rb53e315b9946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Both 3D scenes are schematic and must not be used as an official site plan or emergency route.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Dashboard indicators and forecast values shown are simulated, not measured field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Feature inventory checked against frontend/components/ui.tsx NAV_GROUPS and the frontend/app routes on 3 October 2026. The additional tools appear on the dashboard and simulation page.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Portal behavior checked against frontend/app/simulation, map, shelters, cameras and crowd. Camera and forecast outputs are demo or model-dependent; the 3D geometry and facility pins are illustrative.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The screenshot is the local claim-scanner UI, captured 3 October 2026. See frontend/app/social, verify, sentiment and broadcast, and backend/app/api/social_sim_routes.py. The feed is mocked and publishing buttons are preview-only.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Checked against frontend/app/incidents, resources, shelters, broadcast, frontend/components/LostPersonRadar.tsx, and backend/app/api/routes.py plus v1_routes.py. Dispatch remains human-authorized.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Actual local website screenshot captured 3 October 2026. See frontend/app/simulation/page.tsx and backend/app/simulation/engine.py. Event injections require the demo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Checked against backend/app/ai, backend/app/api/v1_routes.py, frontend/app/models and executive, and README.md. Heuristic, mock and simulated components are identified on the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Reference links for slide 15: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https://nashik.gov.in/en/tourist-place/ramkund-nashik/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https://nashik.gov.in/en/tourist-place/kushavart-tirtha-trimbakeshwar/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https://link.springer.com/article/10.1007/s40009-022-01114-w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https://github.com/hardiksedani/mahakumbh_projects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1b8201e9446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c65d53ebc46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60f8e5dca4f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e277f893a46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d5059a9ca4f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286c8dfc44b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7160365504d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94957d3004d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a511606ce4d0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944F541C-BFE4-4BB5-971C-F51280D477B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6C11195A-1C32-4894-9AAF-91B9683B85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5959B17F-0C1C-44F4-837E-76E8B6A7D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F45D7A69-BBFC-4682-B20B-77321F500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17E14669-62DB-4E20-9952-052F4BB4E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54DF789B-D65E-42D0-99F2-A4C148EFC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B736A3DD-D272-44A7-AE22-AF9618B54F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4DBFC41C-4726-475D-B67D-C3A33D25A4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665F6192-81A8-40D9-9211-ABF59E3329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0B55BD71-C003-4E14-9711-32EDF5B2A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A3FC4297-E435-42B8-9DF5-1DF8B61E01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D53FBCA4-C43D-48EA-9E49-617E41E24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D3A1F2E4-6C58-444A-96C1-5113D4FE5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8AC150D0-3F66-408C-802A-E9543AB492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452B8CD5-1EB0-488B-9F90-A46FDBD44B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DC81755B-4407-49C5-87FD-9EDEB506129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EB3E76B8-3029-4D73-9AEB-8A083B8DAD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49C8A92D-70EB-4BE4-9210-6C9B5CC69C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6255B854-69EA-4835-87FD-B62D0F1F1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3723ADD7-D2A6-4EEF-B55C-89A2D6382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F639387-30C2-4352-AC2A-B82ED5FCC6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22C98663-6FBE-4662-82EE-6DB340944E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7">
            <a:extLst xmlns:a="http://schemas.openxmlformats.org/drawingml/2006/main">
              <a:ext uri="{FF2B5EF4-FFF2-40B4-BE49-F238E27FC236}">
                <a16:creationId xmlns:a16="http://schemas.microsoft.com/office/drawing/2014/main" id="{912F5826-0833-4C67-BBA9-F82304848E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4CEA5E92-A86A-4F57-81B4-DA8B148B14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D54BA214-4535-404C-B7C6-682E465369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8">
            <a:extLst xmlns:a="http://schemas.openxmlformats.org/drawingml/2006/main">
              <a:ext uri="{FF2B5EF4-FFF2-40B4-BE49-F238E27FC236}">
                <a16:creationId xmlns:a16="http://schemas.microsoft.com/office/drawing/2014/main" id="{0D2B0CE7-B247-4FB8-A4CC-56A0E5549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7E5E02B3-EABC-4B33-B705-AC788E97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6B49C2A5-DD7D-49E2-A70B-C32A740C04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E6801EB2-29A7-4AFE-BEB6-9A3311383F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0B1168F4-9BD3-4440-A4A6-3C5F4A5781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A3A802FC-F885-4D3D-8AAC-621582064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CD30B97C-DDF0-4A46-A5B2-1418DDF71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7E155D92-80DB-4A48-81ED-CB1DA361E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BB55F2FE-8227-4943-92CB-72AE2419540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94788971-E310-4CCE-81EF-11B6B1097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97DE4E4F-D7C9-489B-978A-4F3492D58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F9A0683-140F-43D5-91A4-45AF07F68E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D4A8462A-CD44-4EC2-BDAE-6E3EB520E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892ED199-B42F-404B-8D62-7B5BB391C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C8F6A32B-8690-43BB-815E-C6A5B4F11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3FCC729C-C7A0-4C6F-9CF0-FDF800865A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CA37DCF8-C401-48B0-B223-4A5C63A2D6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8DE7AD0B-3EBD-4DBB-B2D5-F0F21D9B3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F641E407-2E3F-4AF7-B1C1-2491A28AD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14FBD8E0-3FA1-42DD-8AEA-A72FB3632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32176502-08B0-4F22-8DBC-5DCE37926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17395DE1-E8AB-4944-B1B7-DBEB7F0FD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A606DA8-9E61-4337-BFE6-B39C5C65B1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780967d3e4eef" /><Relationship Type="http://schemas.openxmlformats.org/officeDocument/2006/relationships/slideLayout" Target="/ppt/slideLayouts/slideLayout1.xml" Id="R13cd5c4fcaf24e3d" /><Relationship Type="http://schemas.openxmlformats.org/officeDocument/2006/relationships/slideLayout" Target="/ppt/slideLayouts/slideLayout2.xml" Id="R034baef956a24ff3" /><Relationship Type="http://schemas.openxmlformats.org/officeDocument/2006/relationships/slideLayout" Target="/ppt/slideLayouts/slideLayout3.xml" Id="Rdda4c77c07a043b8" /><Relationship Type="http://schemas.openxmlformats.org/officeDocument/2006/relationships/slideLayout" Target="/ppt/slideLayouts/slideLayout4.xml" Id="R752e64201aae404d" /><Relationship Type="http://schemas.openxmlformats.org/officeDocument/2006/relationships/slideLayout" Target="/ppt/slideLayouts/slideLayout5.xml" Id="R82a40a862cbf435d" /><Relationship Type="http://schemas.openxmlformats.org/officeDocument/2006/relationships/slideLayout" Target="/ppt/slideLayouts/slideLayout6.xml" Id="Ra734059a683f452f" /><Relationship Type="http://schemas.openxmlformats.org/officeDocument/2006/relationships/slideLayout" Target="/ppt/slideLayouts/slideLayout7.xml" Id="R92547c22be8f4245" /><Relationship Type="http://schemas.openxmlformats.org/officeDocument/2006/relationships/slideLayout" Target="/ppt/slideLayouts/slideLayout8.xml" Id="Rb8b26b825a434433" /><Relationship Type="http://schemas.openxmlformats.org/officeDocument/2006/relationships/slideLayout" Target="/ppt/slideLayouts/slideLayout9.xml" Id="R233cfc11e9fe424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C481F839-37FC-40AB-A294-267EF4861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2AAC4AA9-F27F-40F3-8E71-1C35E0B5F9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0B0B7254-61E5-4D45-9B2C-B59506CA4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67D38291-EBEF-4F7F-ABCC-D0575C229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9EC26A4-930E-47CC-BEC7-8A0A05FD1F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d5c4fcaf24e3d"/>
    <p:sldLayoutId xmlns:r="http://schemas.openxmlformats.org/officeDocument/2006/relationships" id="2147483650" r:id="R034baef956a24ff3"/>
    <p:sldLayoutId xmlns:r="http://schemas.openxmlformats.org/officeDocument/2006/relationships" id="2147483651" r:id="Rdda4c77c07a043b8"/>
    <p:sldLayoutId xmlns:r="http://schemas.openxmlformats.org/officeDocument/2006/relationships" id="2147483652" r:id="R752e64201aae404d"/>
    <p:sldLayoutId xmlns:r="http://schemas.openxmlformats.org/officeDocument/2006/relationships" id="2147483653" r:id="R82a40a862cbf435d"/>
    <p:sldLayoutId xmlns:r="http://schemas.openxmlformats.org/officeDocument/2006/relationships" id="2147483654" r:id="Ra734059a683f452f"/>
    <p:sldLayoutId xmlns:r="http://schemas.openxmlformats.org/officeDocument/2006/relationships" id="2147483655" r:id="R92547c22be8f4245"/>
    <p:sldLayoutId xmlns:r="http://schemas.openxmlformats.org/officeDocument/2006/relationships" id="2147483656" r:id="Rb8b26b825a434433"/>
    <p:sldLayoutId xmlns:r="http://schemas.openxmlformats.org/officeDocument/2006/relationships" id="2147483657" r:id="R233cfc11e9fe424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41615e7fd4232" /><Relationship Type="http://schemas.openxmlformats.org/officeDocument/2006/relationships/image" Target="/ppt/media/image.png" Id="R3d3ad1d5db7e4d1d" /><Relationship Type="http://schemas.openxmlformats.org/officeDocument/2006/relationships/image" Target="/ppt/media/image2.png" Id="R6af7743f36ce408e" /><Relationship Type="http://schemas.openxmlformats.org/officeDocument/2006/relationships/image" Target="/ppt/media/image3.png" Id="R89f85078bec94949" /><Relationship Type="http://schemas.openxmlformats.org/officeDocument/2006/relationships/image" Target="/ppt/media/image4.png" Id="R10bd0ebdb7434416" /><Relationship Type="http://schemas.openxmlformats.org/officeDocument/2006/relationships/notesSlide" Target="/ppt/notesSlides/notesSlide1.xml" Id="R14d52216bd8b4d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2549799942ba" /><Relationship Type="http://schemas.openxmlformats.org/officeDocument/2006/relationships/image" Target="/ppt/media/image.png" Id="Rf83061414e114b86" /><Relationship Type="http://schemas.openxmlformats.org/officeDocument/2006/relationships/image" Target="/ppt/media/image2.png" Id="Rde41e870bc354e01" /><Relationship Type="http://schemas.openxmlformats.org/officeDocument/2006/relationships/image" Target="/ppt/media/image3.png" Id="R5289c2ac1f644777" /><Relationship Type="http://schemas.openxmlformats.org/officeDocument/2006/relationships/image" Target="/ppt/media/image4.png" Id="R643094680d8f4dde" /><Relationship Type="http://schemas.openxmlformats.org/officeDocument/2006/relationships/notesSlide" Target="/ppt/notesSlides/notesSlide2.xml" Id="R5f144098a5c7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6a33822f04c77" /><Relationship Type="http://schemas.openxmlformats.org/officeDocument/2006/relationships/image" Target="/ppt/media/image.png" Id="R955b6797ac1b4abb" /><Relationship Type="http://schemas.openxmlformats.org/officeDocument/2006/relationships/image" Target="/ppt/media/image2.png" Id="Rf70be6e4c0964514" /><Relationship Type="http://schemas.openxmlformats.org/officeDocument/2006/relationships/image" Target="/ppt/media/image3.png" Id="R367dfa0331064510" /><Relationship Type="http://schemas.openxmlformats.org/officeDocument/2006/relationships/image" Target="/ppt/media/image4.png" Id="Rc648933567954f76" /><Relationship Type="http://schemas.openxmlformats.org/officeDocument/2006/relationships/notesSlide" Target="/ppt/notesSlides/notesSlide3.xml" Id="R8d894fff516040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02a8f4be44d4c" /><Relationship Type="http://schemas.openxmlformats.org/officeDocument/2006/relationships/image" Target="/ppt/media/image.png" Id="Rf247dbf474a24428" /><Relationship Type="http://schemas.openxmlformats.org/officeDocument/2006/relationships/image" Target="/ppt/media/image2.png" Id="Rc1eec799e3b44c46" /><Relationship Type="http://schemas.openxmlformats.org/officeDocument/2006/relationships/image" Target="/ppt/media/image3.png" Id="R24bcfef88b864054" /><Relationship Type="http://schemas.openxmlformats.org/officeDocument/2006/relationships/image" Target="/ppt/media/image4.png" Id="Ra8280a286a7e4b80" /><Relationship Type="http://schemas.openxmlformats.org/officeDocument/2006/relationships/notesSlide" Target="/ppt/notesSlides/notesSlide4.xml" Id="R3eddbe3af55c4e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9a3bbb0754650" /><Relationship Type="http://schemas.openxmlformats.org/officeDocument/2006/relationships/image" Target="/ppt/media/image.png" Id="Rbbce8b080c544d01" /><Relationship Type="http://schemas.openxmlformats.org/officeDocument/2006/relationships/image" Target="/ppt/media/image2.png" Id="Rc7a5a9afc0cd4cdb" /><Relationship Type="http://schemas.openxmlformats.org/officeDocument/2006/relationships/image" Target="/ppt/media/image3.png" Id="Rcdf2a792be7a401e" /><Relationship Type="http://schemas.openxmlformats.org/officeDocument/2006/relationships/image" Target="/ppt/media/image4.png" Id="R38451053c2cb4168" /><Relationship Type="http://schemas.openxmlformats.org/officeDocument/2006/relationships/notesSlide" Target="/ppt/notesSlides/notesSlide5.xml" Id="R3431e96d5b53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c762a55e44c93" /><Relationship Type="http://schemas.openxmlformats.org/officeDocument/2006/relationships/image" Target="/ppt/media/image.png" Id="R5586f2f7108a43f9" /><Relationship Type="http://schemas.openxmlformats.org/officeDocument/2006/relationships/image" Target="/ppt/media/image2.png" Id="R92bf389bf3704d99" /><Relationship Type="http://schemas.openxmlformats.org/officeDocument/2006/relationships/image" Target="/ppt/media/image3.png" Id="R1bcac605e9e144c5" /><Relationship Type="http://schemas.openxmlformats.org/officeDocument/2006/relationships/image" Target="/ppt/media/image4.png" Id="Rb039c90a10f14c78" /><Relationship Type="http://schemas.openxmlformats.org/officeDocument/2006/relationships/notesSlide" Target="/ppt/notesSlides/notesSlide6.xml" Id="R85983670f6a248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bfd03d6d84cc6" /><Relationship Type="http://schemas.openxmlformats.org/officeDocument/2006/relationships/image" Target="/ppt/media/image.png" Id="R30d1d0cfd0854f03" /><Relationship Type="http://schemas.openxmlformats.org/officeDocument/2006/relationships/image" Target="/ppt/media/image2.png" Id="Rffd649dc93e14420" /><Relationship Type="http://schemas.openxmlformats.org/officeDocument/2006/relationships/image" Target="/ppt/media/image3.png" Id="R9d0d7ff84293424d" /><Relationship Type="http://schemas.openxmlformats.org/officeDocument/2006/relationships/image" Target="/ppt/media/image4.png" Id="R9e26d4c49b2146a7" /><Relationship Type="http://schemas.openxmlformats.org/officeDocument/2006/relationships/notesSlide" Target="/ppt/notesSlides/notesSlide7.xml" Id="R5509046b884c4f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68528c447469e" /><Relationship Type="http://schemas.openxmlformats.org/officeDocument/2006/relationships/image" Target="/ppt/media/image.png" Id="Ra708bdd928ed453c" /><Relationship Type="http://schemas.openxmlformats.org/officeDocument/2006/relationships/image" Target="/ppt/media/image2.png" Id="R293ec81ce4c34da3" /><Relationship Type="http://schemas.openxmlformats.org/officeDocument/2006/relationships/image" Target="/ppt/media/image3.png" Id="R57416a3712a94090" /><Relationship Type="http://schemas.openxmlformats.org/officeDocument/2006/relationships/image" Target="/ppt/media/image4.png" Id="Re8b345ca60d345d8" /><Relationship Type="http://schemas.openxmlformats.org/officeDocument/2006/relationships/notesSlide" Target="/ppt/notesSlides/notesSlide8.xml" Id="R3043dea2f71f41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0497229c4a0b" /><Relationship Type="http://schemas.openxmlformats.org/officeDocument/2006/relationships/image" Target="/ppt/media/image.png" Id="Rf224e6eadf0e49fb" /><Relationship Type="http://schemas.openxmlformats.org/officeDocument/2006/relationships/image" Target="/ppt/media/image2.png" Id="Rd6c50de067614008" /><Relationship Type="http://schemas.openxmlformats.org/officeDocument/2006/relationships/image" Target="/ppt/media/image3.png" Id="R73a67d804af24e3d" /><Relationship Type="http://schemas.openxmlformats.org/officeDocument/2006/relationships/image" Target="/ppt/media/image4.png" Id="R47b6f991a1d94aee" /><Relationship Type="http://schemas.openxmlformats.org/officeDocument/2006/relationships/notesSlide" Target="/ppt/notesSlides/notesSlide9.xml" Id="Rbe7f46718f1740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e405ff32447d2" /><Relationship Type="http://schemas.openxmlformats.org/officeDocument/2006/relationships/image" Target="/ppt/media/image.png" Id="Rb0ddbba082de403c" /><Relationship Type="http://schemas.openxmlformats.org/officeDocument/2006/relationships/image" Target="/ppt/media/image2.png" Id="Rbbd23197f87344ed" /><Relationship Type="http://schemas.openxmlformats.org/officeDocument/2006/relationships/image" Target="/ppt/media/image3.png" Id="R5892d2e885f34ea1" /><Relationship Type="http://schemas.openxmlformats.org/officeDocument/2006/relationships/image" Target="/ppt/media/image4.png" Id="R526543f632cc4e1e" /><Relationship Type="http://schemas.openxmlformats.org/officeDocument/2006/relationships/notesSlide" Target="/ppt/notesSlides/notesSlide10.xml" Id="R9d651236636447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7a780e3c3426e" /><Relationship Type="http://schemas.openxmlformats.org/officeDocument/2006/relationships/image" Target="/ppt/media/image.png" Id="R7f16b223f4e842f7" /><Relationship Type="http://schemas.openxmlformats.org/officeDocument/2006/relationships/image" Target="/ppt/media/image2.png" Id="R5691a70bb386436a" /><Relationship Type="http://schemas.openxmlformats.org/officeDocument/2006/relationships/image" Target="/ppt/media/image3.png" Id="Rcb99f836bfc448b9" /><Relationship Type="http://schemas.openxmlformats.org/officeDocument/2006/relationships/image" Target="/ppt/media/image4.png" Id="R8a580493c3b14a7f" /><Relationship Type="http://schemas.openxmlformats.org/officeDocument/2006/relationships/image" Target="/ppt/media/image.jpeg" Id="R7ab83ab6734f4299" /><Relationship Type="http://schemas.openxmlformats.org/officeDocument/2006/relationships/image" Target="/ppt/media/image2.jpeg" Id="Rf1f3e30220a74330" /><Relationship Type="http://schemas.openxmlformats.org/officeDocument/2006/relationships/notesSlide" Target="/ppt/notesSlides/notesSlide11.xml" Id="R30b803a9c92c43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4099a9e65472b" /><Relationship Type="http://schemas.openxmlformats.org/officeDocument/2006/relationships/image" Target="/ppt/media/image.png" Id="Rf464cb2b0f9c4067" /><Relationship Type="http://schemas.openxmlformats.org/officeDocument/2006/relationships/image" Target="/ppt/media/image2.png" Id="Rb4ce23c411584520" /><Relationship Type="http://schemas.openxmlformats.org/officeDocument/2006/relationships/image" Target="/ppt/media/image3.png" Id="R5ab702ef1a844f72" /><Relationship Type="http://schemas.openxmlformats.org/officeDocument/2006/relationships/image" Target="/ppt/media/image4.png" Id="R7ddc430b87e149b3" /><Relationship Type="http://schemas.openxmlformats.org/officeDocument/2006/relationships/image" Target="/ppt/media/image3.jpeg" Id="Rffa3fb99f68e462e" /><Relationship Type="http://schemas.openxmlformats.org/officeDocument/2006/relationships/image" Target="/ppt/media/image4.jpeg" Id="Rb1757eddeed7490f" /><Relationship Type="http://schemas.openxmlformats.org/officeDocument/2006/relationships/notesSlide" Target="/ppt/notesSlides/notesSlide12.xml" Id="Rc9330fb642d14c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6669c4bbc4488" /><Relationship Type="http://schemas.openxmlformats.org/officeDocument/2006/relationships/image" Target="/ppt/media/image.png" Id="R18f600fd10a645b9" /><Relationship Type="http://schemas.openxmlformats.org/officeDocument/2006/relationships/image" Target="/ppt/media/image2.png" Id="R66dc7985e79345b3" /><Relationship Type="http://schemas.openxmlformats.org/officeDocument/2006/relationships/image" Target="/ppt/media/image3.png" Id="Rde266b73bcff4855" /><Relationship Type="http://schemas.openxmlformats.org/officeDocument/2006/relationships/image" Target="/ppt/media/image4.png" Id="R3946fed47ff94653" /><Relationship Type="http://schemas.openxmlformats.org/officeDocument/2006/relationships/notesSlide" Target="/ppt/notesSlides/notesSlide13.xml" Id="R7922c6101f3f43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29e03795e4c47" /><Relationship Type="http://schemas.openxmlformats.org/officeDocument/2006/relationships/image" Target="/ppt/media/image.png" Id="R4456a2950f094f32" /><Relationship Type="http://schemas.openxmlformats.org/officeDocument/2006/relationships/image" Target="/ppt/media/image2.png" Id="Rb483b7d4500b42b6" /><Relationship Type="http://schemas.openxmlformats.org/officeDocument/2006/relationships/image" Target="/ppt/media/image3.png" Id="Rbe4938b5f69c4630" /><Relationship Type="http://schemas.openxmlformats.org/officeDocument/2006/relationships/image" Target="/ppt/media/image4.png" Id="R45c8173fd6634f01" /><Relationship Type="http://schemas.openxmlformats.org/officeDocument/2006/relationships/notesSlide" Target="/ppt/notesSlides/notesSlide14.xml" Id="R3ec6a431a56046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3e16e8b9d4442" /><Relationship Type="http://schemas.openxmlformats.org/officeDocument/2006/relationships/image" Target="/ppt/media/image.png" Id="R76923d7fbdef4c72" /><Relationship Type="http://schemas.openxmlformats.org/officeDocument/2006/relationships/image" Target="/ppt/media/image2.png" Id="R265258e48e0b4a89" /><Relationship Type="http://schemas.openxmlformats.org/officeDocument/2006/relationships/image" Target="/ppt/media/image3.png" Id="Reb195e6c32fc4c39" /><Relationship Type="http://schemas.openxmlformats.org/officeDocument/2006/relationships/image" Target="/ppt/media/image4.png" Id="R1639add2483c4e56" /><Relationship Type="http://schemas.openxmlformats.org/officeDocument/2006/relationships/image" Target="/ppt/media/image5.jpeg" Id="Rd448c0f362a24dd0" /><Relationship Type="http://schemas.openxmlformats.org/officeDocument/2006/relationships/notesSlide" Target="/ppt/notesSlides/notesSlide15.xml" Id="R022ae74d6f5b4a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6c16cd6d4cd7" /><Relationship Type="http://schemas.openxmlformats.org/officeDocument/2006/relationships/image" Target="/ppt/media/image.png" Id="R701f606ea4d24ef9" /><Relationship Type="http://schemas.openxmlformats.org/officeDocument/2006/relationships/image" Target="/ppt/media/image2.png" Id="Rd76fb685df3a43c0" /><Relationship Type="http://schemas.openxmlformats.org/officeDocument/2006/relationships/image" Target="/ppt/media/image3.png" Id="Rbafe0b4561404308" /><Relationship Type="http://schemas.openxmlformats.org/officeDocument/2006/relationships/image" Target="/ppt/media/image4.png" Id="Ree16ec5e657742f3" /><Relationship Type="http://schemas.openxmlformats.org/officeDocument/2006/relationships/notesSlide" Target="/ppt/notesSlides/notesSlide16.xml" Id="R792e510e0bd040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e00bf857e47dc" /><Relationship Type="http://schemas.openxmlformats.org/officeDocument/2006/relationships/image" Target="/ppt/media/image.png" Id="R0e4f541b15324750" /><Relationship Type="http://schemas.openxmlformats.org/officeDocument/2006/relationships/image" Target="/ppt/media/image2.png" Id="R5ac0a8c0d6fe447b" /><Relationship Type="http://schemas.openxmlformats.org/officeDocument/2006/relationships/image" Target="/ppt/media/image3.png" Id="R198bd36ead904e5c" /><Relationship Type="http://schemas.openxmlformats.org/officeDocument/2006/relationships/image" Target="/ppt/media/image4.png" Id="Rf8282576f3254fd6" /><Relationship Type="http://schemas.openxmlformats.org/officeDocument/2006/relationships/image" Target="/ppt/media/image6.jpeg" Id="R0df9d60ed3ad4db1" /><Relationship Type="http://schemas.openxmlformats.org/officeDocument/2006/relationships/notesSlide" Target="/ppt/notesSlides/notesSlide17.xml" Id="R51e6a928477d49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aa4d17e0f445d" /><Relationship Type="http://schemas.openxmlformats.org/officeDocument/2006/relationships/image" Target="/ppt/media/image.png" Id="R06a3be7a3be94e3e" /><Relationship Type="http://schemas.openxmlformats.org/officeDocument/2006/relationships/image" Target="/ppt/media/image2.png" Id="R0e0631bedaf34067" /><Relationship Type="http://schemas.openxmlformats.org/officeDocument/2006/relationships/image" Target="/ppt/media/image3.png" Id="R1e3c940f9b064e13" /><Relationship Type="http://schemas.openxmlformats.org/officeDocument/2006/relationships/image" Target="/ppt/media/image4.png" Id="R8dc693ac65db404d" /><Relationship Type="http://schemas.openxmlformats.org/officeDocument/2006/relationships/notesSlide" Target="/ppt/notesSlides/notesSlide18.xml" Id="R554f6582cb0e40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27a7bd17403c" /><Relationship Type="http://schemas.openxmlformats.org/officeDocument/2006/relationships/image" Target="/ppt/media/image.png" Id="Re0411544f05a4bc1" /><Relationship Type="http://schemas.openxmlformats.org/officeDocument/2006/relationships/image" Target="/ppt/media/image2.png" Id="R855b64d1a8334e5a" /><Relationship Type="http://schemas.openxmlformats.org/officeDocument/2006/relationships/image" Target="/ppt/media/image3.png" Id="Rfbc057132e1e4be5" /><Relationship Type="http://schemas.openxmlformats.org/officeDocument/2006/relationships/image" Target="/ppt/media/image4.png" Id="Rffd4f164559243ca" /><Relationship Type="http://schemas.openxmlformats.org/officeDocument/2006/relationships/notesSlide" Target="/ppt/notesSlides/notesSlide19.xml" Id="Re0ecf93cad1645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38f0c638a4519" /><Relationship Type="http://schemas.openxmlformats.org/officeDocument/2006/relationships/image" Target="/ppt/media/image.png" Id="Rfb0dfc638d25441f" /><Relationship Type="http://schemas.openxmlformats.org/officeDocument/2006/relationships/image" Target="/ppt/media/image2.png" Id="R4c1e6930810a4d0f" /><Relationship Type="http://schemas.openxmlformats.org/officeDocument/2006/relationships/image" Target="/ppt/media/image3.png" Id="R9fa0ce46c22040ce" /><Relationship Type="http://schemas.openxmlformats.org/officeDocument/2006/relationships/image" Target="/ppt/media/image7.jpeg" Id="R72d831ee02974bf6" /><Relationship Type="http://schemas.openxmlformats.org/officeDocument/2006/relationships/notesSlide" Target="/ppt/notesSlides/notesSlide20.xml" Id="Rb2a7d152bb9f43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2efe8d4294d48" /><Relationship Type="http://schemas.openxmlformats.org/officeDocument/2006/relationships/image" Target="/ppt/media/image.png" Id="R3f261489eaa0448b" /><Relationship Type="http://schemas.openxmlformats.org/officeDocument/2006/relationships/image" Target="/ppt/media/image2.png" Id="Rc8fd64e646ca4dd4" /><Relationship Type="http://schemas.openxmlformats.org/officeDocument/2006/relationships/image" Target="/ppt/media/image3.png" Id="R4b7b016f8c744889" /><Relationship Type="http://schemas.openxmlformats.org/officeDocument/2006/relationships/image" Target="/ppt/media/image4.png" Id="R803fd73f4d1e4c9f" /><Relationship Type="http://schemas.openxmlformats.org/officeDocument/2006/relationships/notesSlide" Target="/ppt/notesSlides/notesSlide21.xml" Id="Rd46154f2f1b14b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2f20876844af0" /><Relationship Type="http://schemas.openxmlformats.org/officeDocument/2006/relationships/image" Target="/ppt/media/image.png" Id="R067ffcede37c4a87" /><Relationship Type="http://schemas.openxmlformats.org/officeDocument/2006/relationships/image" Target="/ppt/media/image2.png" Id="R8b66b0e291ff46cb" /><Relationship Type="http://schemas.openxmlformats.org/officeDocument/2006/relationships/image" Target="/ppt/media/image3.png" Id="Rdf08b8bafab44f0b" /><Relationship Type="http://schemas.openxmlformats.org/officeDocument/2006/relationships/image" Target="/ppt/media/image4.png" Id="R1991cf0d0e174701" /><Relationship Type="http://schemas.openxmlformats.org/officeDocument/2006/relationships/notesSlide" Target="/ppt/notesSlides/notesSlide22.xml" Id="Rc58e36ee33814b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8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3ad1d5db7e4d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" name="Google Shape;8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f7743f36ce40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" name="Google Shape;9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f85078bec949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0451E217-F517-4B95-BB88-518E054CC1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0F8244A7-4116-4EC0-AB4F-F647CDC3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00" y="1634625"/>
            <a:ext cx="10904400" cy="50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400" b="1" i="0" u="sng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Department of Artificial Intelligence &amp; Data Science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Academic Year 2025-26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3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KumbhRakshak: Safety and Decision Support for Nashik-Trimbakeshwar</a:t>
            </a:r>
          </a:p>
          <a:p xmlns:a="http://schemas.openxmlformats.org/drawingml/2006/main">
            <a:pPr lvl="0" algn="ctr">
              <a:buSzPts val="2500"/>
              <a:buNone/>
            </a:pP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Hardik Sedani T8-70</a:t>
            </a: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Shubham Vishwakarma T5-13</a:t>
            </a:r>
            <a:endParaRPr sz="18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cap="none">
              <a:solidFill>
                <a:srgbClr val="052358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cap="none">
              <a:solidFill>
                <a:srgbClr val="05235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cap="none">
              <a:solidFill>
                <a:srgbClr val="6E3F0C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   						</a:t>
            </a:r>
            <a:r>
              <a:rPr sz="17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		               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d0ebdb74344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073693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Google Shape;9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3061414e114b8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41e870bc354e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1" name="Google Shape;10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89c2ac1f6447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5FB28B44-FAA6-4014-AA97-DD0A018E07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6DAEEF1D-C2F5-4149-B82E-E5B71266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79" y="1433175"/>
            <a:ext cx="6373800" cy="64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Outline of Presentation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6C1B7B00-A66B-4D88-8286-37A1121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16" y="1626781"/>
            <a:ext cx="4703085" cy="5073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statement/definition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Findings and Research Gap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Software / Hardware Requirements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Implementation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Feature Tour &amp; Screenshots</a:t>
            </a: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 </a:t>
            </a: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References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00050" marR="0" lvl="0" indent="-28575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094680d8f4d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08250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5b6797ac1b4a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0be6e4c09645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7dfa03310645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553CEF7E-C58E-4407-BC0E-E5A2ACBA49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8933567954f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1B28C4E1-FEC1-45FF-8F2B-20D0A7E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KumbhRakshak: Nashik-Trimbakeshwar Safety Prototype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2027 Simhastha will need clear place context and timely information across ghats, routes and facilities.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KumbhRakshak brings monitoring signals and response tools into one command-centre website.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Platform Shows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illustrative 3D guide links Nashik and Trimbakeshwar landmarks to the relevant crowd, map, camera, shelter and incident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present build is a demonstration with simulated operational data. It is not an official navigation or emergency-response system.</a:t>
            </a:r>
          </a:p>
        </p:txBody>
      </p:sp>
    </p:spTree>
    <p:extLst>
      <p:ext uri="{BB962C8B-B14F-4D97-AF65-F5344CB8AC3E}">
        <p14:creationId xmlns:p14="http://schemas.microsoft.com/office/powerpoint/2010/main" val="1907104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47dbf474a244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eec799e3b44c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bcfef88b8640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261251F2-B64F-406C-8B05-EA76C3D984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0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80a286a7e4b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76C348D4-E1DF-4A82-B515-4A8CCCD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Core Problem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Crowd, camera, social and field signals arrive through separate channels during a large gathering.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Without place context, users may struggle to identify which facility or portal is relevant to a situation.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Unverified claims can add confusion, while response decisions still require evidence and human review.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How can one understandable interface connect locations, signals and response workflows for the Nashik-Trimbakeshwar Kumbh?</a:t>
            </a:r>
          </a:p>
        </p:txBody>
      </p:sp>
    </p:spTree>
    <p:extLst>
      <p:ext uri="{BB962C8B-B14F-4D97-AF65-F5344CB8AC3E}">
        <p14:creationId xmlns:p14="http://schemas.microsoft.com/office/powerpoint/2010/main" val="352859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1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ce8b080c544d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2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a5a9afc0cd4c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2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f2a792be7a40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838ECDC0-D0AF-4170-8884-C29C3A553DC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94364B9-0804-487C-86E2-B9BA56E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51053c2cb41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D42A436F-61A0-4FD5-9473-57A6D7F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Primary Objective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a clear decision-support prototype for operators and project reviewers, centered on Nashik and Trimbakeshwar.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Specific Objectives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 key landmarks and portals through an interactive 3D place guide.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 crowd pressure, camera observations and incident information together.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social claims with available evidence before any public response.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shelter, resource and advisory workflows in one website.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Distinguish simulated data and schematic locations from verified field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923880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86f2f7108a43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bf389bf3704d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cac605e9e144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CC814FF0-7C06-4220-A6ED-07EF6E4AD9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9c90a10f1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154" name="Table 1004"/>
          <p:cNvGraphicFramePr/>
          <p:nvPr/>
        </p:nvGraphicFramePr>
        <p:xfrm>
          <a:off xmlns:a="http://schemas.openxmlformats.org/drawingml/2006/main" x="1350000" y="2210000"/>
          <a:ext xmlns:a="http://schemas.openxmlformats.org/drawingml/2006/main" cx="10300000" cy="422000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000"/>
                <a:gridCol w="3600000"/>
                <a:gridCol w="4100000"/>
              </a:tblGrid>
              <a:tr h="38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Author(s) / Year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Finding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Aishwarya &amp; Vinay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of social media and its impact on Maha Kumbh Mela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Facebook, X, Instagram and YouTube help organisers share updates, schedules and safety instructions, boosting participation.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Verma &amp; Bains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 &amp; surveillance strategies, Maha Kumbh Mela 2025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Proposes a risk-assessment and stakeholder-coordination framework for crowd safety at mega religious gatherings.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Kumbh Twitter Study (2020)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Motivations &amp; experiences — insights from Twitter analytics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Analysed ~49,500 tweets from Kumbh 2019 to mine pilgrim sentiment and experience via network/content analytics.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Tiwari &amp; Chowdhary (2022)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 and crowd management: Kumbh case 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 apps and smart tech improve headcounts, monitoring, multilingual info-sharing and safety at Kumbh scale.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JMIR Infodemiology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Impact of misinformation on social media in disasters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Misinformation during disasters spreads mainly via X, Facebook and WhatsApp; pre-emptive debunking limits its reach.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Simon et al. (2016)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Computers in Human Behaviour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Documents how WhatsApp rumours spread uncontrollably during a real search-and-rescue operation.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4642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d1d0cfd0854f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d649dc93e144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0d7ff8429342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839BF06E-82F0-4E1B-BBD8-6F5C571A7B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Findings of Literature Survey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6d4c49b2146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5" name="TextBox 1005">
            <a:extLst xmlns:a="http://schemas.openxmlformats.org/drawingml/2006/main">
              <a:ext uri="{FF2B5EF4-FFF2-40B4-BE49-F238E27FC236}">
                <a16:creationId xmlns:a16="http://schemas.microsoft.com/office/drawing/2014/main" id="{531842AD-3437-4928-8A39-F45F578A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750000"/>
            <a:ext cx="10300000" cy="38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Literature Confirms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 studies describe the difficulty of managing large pedestrian flows and coordinating safety teams.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research shows the value of zone-level observation and forecasting for early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Social-media studies also show that fast-moving rumours can complicate a real incident response.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Gap We Address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 demonstrates a place-linked interface that brings monitoring, claim review and response tools together. Field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3405638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3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08bdd928ed45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4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3ec81ce4c34d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5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416a3712a940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40DFF253-1958-4C68-A77F-049FE897322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/ Hardware Requirements</a:t>
            </a:r>
          </a:p>
        </p:txBody>
      </p:sp>
      <p:pic>
        <p:nvPicPr>
          <p:cNvPr id="10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345ca60d345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7" name="TextBox 1007">
            <a:extLst xmlns:a="http://schemas.openxmlformats.org/drawingml/2006/main">
              <a:ext uri="{FF2B5EF4-FFF2-40B4-BE49-F238E27FC236}">
                <a16:creationId xmlns:a16="http://schemas.microsoft.com/office/drawing/2014/main" id="{A64A6D7F-4AD5-4E0A-95F7-96F22C30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Frontend: Next.js, React, Tailwind CSS and Three.js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Backend: Python 3.12, FastAPI and WebSockets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 Firestore adapter with in-memory demo mode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Mapping: Mapbox GL and OpenStreetMap landmark links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modules: vision, text clustering, risk and forecasting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timeline and example incident injections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Packaging: Docker and Docker Compose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Tools: Git, GitHub and VS Code</a:t>
            </a:r>
          </a:p>
        </p:txBody>
      </p:sp>
      <p:sp>
        <p:nvSpPr>
          <p:cNvPr id="1008" name="TextBox 1008">
            <a:extLst xmlns:a="http://schemas.openxmlformats.org/drawingml/2006/main">
              <a:ext uri="{FF2B5EF4-FFF2-40B4-BE49-F238E27FC236}">
                <a16:creationId xmlns:a16="http://schemas.microsoft.com/office/drawing/2014/main" id="{8A0AC81C-40EE-4E46-B234-70577B2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Hardware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Demo machine: modern CPU, 8-16 GB RAM and SSD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GPU optional for local camera-model inference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Permissioned CCTV or video feeds needed for a real pilot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Reliable network and secure server for deployment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GIS and facility data required before field use</a:t>
            </a:r>
          </a:p>
        </p:txBody>
      </p:sp>
    </p:spTree>
    <p:extLst>
      <p:ext uri="{BB962C8B-B14F-4D97-AF65-F5344CB8AC3E}">
        <p14:creationId xmlns:p14="http://schemas.microsoft.com/office/powerpoint/2010/main" val="15818828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24e6eadf0e49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c50de0676140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a67d804af24e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551DD9BA-6DEF-4907-84ED-C703EF34F1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</p:txBody>
      </p:sp>
      <p:pic>
        <p:nvPicPr>
          <p:cNvPr id="10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6f991a1d94a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Shape 1001">
            <a:extLst xmlns:a="http://schemas.openxmlformats.org/drawingml/2006/main">
              <a:ext uri="{FF2B5EF4-FFF2-40B4-BE49-F238E27FC236}">
                <a16:creationId xmlns:a16="http://schemas.microsoft.com/office/drawing/2014/main" id="{7A979C30-6A73-4460-A9EA-E3FD01B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Place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 Signals</a:t>
            </a:r>
          </a:p>
        </p:txBody>
      </p:sp>
      <p:sp>
        <p:nvSpPr>
          <p:cNvPr id="1002" name="Arrow 1002">
            <a:extLst xmlns:a="http://schemas.openxmlformats.org/drawingml/2006/main">
              <a:ext uri="{FF2B5EF4-FFF2-40B4-BE49-F238E27FC236}">
                <a16:creationId xmlns:a16="http://schemas.microsoft.com/office/drawing/2014/main" id="{F573DB0B-0DA7-46D3-8082-BE41319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" name="Shape 1003">
            <a:extLst xmlns:a="http://schemas.openxmlformats.org/drawingml/2006/main">
              <a:ext uri="{FF2B5EF4-FFF2-40B4-BE49-F238E27FC236}">
                <a16:creationId xmlns:a16="http://schemas.microsoft.com/office/drawing/2014/main" id="{EFFC1195-43CE-476C-879A-9DC4427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Social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Field Reports</a:t>
            </a:r>
          </a:p>
        </p:txBody>
      </p:sp>
      <p:sp>
        <p:nvSpPr>
          <p:cNvPr id="1004" name="Arrow 1004">
            <a:extLst xmlns:a="http://schemas.openxmlformats.org/drawingml/2006/main">
              <a:ext uri="{FF2B5EF4-FFF2-40B4-BE49-F238E27FC236}">
                <a16:creationId xmlns:a16="http://schemas.microsoft.com/office/drawing/2014/main" id="{EF676C1D-96AA-4A48-BE56-8F81A56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" name="Shape 1005">
            <a:extLst xmlns:a="http://schemas.openxmlformats.org/drawingml/2006/main">
              <a:ext uri="{FF2B5EF4-FFF2-40B4-BE49-F238E27FC236}">
                <a16:creationId xmlns:a16="http://schemas.microsoft.com/office/drawing/2014/main" id="{5FAF8B8D-A997-47D0-9679-E0252F2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Event &amp; Claim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Review</a:t>
            </a:r>
          </a:p>
        </p:txBody>
      </p:sp>
      <p:sp>
        <p:nvSpPr>
          <p:cNvPr id="1006" name="Arrow 1006">
            <a:extLst xmlns:a="http://schemas.openxmlformats.org/drawingml/2006/main">
              <a:ext uri="{FF2B5EF4-FFF2-40B4-BE49-F238E27FC236}">
                <a16:creationId xmlns:a16="http://schemas.microsoft.com/office/drawing/2014/main" id="{67BFCAE7-5103-4279-954F-1570EF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" name="Shape 1007">
            <a:extLst xmlns:a="http://schemas.openxmlformats.org/drawingml/2006/main">
              <a:ext uri="{FF2B5EF4-FFF2-40B4-BE49-F238E27FC236}">
                <a16:creationId xmlns:a16="http://schemas.microsoft.com/office/drawing/2014/main" id="{D36AF126-E212-4708-83B2-6ACE6C0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Risk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Scoring</a:t>
            </a:r>
          </a:p>
        </p:txBody>
      </p:sp>
      <p:sp>
        <p:nvSpPr>
          <p:cNvPr id="1008" name="Arrow 1008">
            <a:extLst xmlns:a="http://schemas.openxmlformats.org/drawingml/2006/main">
              <a:ext uri="{FF2B5EF4-FFF2-40B4-BE49-F238E27FC236}">
                <a16:creationId xmlns:a16="http://schemas.microsoft.com/office/drawing/2014/main" id="{11E5077A-98F4-4CB5-A912-5C4415C7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" name="Shape 1009">
            <a:extLst xmlns:a="http://schemas.openxmlformats.org/drawingml/2006/main">
              <a:ext uri="{FF2B5EF4-FFF2-40B4-BE49-F238E27FC236}">
                <a16:creationId xmlns:a16="http://schemas.microsoft.com/office/drawing/2014/main" id="{8736B668-652A-4196-A7A1-A679390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</p:txBody>
      </p:sp>
      <p:sp>
        <p:nvSpPr>
          <p:cNvPr id="1010" name="Arrow 1010">
            <a:extLst xmlns:a="http://schemas.openxmlformats.org/drawingml/2006/main">
              <a:ext uri="{FF2B5EF4-FFF2-40B4-BE49-F238E27FC236}">
                <a16:creationId xmlns:a16="http://schemas.microsoft.com/office/drawing/2014/main" id="{445A71BF-81C0-4076-BB29-637E1D6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1" name="Shape 1011">
            <a:extLst xmlns:a="http://schemas.openxmlformats.org/drawingml/2006/main">
              <a:ext uri="{FF2B5EF4-FFF2-40B4-BE49-F238E27FC236}">
                <a16:creationId xmlns:a16="http://schemas.microsoft.com/office/drawing/2014/main" id="{BFC01D25-F5A9-4D3D-BD6D-B2BEE0C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Portal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1012" name="TextBox 1012">
            <a:extLst xmlns:a="http://schemas.openxmlformats.org/drawingml/2006/main">
              <a:ext uri="{FF2B5EF4-FFF2-40B4-BE49-F238E27FC236}">
                <a16:creationId xmlns:a16="http://schemas.microsoft.com/office/drawing/2014/main" id="{3F3C88BE-3AF7-4775-88D0-F7B3BD1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3410000"/>
            <a:ext cx="103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Data Flow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Place, camera and public-report inputs are organized into location-linked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groups observations and presents claims with supporting or missing evidence.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indicators support review; a human operator remains responsible for any action.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Approved information can then be displayed in the dashboard and advisory workflow.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ddbba082de40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d23197f87344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92d2e885f34e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89E5F4C9-8865-4D9B-8C4A-B00AE07672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Implementation</a:t>
            </a:r>
          </a:p>
        </p:txBody>
      </p:sp>
      <p:pic>
        <p:nvPicPr>
          <p:cNvPr id="10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543f632cc4e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3" name="TextBox 1013">
            <a:extLst xmlns:a="http://schemas.openxmlformats.org/drawingml/2006/main">
              <a:ext uri="{FF2B5EF4-FFF2-40B4-BE49-F238E27FC236}">
                <a16:creationId xmlns:a16="http://schemas.microsoft.com/office/drawing/2014/main" id="{A5EC4199-45F3-4298-B4E9-FEA26E4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Implemented Prototype Modules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place guide: schematic Nashik and Trimbakeshwar scenes with portal links.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Overview dashboard: feature guide, situation indicators and incident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a 16-step timeline and manual demo-event injections.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portal: example 15, 30 and 60-minute forecasts and holding-area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Other portals: camera, incident, shelter, resource and public-report workflows.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Claim scanner: a demo interface for evidence review; real feeds require integration.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Tech Stack in Practice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Next.js frontend, FastAPI backend, WebSockets and an in-memory demo database.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16b223f4e842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91a70bb38643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99f836bfc448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3D Place Guide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80493c3b14a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3ab6734f4299"/>
          <a:stretch xmlns:a="http://schemas.openxmlformats.org/drawingml/2006/main"/>
        </p:blipFill>
        <p:spPr>
          <a:xfrm xmlns:a="http://schemas.openxmlformats.org/drawingml/2006/main">
            <a:off x="1381125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Nashik Ramkund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94D2AF61-9C39-4714-A6F4-D3A8FD3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Nashik riverfront: Ramkund and portal links</a:t>
            </a:r>
          </a:p>
        </p:txBody>
      </p:sp>
      <p:pic>
        <p:nvPicPr>
          <p:cNvPr id="10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3e30220a74330"/>
          <a:stretch xmlns:a="http://schemas.openxmlformats.org/drawingml/2006/main"/>
        </p:blipFill>
        <p:spPr>
          <a:xfrm xmlns:a="http://schemas.openxmlformats.org/drawingml/2006/main">
            <a:off x="6477000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Trimbakeshwar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F358522D-2448-4E7E-9BE2-BCDACF0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Trimbakeshwar: separate landmark scene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64cb2b0f9c40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ce23c4115845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b702ef1a844f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Prototype Website Screens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430b87e149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fb99f68e462e"/>
          <a:stretch xmlns:a="http://schemas.openxmlformats.org/drawingml/2006/main"/>
        </p:blipFill>
        <p:spPr>
          <a:xfrm xmlns:a="http://schemas.openxmlformats.org/drawingml/2006/main">
            <a:off x="1381125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KumbhRakshak overview dashboard">
            <a:extLst xmlns:a="http://schemas.openxmlformats.org/drawingml/2006/main">
              <a:ext uri="{FF2B5EF4-FFF2-40B4-BE49-F238E27FC236}">
                <a16:creationId xmlns:a16="http://schemas.microsoft.com/office/drawing/2014/main" id="{E722F51B-4FE4-4758-828C-E261DDB3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Overview and feature guide</a:t>
            </a:r>
          </a:p>
        </p:txBody>
      </p:sp>
      <p:pic>
        <p:nvPicPr>
          <p:cNvPr id="10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57eddeed7490f"/>
          <a:stretch xmlns:a="http://schemas.openxmlformats.org/drawingml/2006/main"/>
        </p:blipFill>
        <p:spPr>
          <a:xfrm xmlns:a="http://schemas.openxmlformats.org/drawingml/2006/main">
            <a:off x="6477000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KumbhRakshak crowd forecast portal">
            <a:extLst xmlns:a="http://schemas.openxmlformats.org/drawingml/2006/main">
              <a:ext uri="{FF2B5EF4-FFF2-40B4-BE49-F238E27FC236}">
                <a16:creationId xmlns:a16="http://schemas.microsoft.com/office/drawing/2014/main" id="{82644C8B-0870-486D-9B36-CF49D133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Crowd portal: illustrative forecast values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4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f600fd10a645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5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dc7985e79345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6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266b73bcff48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Complete Feature Map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6fed47ff946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16C490BB-7F60-4388-B74A-814F890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764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Explore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FED3CF23-750B-4C91-9026-226D265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Overview dashboard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885FD91B-D2A9-46CD-AD4C-D2BE086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3D Nashik-Trimbakeshwar place guide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6BCA3483-479D-42AE-A1A3-81F4092D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Area map with camera and incident markers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522B3720-B423-44B2-B7A4-2DF0CF23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Shelters and holding capacity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706F4779-D7C4-4339-BCFB-4A71C5D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Monitor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0CCBAA6A-62E6-42A0-B684-5B4455A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Camera vision and crowd forecasts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D724B1F7-A091-445E-A794-92229B3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Public reports and claim verification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F33B96FE-8C81-4BC1-8A96-0B0A6FF1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972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Sentiment pulse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0F849763-F1B7-4A2F-A921-F0AF9A5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Respond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9001EB81-6C53-4B08-8271-96BA8F7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Incident list, detail and evidence graph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8BFA9749-F9EA-47DA-B6B2-F91C0FB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38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Response resources and dispatch review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D7FD6496-5829-47AF-909F-53304B3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9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Multilingual broadcast studio</a:t>
            </a:r>
          </a:p>
        </p:txBody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50A35E90-1C71-402C-867A-EC32C97D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Understand and assist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8D7F769E-0556-4B0E-9DBD-697748F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52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AI model registry and executive brief</a:t>
            </a:r>
          </a:p>
        </p:txBody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14858EE7-AF7C-4074-8314-FE33AC5D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244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Lost-person assistance demo</a:t>
            </a:r>
          </a:p>
        </p:txBody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CCE2C30F-AC8B-418D-A7F4-9AE5140C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95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Command copilot</a:t>
            </a:r>
          </a:p>
        </p:txBody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48A9D952-B22A-47FE-9B27-171C7AB2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673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16-step simulation and scenario lab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1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56a2950f094f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2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83b7d4500b42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3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4938b5f69c46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Place &amp; Monitoring Portals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8173fd6634f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EAB067B6-76C0-4500-A284-785C1876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95525"/>
            <a:ext cx="471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3D place guide and map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826BCD30-BAF2-4C2F-A329-6D3FDAA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Two scenes explain Nashik and Trimbakeshwar.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50F5A07A-7078-4779-88EA-7A34242A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Click a place to open its linked feature portal.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F899D4D1-BD09-4451-BE68-5830075A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Area map shows camera and incident context.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AD83972D-8801-471D-B8BC-A437CA73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71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Shelter and camera views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C5ED2A10-8D2A-4620-8A09-FC6A6B02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Shelters show listed capacity and occupancy.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E48DE2E1-360B-4982-8AEA-998A203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24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Camera grid opens observation and event views.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8537859A-4BB4-4C9B-8126-1F951C39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Crowd portal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20F301E5-8A43-4CA0-A54E-F00C0DC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15, 30 and 60-minute forecast cards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C8BE9399-AAD6-47B9-99C6-B5E6AA0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67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Holding-area buffer and surge indicators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46A1276E-6BBB-4B41-A4CF-B8B45DF6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Values are simulated for the current demo.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5BFD60E6-CB87-4E27-AB19-27A9A158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Operator overview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DA5813EF-5E96-4216-A292-2DAC93F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434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KPIs, place signals and incident alerts</a:t>
            </a:r>
          </a:p>
        </p:txBody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1CCE299C-09BF-435E-A4AD-F0BC28DC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244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Feature guide explains every portal.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38784486-9956-4520-844A-D536A059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245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3D landmarks are explanatory. Approved 2027 GIS is needed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923d7fbdef4c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5258e48e0b4a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195e6c32fc4c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Social Intelligence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9add2483c4e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8c0f362a24dd0"/>
          <a:stretch xmlns:a="http://schemas.openxmlformats.org/drawingml/2006/main"/>
        </p:blipFill>
        <p:spPr>
          <a:xfrm xmlns:a="http://schemas.openxmlformats.org/drawingml/2006/main">
            <a:off x="1381125" y="2379001"/>
            <a:ext cx="5810250" cy="3566848"/>
          </a:xfrm>
          <a:prstGeom xmlns:a="http://schemas.openxmlformats.org/drawingml/2006/main" prst="rect">
            <a:avLst/>
          </a:prstGeom>
        </p:spPr>
      </p:pic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8D32E47A-C1EB-4EA0-9AC9-065AC3E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050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Public reports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FF88B499-4C25-48E9-B9DB-682E640F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670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Mock social feed with status filters and triage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ADBB8C35-5774-4D9F-81A1-7AE9CCE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Claim verification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61D25807-D500-4F77-B0E8-F7E1F0A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Review location, camera evidence and uncertainty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2D339CF7-95BF-4FEA-B8E5-CE5C6DCB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243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Sentiment pulse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48E30E90-D0B3-4170-B44C-F1DCA796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863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Public-concern trends and emerging issues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8DB2123F-B52C-4B85-8D40-4C2F95DC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Broadcast studio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506CAB72-F902-458D-AF9F-495B080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57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Draft Hindi, Marathi, Gujarati and English advisories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8B05FF81-C148-438C-A020-0B109EC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Actual portal screenshot. Feed and verification cases are demo data; no external advisory is published.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9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1f606ea4d24e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0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6fb685df3a43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1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fe0b45614043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Incident Response Features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6ec5e657742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24DA0857-6C38-4864-9AA8-68E132F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Incident review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59DD4316-94B4-4204-BA46-B5B59BA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List and detail pages show severity, risk and evidence.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94843538-5DB0-4FB4-88A9-87B731C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Evidence graph links reports, cameras and actions.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7E7F0430-7F95-40A2-A957-272DACF2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6717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Resources and shelters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D37A3E9F-E60F-415E-BBF5-DEA839D9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Review available teams and nearest-unit suggestions.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7BC6226F-66E5-45FB-AAF2-AF4B7472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Check shelter capacity and overflow pressure.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DE172902-168B-4891-95AE-BA22F7F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Human-controlled response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F7589A43-8C9C-402E-AC8C-7D18EFF9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Recommendation and confirmation are separate steps.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5517BC37-10C1-4605-8D9F-03FFE843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19450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Dispatch decisions can be recorded in an audit trail.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6237BFF0-9DD9-4E43-9074-D87CA415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Additional assistance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7FAD665B-8AF5-4C0E-B61D-C9947AB1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481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Lost-person demo uses clothing and sighting attributes.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55E82FCA-48D5-4FF6-B7AA-7C0CE414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815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Alerts, advisories and copilot support operator review.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3DAA7495-4C0D-4212-B2E3-17C85B5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62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The platform does not autonomously send field teams or publish a public alert.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5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4f541b153247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6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c0a8c0d6fe44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8bd36ead904e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Simulation &amp; Scenario Lab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82576f3254f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9d60ed3ad4db1"/>
          <a:stretch xmlns:a="http://schemas.openxmlformats.org/drawingml/2006/main"/>
        </p:blipFill>
        <p:spPr>
          <a:xfrm xmlns:a="http://schemas.openxmlformats.org/drawingml/2006/main">
            <a:off x="1381125" y="2517430"/>
            <a:ext cx="5857875" cy="3594791"/>
          </a:xfrm>
          <a:prstGeom xmlns:a="http://schemas.openxmlformats.org/drawingml/2006/main" prst="rect">
            <a:avLst/>
          </a:prstGeom>
        </p:spPr>
      </p:pic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7F22BC2F-A5C0-415E-A3B7-8E422105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16-step timeline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0F0D3B2A-C963-4304-9D96-8B6020C3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Start, pause, resume, reset and speed controls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76FF36DC-9DE2-434C-A151-B84215B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Seven demo injections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B98A792D-690E-48B9-B066-BFC84FB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Fire, crowd surge, rumor and recycled video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2E1DDA9D-A675-4C6B-9814-E6DEE0D1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9102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Bottleneck, shelter overflow and geotag claim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AD7D5842-09E5-48C1-B8BD-5326B68F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1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Event telemetry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FF3660EC-44AE-41E9-92A4-773E475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Scenario updates appear in the live demo log.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C51A935F-56D7-443D-BE2C-331EF2B3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296025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All scenario events are simulated. The 3D place guide remains separate from the event timeline.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1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a3be7a3be94e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2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0631bedaf340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3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3c940f9b064e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AI Modules &amp; Prototype Status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693ac65db40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9E9950F4-A58B-4C7F-BE15-AAF6A46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764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Processing modules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A800A88A-3CA4-43D9-8407-3646187D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Camera-event and fire/smoke heuristics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6B6342A4-6DF5-4CA7-99E4-09F5D186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Crowd forecasting and explainable risk scoring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691B99E5-F4F2-473E-844D-A3594529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Social triage, clustering and recycled-media checks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D355CA1A-E6B5-4B98-BD03-F238185B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Claim-evidence comparison for human review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8240CBDF-7729-4C6E-AF50-3B2BABFE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Platform engineering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8290E8D0-84D9-4855-B747-CEEE205F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FastAPI, Next.js and WebSocket updates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CC77DFAB-959E-4A16-9BCF-7CA1ECC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4352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Firestore adapter with in-memory demo fallback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1DE710AA-E090-40B8-A50C-22D3234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Operator tools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24F6DEFB-230F-4B9A-B660-B7B3B14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AI model registry and status view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1B873664-3724-477E-AEE1-85F3821A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480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Executive brief and readiness summary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BAF45114-E823-41D0-A766-F56588F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29000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Command copilot with guided demo prompts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76A14D48-2218-4B23-B1DE-F5E366FB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Field-use boundary</a:t>
            </a:r>
          </a:p>
        </p:txBody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DB11C44D-DB88-4149-8C76-19E52270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6252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No live Kumbh CCTV or official 2027 site plan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A97E8067-CB5F-42BC-9227-8EC8B510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91150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Mock social feed; no automatic dispatch or posting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411544f05a4b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5b64d1a8334e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c057132e1e4b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Results  </a:t>
            </a: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4f164559243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Demonstrated Outcomes (Prototype)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local simulation starts, pauses and accepts a test fire event with telemetry logging.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3D Nashik guide links Ramkund to its crowd portal; Trimbakeshwar has a separate scene.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crowd page shows example 15, 30 and 60-minute forecast cards.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feature tour covers camera, social, incident, resource and broadcast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FastAPI routes and WebSocket channels back the prototype workflows.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Scope of Current Results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These are software-demo results. Locations, event values and forecasts are illustrative, with no field-performance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0dfc638d2544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1e6930810a4d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a0ce46c22040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4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d831ee02974b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34697" y="157876"/>
            <a:ext cx="6471384" cy="11708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8BD2545-B7FB-4D82-B904-5D489BDEEE7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2CDF01F0-5F45-476B-8626-A09B88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33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Prioritised Roadmap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Replace schematic pins with approved 2027 GIS, ghat and facility coordinates.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permissioned CCTV, incident feeds and validated crowd counts.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 false alerts, model accuracy and response latency with local operators.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audit logs, access control and human approval for public advisories.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 multilingual and low-connectivity guidance with pilgrims and volunteers.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a staged pilot before any operational or emergency use.</a:t>
            </a:r>
          </a:p>
        </p:txBody>
      </p:sp>
    </p:spTree>
    <p:extLst>
      <p:ext uri="{BB962C8B-B14F-4D97-AF65-F5344CB8AC3E}">
        <p14:creationId xmlns:p14="http://schemas.microsoft.com/office/powerpoint/2010/main" val="227489047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261489eaa044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fd64e646ca4d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7b016f8c7448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89CF808-4FF3-4BFE-9550-5376D96B241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722" y="1762779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fd73f4d1e4c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25D3716C-5B4E-4CB7-8D03-CC096F0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57" y="237478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Nashik District Administration. Ramkund Nashik: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Nashik District Administration. Kushavart Tirtha, Trimbakeshwar: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Kanaujiya, A.K. &amp; Tiwari, V. (2022). Crowd management and security at Prayagraj Kumbh Mela 2019. National Academy Science Letters.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Tiwari, S. &amp; Chowdhary, R. (2022). Technology and crowd management: Kumbh case study.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JMIR Infodemiology (2025). Narrative review of disaster misinformation on social media.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KumbhRakshak project code and local demo, accessed 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4696879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5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7ffcede37c4a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5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66b0e291ff46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5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08b8bafab44f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73EEA3B5-2BD8-4214-A6EF-23BBD74E9F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98569169-C473-4001-BF1A-42C5F9A0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558" y="2902828"/>
            <a:ext cx="4162883" cy="105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6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60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1cf0d0e1747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42501659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2026-10-03T17:42:56.5910000Z</dcterms:created>
  <dcterms:modified xsi:type="dcterms:W3CDTF">2026-10-03T17:42:56.5910000Z</dcterms:modified>
</coreProperties>
</file>