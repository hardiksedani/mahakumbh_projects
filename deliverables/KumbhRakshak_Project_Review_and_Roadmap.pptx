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418e2a20d14a50" /><Relationship Type="http://schemas.openxmlformats.org/officeDocument/2006/relationships/extended-properties" Target="/docProps/app.xml" Id="R45912537e4344a86" /><Relationship Type="http://schemas.openxmlformats.org/officeDocument/2006/relationships/officeDocument" Target="/ppt/presentation.xml" Id="R4e7dcba4142a49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72c6f23b9e4262"/>
  </p:sldMasterIdLst>
  <p:notesMasterIdLst>
    <p:notesMasterId xmlns:r="http://schemas.openxmlformats.org/officeDocument/2006/relationships" r:id="R9f08b454126c44f0"/>
  </p:notesMasterIdLst>
  <p:sldIdLst>
    <p:sldId xmlns:r="http://schemas.openxmlformats.org/officeDocument/2006/relationships" id="256" r:id="Re4cbbba20dc84876"/>
    <p:sldId xmlns:r="http://schemas.openxmlformats.org/officeDocument/2006/relationships" id="257" r:id="R9e2c54f06fde46cb"/>
    <p:sldId xmlns:r="http://schemas.openxmlformats.org/officeDocument/2006/relationships" id="258" r:id="R7659a0eb8e7444e8"/>
    <p:sldId xmlns:r="http://schemas.openxmlformats.org/officeDocument/2006/relationships" id="259" r:id="R718ce81a6efb4023"/>
    <p:sldId xmlns:r="http://schemas.openxmlformats.org/officeDocument/2006/relationships" id="260" r:id="R28189dfaaa7b4359"/>
    <p:sldId xmlns:r="http://schemas.openxmlformats.org/officeDocument/2006/relationships" id="261" r:id="R90efdfb7093a4bfd"/>
    <p:sldId xmlns:r="http://schemas.openxmlformats.org/officeDocument/2006/relationships" id="262" r:id="R815062c32f804b2d"/>
    <p:sldId xmlns:r="http://schemas.openxmlformats.org/officeDocument/2006/relationships" id="263" r:id="R96a6bebc3ca64b10"/>
    <p:sldId xmlns:r="http://schemas.openxmlformats.org/officeDocument/2006/relationships" id="264" r:id="Rb7b845f1bc724b77"/>
    <p:sldId xmlns:r="http://schemas.openxmlformats.org/officeDocument/2006/relationships" id="265" r:id="R0e4452ad60124be0"/>
    <p:sldId xmlns:r="http://schemas.openxmlformats.org/officeDocument/2006/relationships" id="266" r:id="R411eacc9a31d448a"/>
    <p:sldId xmlns:r="http://schemas.openxmlformats.org/officeDocument/2006/relationships" id="267" r:id="Ref349e9732bd424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CC88459-E5D0-4755-9FAC-F6AFB1E2B481}">
  <a:tblStyle styleId="{9CC88459-E5D0-4755-9FAC-F6AFB1E2B4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3a44dfa2243ee" /><Relationship Type="http://schemas.openxmlformats.org/officeDocument/2006/relationships/slideMaster" Target="/ppt/slideMasters/slideMaster1.xml" Id="R2072c6f23b9e4262" /><Relationship Type="http://schemas.openxmlformats.org/officeDocument/2006/relationships/notesMaster" Target="/ppt/notesMasters/notesMaster1.xml" Id="R9f08b454126c44f0" /><Relationship Type="http://schemas.openxmlformats.org/officeDocument/2006/relationships/presProps" Target="/ppt/presProps.xml" Id="Rdafb4322362647f9" /><Relationship Type="http://schemas.openxmlformats.org/officeDocument/2006/relationships/viewProps" Target="/ppt/viewProps.xml" Id="R56f8ac8b2a2742a0" /><Relationship Type="http://schemas.openxmlformats.org/officeDocument/2006/relationships/tableStyles" Target="/ppt/tableStyles.xml" Id="R1e1b21ffceeb4d00" /><Relationship Type="http://schemas.openxmlformats.org/officeDocument/2006/relationships/slide" Target="/ppt/slides/slide1.xml" Id="Re4cbbba20dc84876" /><Relationship Type="http://schemas.openxmlformats.org/officeDocument/2006/relationships/slide" Target="/ppt/slides/slide2.xml" Id="R9e2c54f06fde46cb" /><Relationship Type="http://schemas.openxmlformats.org/officeDocument/2006/relationships/slide" Target="/ppt/slides/slide3.xml" Id="R7659a0eb8e7444e8" /><Relationship Type="http://schemas.openxmlformats.org/officeDocument/2006/relationships/slide" Target="/ppt/slides/slide4.xml" Id="R718ce81a6efb4023" /><Relationship Type="http://schemas.openxmlformats.org/officeDocument/2006/relationships/slide" Target="/ppt/slides/slide5.xml" Id="R28189dfaaa7b4359" /><Relationship Type="http://schemas.openxmlformats.org/officeDocument/2006/relationships/slide" Target="/ppt/slides/slide6.xml" Id="R90efdfb7093a4bfd" /><Relationship Type="http://schemas.openxmlformats.org/officeDocument/2006/relationships/slide" Target="/ppt/slides/slide7.xml" Id="R815062c32f804b2d" /><Relationship Type="http://schemas.openxmlformats.org/officeDocument/2006/relationships/slide" Target="/ppt/slides/slide8.xml" Id="R96a6bebc3ca64b10" /><Relationship Type="http://schemas.openxmlformats.org/officeDocument/2006/relationships/slide" Target="/ppt/slides/slide9.xml" Id="Rb7b845f1bc724b77" /><Relationship Type="http://schemas.openxmlformats.org/officeDocument/2006/relationships/slide" Target="/ppt/slides/slide10.xml" Id="R0e4452ad60124be0" /><Relationship Type="http://schemas.openxmlformats.org/officeDocument/2006/relationships/slide" Target="/ppt/slides/slide11.xml" Id="R411eacc9a31d448a" /><Relationship Type="http://schemas.openxmlformats.org/officeDocument/2006/relationships/slide" Target="/ppt/slides/slide12.xml" Id="Ref349e9732bd42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b8edfbc3c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6a2e62a872470b" /><Relationship Type="http://schemas.openxmlformats.org/officeDocument/2006/relationships/notesMaster" Target="/ppt/notesMasters/notesMaster1.xml" Id="Rf838ff75502741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4efdd4a54d417a" /><Relationship Type="http://schemas.openxmlformats.org/officeDocument/2006/relationships/notesMaster" Target="/ppt/notesMasters/notesMaster1.xml" Id="Rb2eb27e1f4b04f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cb2f0838744f7" /><Relationship Type="http://schemas.openxmlformats.org/officeDocument/2006/relationships/notesMaster" Target="/ppt/notesMasters/notesMaster1.xml" Id="R281fe1bed1f5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b3bd9ed1a4f59" /><Relationship Type="http://schemas.openxmlformats.org/officeDocument/2006/relationships/notesMaster" Target="/ppt/notesMasters/notesMaster1.xml" Id="Rdc09baff23eb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81f95480ec430c" /><Relationship Type="http://schemas.openxmlformats.org/officeDocument/2006/relationships/notesMaster" Target="/ppt/notesMasters/notesMaster1.xml" Id="R402f75f5b05c4d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f464ecd850446f" /><Relationship Type="http://schemas.openxmlformats.org/officeDocument/2006/relationships/notesMaster" Target="/ppt/notesMasters/notesMaster1.xml" Id="R60ce948262c14d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df8e8f97674c1f" /><Relationship Type="http://schemas.openxmlformats.org/officeDocument/2006/relationships/notesMaster" Target="/ppt/notesMasters/notesMaster1.xml" Id="Re7b2cb632309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7c21e56afb46cb" /><Relationship Type="http://schemas.openxmlformats.org/officeDocument/2006/relationships/notesMaster" Target="/ppt/notesMasters/notesMaster1.xml" Id="R07340dced0d34e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a1d0cd8fc14bb8" /><Relationship Type="http://schemas.openxmlformats.org/officeDocument/2006/relationships/notesMaster" Target="/ppt/notesMasters/notesMaster1.xml" Id="Rf376f32589664c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0098f7d72c4236" /><Relationship Type="http://schemas.openxmlformats.org/officeDocument/2006/relationships/notesMaster" Target="/ppt/notesMasters/notesMaster1.xml" Id="Ra84281fe8bc54c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022fc4c2d24a56" /><Relationship Type="http://schemas.openxmlformats.org/officeDocument/2006/relationships/notesMaster" Target="/ppt/notesMasters/notesMaster1.xml" Id="Ra81eac2de02342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6d991389a9468a" /><Relationship Type="http://schemas.openxmlformats.org/officeDocument/2006/relationships/notesMaster" Target="/ppt/notesMasters/notesMaster1.xml" Id="Rd982ae450f3f4e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README.md. This deck uses the supplied El Niño presentation only as a visual template; all slide content concerns KumbhRakshak.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Deck structure based on the project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README.md, Problem and Solution sections. Wording condensed for presentation.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frontend/app/page.tsx, backend/app/api/routes.py, backend/app/api/social_sim_routes.py and simulation/engine.py. 'Implemented MVP' refers to code present in the repository; live operational data is outside this demo.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docs/demo-script.md. Objectives are a concise restatement of current project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docs/architecture.md, frontend/package.json and backend/requirements.txt.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frontend/app/page.tsx, simulation/page.tsx, verify/page.tsx, offline/page.tsx, MapView.tsx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enhancements based on gaps visible in the repository and its stated MVP limitations. These functions are not claimed as existing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roadmap. Sequence prioritises operational safety and evidence quality before broader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derived from the README's limitations and its human-in-the-loop design. This is a deployment recommendation, not a claim that a production pilot is already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90-day plan. Dates and scope should be validated with the command-centre and data-owning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content was derived from the KumbhRakshak repository supplied in this workspace. The El Niño presentation supplied by the user was used only as a visual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0b0c29f6044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a759811bb43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7e43da072e4a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6197f78a340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2ee5711e241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1ac632a8946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eeaf36a4c4ae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AF60887-47BF-4D5F-9434-8D7D5EF8DEF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6DE656F-A648-4C79-8134-EEF8860588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AAB8440-87A2-4173-9535-7510A30B0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0A411B71-D5A3-45CB-B81B-7DEB10B42B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5FF68C2-DB52-40E8-9D68-F2C8A61A1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E7E625CB-249A-40EB-B4B0-325968CE00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5F7E0AD6-1647-4834-B756-E4C1AF9D9D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EA0DDDA-232C-4ADF-BD13-D1CF0978B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C86CEE7B-040C-41C6-93FC-780432DB6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AA93D95-C8A5-42B2-8BC6-8572E02F62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F83B47E3-F887-4EE8-B2DE-4CE2AD86C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979AB0F-D6DD-47A8-BFD2-0F4C2FB38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0EC91043-8067-4C7F-A8CB-A14FCA7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3433E9E-0B61-432F-8E84-B082211EE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B54927B-0363-49B5-92B0-22625CDEC1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5833A8CF-6A85-4C5C-8C38-6B2CFA9D33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23F917FC-60EA-4D7E-A33A-F427D7B473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4C352205-EC88-4357-B83C-EA9BC1DD40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B3C6CF81-3211-4B27-AC75-E85A90F1F8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8E764F6-73C0-4D34-935C-070002AF5C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64234993-1D42-43F6-B22C-24F5DCB22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607A7D9F-6005-467D-A530-853EA1CA1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c388712cc4e2c" /><Relationship Type="http://schemas.openxmlformats.org/officeDocument/2006/relationships/slideLayout" Target="/ppt/slideLayouts/slideLayout1.xml" Id="R8eb981fc816f46c5" /><Relationship Type="http://schemas.openxmlformats.org/officeDocument/2006/relationships/slideLayout" Target="/ppt/slideLayouts/slideLayout2.xml" Id="Reb22955cb9864a6a" /><Relationship Type="http://schemas.openxmlformats.org/officeDocument/2006/relationships/slideLayout" Target="/ppt/slideLayouts/slideLayout3.xml" Id="R46d0421f6576469a" /><Relationship Type="http://schemas.openxmlformats.org/officeDocument/2006/relationships/slideLayout" Target="/ppt/slideLayouts/slideLayout4.xml" Id="Raa80d183ec1d4be6" /><Relationship Type="http://schemas.openxmlformats.org/officeDocument/2006/relationships/slideLayout" Target="/ppt/slideLayouts/slideLayout5.xml" Id="R9c476f5e82d74461" /><Relationship Type="http://schemas.openxmlformats.org/officeDocument/2006/relationships/slideLayout" Target="/ppt/slideLayouts/slideLayout6.xml" Id="Rb529908748a94d64" /><Relationship Type="http://schemas.openxmlformats.org/officeDocument/2006/relationships/slideLayout" Target="/ppt/slideLayouts/slideLayout7.xml" Id="R66f0793e7bdd45b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9B387C6-F44E-44B9-A3B7-D71DF1DE9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698CCC9-CF82-4298-A0E5-055B955425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BDAEA8A-8100-4788-AE49-F215FF8530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b981fc816f46c5"/>
    <p:sldLayoutId xmlns:r="http://schemas.openxmlformats.org/officeDocument/2006/relationships" id="2147483650" r:id="Reb22955cb9864a6a"/>
    <p:sldLayoutId xmlns:r="http://schemas.openxmlformats.org/officeDocument/2006/relationships" id="2147483651" r:id="R46d0421f6576469a"/>
    <p:sldLayoutId xmlns:r="http://schemas.openxmlformats.org/officeDocument/2006/relationships" id="2147483652" r:id="Raa80d183ec1d4be6"/>
    <p:sldLayoutId xmlns:r="http://schemas.openxmlformats.org/officeDocument/2006/relationships" id="2147483653" r:id="R9c476f5e82d74461"/>
    <p:sldLayoutId xmlns:r="http://schemas.openxmlformats.org/officeDocument/2006/relationships" id="2147483654" r:id="Rb529908748a94d64"/>
    <p:sldLayoutId xmlns:r="http://schemas.openxmlformats.org/officeDocument/2006/relationships" id="2147483655" r:id="R66f0793e7bdd45ba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9cee5151c42f5" /><Relationship Type="http://schemas.openxmlformats.org/officeDocument/2006/relationships/image" Target="/ppt/media/image.png" Id="R0065b6fead754a2d" /><Relationship Type="http://schemas.openxmlformats.org/officeDocument/2006/relationships/notesSlide" Target="/ppt/notesSlides/notesSlide1.xml" Id="R78d7068b7a96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e10d9185846d7" /><Relationship Type="http://schemas.openxmlformats.org/officeDocument/2006/relationships/image" Target="/ppt/media/image.png" Id="R692d91993d104b05" /><Relationship Type="http://schemas.openxmlformats.org/officeDocument/2006/relationships/notesSlide" Target="/ppt/notesSlides/notesSlide2.xml" Id="Rc51338015fae47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b9743d38644b1" /><Relationship Type="http://schemas.openxmlformats.org/officeDocument/2006/relationships/image" Target="/ppt/media/image.png" Id="Rb6377aa895af4796" /><Relationship Type="http://schemas.openxmlformats.org/officeDocument/2006/relationships/notesSlide" Target="/ppt/notesSlides/notesSlide3.xml" Id="Ra6005bd9a3704f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aa59fd51249f5" /><Relationship Type="http://schemas.openxmlformats.org/officeDocument/2006/relationships/image" Target="/ppt/media/image.png" Id="R56374b6d711d437a" /><Relationship Type="http://schemas.openxmlformats.org/officeDocument/2006/relationships/notesSlide" Target="/ppt/notesSlides/notesSlide4.xml" Id="R1107d25e92f14e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9b39818ac4dba" /><Relationship Type="http://schemas.openxmlformats.org/officeDocument/2006/relationships/image" Target="/ppt/media/image.png" Id="R7e138d5871ca4ca9" /><Relationship Type="http://schemas.openxmlformats.org/officeDocument/2006/relationships/notesSlide" Target="/ppt/notesSlides/notesSlide5.xml" Id="R968ec0a49864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a69298cfa46d8" /><Relationship Type="http://schemas.openxmlformats.org/officeDocument/2006/relationships/image" Target="/ppt/media/image.png" Id="R8ad96979e2464938" /><Relationship Type="http://schemas.openxmlformats.org/officeDocument/2006/relationships/notesSlide" Target="/ppt/notesSlides/notesSlide6.xml" Id="R4a3fc1a071334c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12c951e6341e7" /><Relationship Type="http://schemas.openxmlformats.org/officeDocument/2006/relationships/image" Target="/ppt/media/image.png" Id="Rebc1953a74f941fa" /><Relationship Type="http://schemas.openxmlformats.org/officeDocument/2006/relationships/notesSlide" Target="/ppt/notesSlides/notesSlide7.xml" Id="R45b61ec154d045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63f650e354588" /><Relationship Type="http://schemas.openxmlformats.org/officeDocument/2006/relationships/image" Target="/ppt/media/image.png" Id="R12a42596d2cb46ca" /><Relationship Type="http://schemas.openxmlformats.org/officeDocument/2006/relationships/notesSlide" Target="/ppt/notesSlides/notesSlide8.xml" Id="Ra5bbe2c37e1c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e145434464c62" /><Relationship Type="http://schemas.openxmlformats.org/officeDocument/2006/relationships/image" Target="/ppt/media/image.png" Id="Ref6c7de2cf8b4e62" /><Relationship Type="http://schemas.openxmlformats.org/officeDocument/2006/relationships/notesSlide" Target="/ppt/notesSlides/notesSlide9.xml" Id="R28e2819468ee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fd2d98af0491d" /><Relationship Type="http://schemas.openxmlformats.org/officeDocument/2006/relationships/image" Target="/ppt/media/image.png" Id="Ra41e1c3dde0048bb" /><Relationship Type="http://schemas.openxmlformats.org/officeDocument/2006/relationships/notesSlide" Target="/ppt/notesSlides/notesSlide10.xml" Id="Rac820b49a0ee44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6b6b488749ac" /><Relationship Type="http://schemas.openxmlformats.org/officeDocument/2006/relationships/image" Target="/ppt/media/image.png" Id="R649f290086e84bcb" /><Relationship Type="http://schemas.openxmlformats.org/officeDocument/2006/relationships/notesSlide" Target="/ppt/notesSlides/notesSlide11.xml" Id="R25df5cc8f7c540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558cebb984ee9" /><Relationship Type="http://schemas.openxmlformats.org/officeDocument/2006/relationships/image" Target="/ppt/media/image.png" Id="Rb0413b6a0b9642ba" /><Relationship Type="http://schemas.openxmlformats.org/officeDocument/2006/relationships/notesSlide" Target="/ppt/notesSlides/notesSlide12.xml" Id="R14ce812dc2e846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0661E276-5427-4CA8-8875-E5F777B4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0" y="4512964"/>
            <a:ext cx="8678700" cy="400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Times New Roman"/>
                <a:ea typeface="Times New Roman"/>
                <a:cs typeface="Times New Roman"/>
              </a:rPr>
              <a:t>Department of AI&amp;DS, K.J. Somaiya Institute of Technology, Sion, Mumbai 400022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E5EEF085-438D-452B-BED5-AC14B5A6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5" y="1245476"/>
            <a:ext cx="7129800" cy="1326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 b="1">
              <a:solidFill>
                <a:srgbClr val="1F3864"/>
              </a:solidFill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75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T.Y. Mini Project Presentation</a:t>
            </a:r>
            <a:endParaRPr sz="2508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9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KumbhRakshak: AI-Powered Kumbh Mela Safety Platform</a:t>
            </a:r>
            <a:endParaRPr sz="1259" b="1">
              <a:solidFill>
                <a:srgbClr val="58595B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7">
              <a:solidFill>
                <a:srgbClr val="000000"/>
              </a:solidFill>
            </a:endParaRPr>
          </a:p>
        </p:txBody>
      </p:sp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2EF58D7B-A865-4986-9D04-5A7C0700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175" y="3345275"/>
            <a:ext cx="42060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Command Centre Decision-Support MVP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Nashik–Trimbakeshwar Kumbh Mela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3310FFC2-938F-4176-92D2-5713A9D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022" y="2640685"/>
            <a:ext cx="4386306" cy="64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Project Review</a:t>
            </a:r>
            <a:endParaRPr sz="1800" b="1">
              <a:solidFill>
                <a:srgbClr val="262626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62626"/>
                </a:solidFill>
                <a:latin typeface="Times New Roman"/>
                <a:ea typeface="Times New Roman"/>
                <a:cs typeface="Times New Roman"/>
              </a:rPr>
              <a:t>Feature Roadmap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pic>
        <p:nvPicPr>
          <p:cNvPr id="6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5b6fead754a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0D0CAE69-C592-4C83-A978-BB987B42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215B9E75-19A9-4B3E-B9B2-1A312E23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76CCB14-3022-4199-BAE4-3E4EE2D2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E08F8292-BA77-4256-A0B5-946A6664F8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19499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1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095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35475E20-5FFA-444D-A4B8-13C5972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EBFA5CC0-C3CD-4465-BD78-93DBB81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117" y="4820703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12B453B-04DD-47A2-9718-68507CED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4820702"/>
            <a:ext cx="2151116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91993d104b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graphicFrame>
        <p:nvGraphicFramePr>
          <p:cNvPr id="25" name="Table 7"/>
          <p:cNvGraphicFramePr/>
          <p:nvPr/>
        </p:nvGraphicFramePr>
        <p:xfrm>
          <a:off xmlns:a="http://schemas.openxmlformats.org/drawingml/2006/main" x="1304924" y="1400175"/>
          <a:ext xmlns:a="http://schemas.openxmlformats.org/drawingml/2006/main" cx="5507768" cy="3263044"/>
        </p:xfrm>
        <a:graphic xmlns:a="http://schemas.openxmlformats.org/drawingml/2006/main">
          <a:graphicData uri="http://schemas.openxmlformats.org/drawingml/2006/table">
            <a:tbl>
              <a:tblPr bandRow="1">
                <a:tableStyleId>{9CC88459-E5D0-4755-9FAC-F6AFB1E2B481}</a:tableStyleId>
              </a:tblPr>
              <a:tblGrid>
                <a:gridCol w="1040030"/>
                <a:gridCol w="4467738"/>
              </a:tblGrid>
              <a:tr h="4301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Sr.No.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Content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Project overview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Current solution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Product objectives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System workflow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Existing user experience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Recommended enhancements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Future scope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Deployment readiness</a:t>
                      </a:r>
                    </a:p>
                  </a:txBody>
                  <a:tcPr marL="68580" marR="68580" marT="0" marB="0" anchor="ctr"/>
                </a:tc>
              </a:tr>
              <a:tr h="2647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90-day build plan</a:t>
                      </a:r>
                    </a:p>
                  </a:txBody>
                  <a:tcPr marL="68580" marR="68580" marT="0" marB="0" anchor="ctr"/>
                </a:tc>
              </a:tr>
              <a:tr h="4503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Times New Roman"/>
                          <a:ea typeface="Times New Roman"/>
                          <a:cs typeface="Times New Roman"/>
                        </a:rPr>
                        <a:t>Project sources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60C8852-90AB-4B36-9464-FE71EC6DD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  </a:t>
            </a:r>
          </a:p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2</a:t>
            </a:fld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341C86CF-1940-45B9-8530-136509E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314806A5-2A65-406F-9D65-78E31A5C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2B7C363-D860-40EE-A247-A445EE78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1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77aa895af47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EB84CCC5-E34B-448C-8D3E-3A1AAB71F0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01" name="TextBox 1001">
            <a:extLst xmlns:a="http://schemas.openxmlformats.org/drawingml/2006/main">
              <a:ext uri="{FF2B5EF4-FFF2-40B4-BE49-F238E27FC236}">
                <a16:creationId xmlns:a16="http://schemas.microsoft.com/office/drawing/2014/main" id="{0DE5A44F-9FD7-4104-AA61-F7990EB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1. Project Overview</a:t>
            </a:r>
          </a:p>
        </p:txBody>
      </p:sp>
      <p:sp>
        <p:nvSpPr>
          <p:cNvPr id="1002" name="TextBox 1002">
            <a:extLst xmlns:a="http://schemas.openxmlformats.org/drawingml/2006/main">
              <a:ext uri="{FF2B5EF4-FFF2-40B4-BE49-F238E27FC236}">
                <a16:creationId xmlns:a16="http://schemas.microsoft.com/office/drawing/2014/main" id="{20BD7550-5680-44EF-9968-3E01DAC1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65905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Background</a:t>
            </a:r>
          </a:p>
        </p:txBody>
      </p:sp>
      <p:sp>
        <p:nvSpPr>
          <p:cNvPr id="1003" name="Bullets 1003">
            <a:extLst xmlns:a="http://schemas.openxmlformats.org/drawingml/2006/main">
              <a:ext uri="{FF2B5EF4-FFF2-40B4-BE49-F238E27FC236}">
                <a16:creationId xmlns:a16="http://schemas.microsoft.com/office/drawing/2014/main" id="{06A97E9D-C948-44C8-A75B-F7C19CF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080000"/>
            <a:ext cx="810000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Large Kumbh gatherings create fast-moving signals from cameras, field teams, social posts and shelter operations. Command staff need one reliable view of what is happening and where attention is needed.</a:t>
            </a:r>
          </a:p>
        </p:txBody>
      </p:sp>
      <p:sp>
        <p:nvSpPr>
          <p:cNvPr id="1004" name="TextBox 1004">
            <a:extLst xmlns:a="http://schemas.openxmlformats.org/drawingml/2006/main">
              <a:ext uri="{FF2B5EF4-FFF2-40B4-BE49-F238E27FC236}">
                <a16:creationId xmlns:a16="http://schemas.microsoft.com/office/drawing/2014/main" id="{8491A3FD-A021-4903-9C22-85141506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025113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1005" name="TextBox 1005">
            <a:extLst xmlns:a="http://schemas.openxmlformats.org/drawingml/2006/main">
              <a:ext uri="{FF2B5EF4-FFF2-40B4-BE49-F238E27FC236}">
                <a16:creationId xmlns:a16="http://schemas.microsoft.com/office/drawing/2014/main" id="{643A0124-D7B7-479D-A98C-0A06378C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335000"/>
            <a:ext cx="8100000" cy="5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Fragmented information makes it difficult to verify reports, prioritise incidents and coordinate a safe response when crowd pressure increases.</a:t>
            </a:r>
          </a:p>
        </p:txBody>
      </p:sp>
      <p:sp>
        <p:nvSpPr>
          <p:cNvPr id="1006" name="TextBox 1006">
            <a:extLst xmlns:a="http://schemas.openxmlformats.org/drawingml/2006/main">
              <a:ext uri="{FF2B5EF4-FFF2-40B4-BE49-F238E27FC236}">
                <a16:creationId xmlns:a16="http://schemas.microsoft.com/office/drawing/2014/main" id="{ADFBD1AF-C0F7-423D-AF88-8E76378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82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Project Purpose</a:t>
            </a:r>
          </a:p>
        </p:txBody>
      </p:sp>
      <p:sp>
        <p:nvSpPr>
          <p:cNvPr id="1007" name="Bullets 1007">
            <a:extLst xmlns:a="http://schemas.openxmlformats.org/drawingml/2006/main">
              <a:ext uri="{FF2B5EF4-FFF2-40B4-BE49-F238E27FC236}">
                <a16:creationId xmlns:a16="http://schemas.microsoft.com/office/drawing/2014/main" id="{B3248201-BA6B-466D-BCB4-805F6535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99" y="4121100"/>
            <a:ext cx="810000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KumbhRakshak combines incident detection, social verification, risk scoring and crowd forecasting. It supports commanders with explainable recommendations while authorised people retain each decision.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59CDD4B1-1E50-4BB2-BDA1-5A80C15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3CB5683F-1076-47A0-9DBA-11EFB0E7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3C5C436-61F0-4C31-AE66-61D834A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74b6d711d43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22A02EB6-83FF-41E2-AAC7-2EB8AA9853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4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08" name="TextBox 1008">
            <a:extLst xmlns:a="http://schemas.openxmlformats.org/drawingml/2006/main">
              <a:ext uri="{FF2B5EF4-FFF2-40B4-BE49-F238E27FC236}">
                <a16:creationId xmlns:a16="http://schemas.microsoft.com/office/drawing/2014/main" id="{64EE32F7-6BD7-489C-A3FD-A0AF6AB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99" y="12592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2. Current Solution</a:t>
            </a:r>
          </a:p>
        </p:txBody>
      </p:sp>
      <p:sp>
        <p:nvSpPr>
          <p:cNvPr id="1009" name="TextBox 1009">
            <a:extLst xmlns:a="http://schemas.openxmlformats.org/drawingml/2006/main">
              <a:ext uri="{FF2B5EF4-FFF2-40B4-BE49-F238E27FC236}">
                <a16:creationId xmlns:a16="http://schemas.microsoft.com/office/drawing/2014/main" id="{8B8732F2-5A49-4E32-889E-ADA7FB2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37301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endParaRPr sz="1300" b="1" i="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0" name="Bullets 1010">
            <a:extLst xmlns:a="http://schemas.openxmlformats.org/drawingml/2006/main">
              <a:ext uri="{FF2B5EF4-FFF2-40B4-BE49-F238E27FC236}">
                <a16:creationId xmlns:a16="http://schemas.microsoft.com/office/drawing/2014/main" id="{6BA0EEC7-4C11-426F-A123-2AFE1CE6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080000"/>
            <a:ext cx="8100000" cy="9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20"/>
              </a:spcAft>
              <a:buFont typeface="Arial"/>
              <a:buChar char="•"/>
            </a:pPr>
            <a:endParaRPr sz="1000">
              <a:solidFill>
                <a:srgbClr val="21212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1" name="TextBox 1011">
            <a:extLst xmlns:a="http://schemas.openxmlformats.org/drawingml/2006/main">
              <a:ext uri="{FF2B5EF4-FFF2-40B4-BE49-F238E27FC236}">
                <a16:creationId xmlns:a16="http://schemas.microsoft.com/office/drawing/2014/main" id="{E32F0684-9F9D-4BF9-99BA-DD20D39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040852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endParaRPr sz="1300" b="1" i="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2" name="Bullets 1012">
            <a:extLst xmlns:a="http://schemas.openxmlformats.org/drawingml/2006/main">
              <a:ext uri="{FF2B5EF4-FFF2-40B4-BE49-F238E27FC236}">
                <a16:creationId xmlns:a16="http://schemas.microsoft.com/office/drawing/2014/main" id="{FA682125-2EDC-482E-AB13-CCC08C4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337148"/>
            <a:ext cx="81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20"/>
              </a:spcAft>
              <a:buFont typeface="Arial"/>
              <a:buChar char="•"/>
            </a:pPr>
            <a:endParaRPr sz="1000">
              <a:solidFill>
                <a:srgbClr val="21212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3" name="TextBox 1013">
            <a:extLst xmlns:a="http://schemas.openxmlformats.org/drawingml/2006/main">
              <a:ext uri="{FF2B5EF4-FFF2-40B4-BE49-F238E27FC236}">
                <a16:creationId xmlns:a16="http://schemas.microsoft.com/office/drawing/2014/main" id="{F376E9DD-3374-4254-BE1D-AC1B54C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4064502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endParaRPr sz="1300" b="1" i="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4" name="TextBox 1014">
            <a:extLst xmlns:a="http://schemas.openxmlformats.org/drawingml/2006/main">
              <a:ext uri="{FF2B5EF4-FFF2-40B4-BE49-F238E27FC236}">
                <a16:creationId xmlns:a16="http://schemas.microsoft.com/office/drawing/2014/main" id="{B1CA9CB2-D276-40E0-816B-D4EE61AD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4326100"/>
            <a:ext cx="8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endParaRPr sz="1200" b="0" i="0">
              <a:solidFill>
                <a:srgbClr val="212121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031" name="Table 3"/>
          <p:cNvGraphicFramePr/>
          <p:nvPr/>
        </p:nvGraphicFramePr>
        <p:xfrm>
          <a:off xmlns:a="http://schemas.openxmlformats.org/drawingml/2006/main" x="249994" y="1651899"/>
          <a:ext xmlns:a="http://schemas.openxmlformats.org/drawingml/2006/main" cx="8226556" cy="295021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6639"/>
                <a:gridCol w="2056639"/>
                <a:gridCol w="2056639"/>
                <a:gridCol w="2056639"/>
              </a:tblGrid>
              <a:tr h="1892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7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0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02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800"/>
                    </a:p>
                  </a:txBody>
                  <a:tcPr marL="53942" marR="53942" marT="26971" marB="26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32" name="Table 4"/>
          <p:cNvGraphicFramePr/>
          <p:nvPr/>
        </p:nvGraphicFramePr>
        <p:xfrm>
          <a:off xmlns:a="http://schemas.openxmlformats.org/drawingml/2006/main" x="110749" y="1570292"/>
          <a:ext xmlns:a="http://schemas.openxmlformats.org/drawingml/2006/main" cx="8511250" cy="326580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{9CC88459-E5D0-4755-9FAC-F6AFB1E2B481}</a:tableStyleId>
              </a:tblPr>
              <a:tblGrid>
                <a:gridCol w="2127813"/>
                <a:gridCol w="2121923"/>
                <a:gridCol w="2133701"/>
                <a:gridCol w="2127813"/>
              </a:tblGrid>
              <a:tr h="234225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Capability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Evidence in the project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Current state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Natural next step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</a:tr>
              <a:tr h="819787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Command dashboard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KPIs, map markers, incidents, alerts and social panel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Implemented MVP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Add action ownership</a:t>
                      </a:r>
                    </a:p>
                  </a:txBody>
                  <a:tcPr marL="91440" marR="91440" marT="45720" marB="45720" anchor="ctr"/>
                </a:tc>
              </a:tr>
              <a:tr h="673396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Incident intelligence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Camera events, explainable risk score and correlation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Implemented MVP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Connect approved live feeds</a:t>
                      </a:r>
                    </a:p>
                  </a:txBody>
                  <a:tcPr marL="91440" marR="91440" marT="45720" marB="45720" anchor="ctr"/>
                </a:tc>
              </a:tr>
              <a:tr h="673396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Social verification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Claim extraction and ground-evidence checks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Demo uses mock adapter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Add trusted sources</a:t>
                      </a:r>
                    </a:p>
                  </a:txBody>
                  <a:tcPr marL="91440" marR="91440" marT="45720" marB="45720" anchor="ctr"/>
                </a:tc>
              </a:tr>
              <a:tr h="673396"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sz="1050" b="1">
                          <a:latin typeface="Times New Roman"/>
                          <a:ea typeface="Times New Roman"/>
                          <a:cs typeface="Times New Roman"/>
                        </a:rPr>
                        <a:t>Operational simulation</a:t>
                      </a:r>
                      <a:endParaRPr sz="105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Major Snan timeline and scenario injections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Implemented MVP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sz="1050">
                          <a:latin typeface="Times New Roman"/>
                          <a:ea typeface="Times New Roman"/>
                          <a:cs typeface="Times New Roman"/>
                        </a:rPr>
                        <a:t>Run supervised drills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2303D983-523F-4BFC-8AAF-56B20751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43C5D9A7-6CCE-4C12-8A0F-051EBDF1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155B4A-A404-491E-9602-02CD8AC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38d5871ca4c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4E37978-478B-42F9-A7B0-6EDD8DDBA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15" name="TextBox 1015">
            <a:extLst xmlns:a="http://schemas.openxmlformats.org/drawingml/2006/main">
              <a:ext uri="{FF2B5EF4-FFF2-40B4-BE49-F238E27FC236}">
                <a16:creationId xmlns:a16="http://schemas.microsoft.com/office/drawing/2014/main" id="{B1294DAE-6CA7-4F4C-98D6-D775D4FD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3. Product Objectives</a:t>
            </a:r>
          </a:p>
        </p:txBody>
      </p:sp>
      <p:sp>
        <p:nvSpPr>
          <p:cNvPr id="1016" name="TextBox 1016">
            <a:extLst xmlns:a="http://schemas.openxmlformats.org/drawingml/2006/main">
              <a:ext uri="{FF2B5EF4-FFF2-40B4-BE49-F238E27FC236}">
                <a16:creationId xmlns:a16="http://schemas.microsoft.com/office/drawing/2014/main" id="{B113E878-B5C9-462E-9A5E-F8A591A0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Primary Objective</a:t>
            </a:r>
          </a:p>
        </p:txBody>
      </p:sp>
      <p:sp>
        <p:nvSpPr>
          <p:cNvPr id="1017" name="TextBox 1017">
            <a:extLst xmlns:a="http://schemas.openxmlformats.org/drawingml/2006/main">
              <a:ext uri="{FF2B5EF4-FFF2-40B4-BE49-F238E27FC236}">
                <a16:creationId xmlns:a16="http://schemas.microsoft.com/office/drawing/2014/main" id="{445F9DCD-42C9-4CE2-A3FE-80632DD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080000"/>
            <a:ext cx="8100000" cy="5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Help command staff turn fragmented signals into a verified, prioritised incident picture with a human-approved response.</a:t>
            </a:r>
          </a:p>
        </p:txBody>
      </p:sp>
      <p:sp>
        <p:nvSpPr>
          <p:cNvPr id="1018" name="TextBox 1018">
            <a:extLst xmlns:a="http://schemas.openxmlformats.org/drawingml/2006/main">
              <a:ext uri="{FF2B5EF4-FFF2-40B4-BE49-F238E27FC236}">
                <a16:creationId xmlns:a16="http://schemas.microsoft.com/office/drawing/2014/main" id="{AE2C4310-1012-42E8-85C3-8273B4EB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72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Specific Objectives</a:t>
            </a:r>
          </a:p>
        </p:txBody>
      </p:sp>
      <p:sp>
        <p:nvSpPr>
          <p:cNvPr id="1019" name="Bullets 1019">
            <a:extLst xmlns:a="http://schemas.openxmlformats.org/drawingml/2006/main">
              <a:ext uri="{FF2B5EF4-FFF2-40B4-BE49-F238E27FC236}">
                <a16:creationId xmlns:a16="http://schemas.microsoft.com/office/drawing/2014/main" id="{22A1FF01-CBC3-4192-8595-0BC5B658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020000"/>
            <a:ext cx="81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Detect high-risk camera events and show their location.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Verify urgent social claims against available ground evidence.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Forecast crowd and shelter pressure before capacity becomes critical.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Recommend nearby response units without automating dispatch.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Keep essential safety guidance available when connectivity is weak.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DFFA2354-1BA3-43F7-9B74-8B43ED9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19141F25-B068-40CF-9F26-92DA8E16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F5286AC-BEFE-4833-A2C8-F7A73B0B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4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96979e24649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2CA7D7E-BE27-4233-A696-89118595F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20" name="TextBox 1020">
            <a:extLst xmlns:a="http://schemas.openxmlformats.org/drawingml/2006/main">
              <a:ext uri="{FF2B5EF4-FFF2-40B4-BE49-F238E27FC236}">
                <a16:creationId xmlns:a16="http://schemas.microsoft.com/office/drawing/2014/main" id="{7ECAA44A-A8A6-4886-AF8B-E42D260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4. System Workflow</a:t>
            </a:r>
          </a:p>
        </p:txBody>
      </p:sp>
      <p:sp>
        <p:nvSpPr>
          <p:cNvPr id="1021" name="TextBox 1021">
            <a:extLst xmlns:a="http://schemas.openxmlformats.org/drawingml/2006/main">
              <a:ext uri="{FF2B5EF4-FFF2-40B4-BE49-F238E27FC236}">
                <a16:creationId xmlns:a16="http://schemas.microsoft.com/office/drawing/2014/main" id="{706DE1A5-5FCE-4741-A4EF-B13CC8AA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Proposed System Workflow</a:t>
            </a:r>
          </a:p>
        </p:txBody>
      </p:sp>
      <p:sp>
        <p:nvSpPr>
          <p:cNvPr id="1022" name="FlowBox 1022">
            <a:extLst xmlns:a="http://schemas.openxmlformats.org/drawingml/2006/main">
              <a:ext uri="{FF2B5EF4-FFF2-40B4-BE49-F238E27FC236}">
                <a16:creationId xmlns:a16="http://schemas.microsoft.com/office/drawing/2014/main" id="{AC7569B6-1C42-4DE8-8A92-A22FA95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Cameras &amp;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Field Signals</a:t>
            </a:r>
          </a:p>
        </p:txBody>
      </p:sp>
      <p:sp>
        <p:nvSpPr>
          <p:cNvPr id="1023" name="Arrow 1023">
            <a:extLst xmlns:a="http://schemas.openxmlformats.org/drawingml/2006/main">
              <a:ext uri="{FF2B5EF4-FFF2-40B4-BE49-F238E27FC236}">
                <a16:creationId xmlns:a16="http://schemas.microsoft.com/office/drawing/2014/main" id="{A7F29653-A595-4827-B3FF-0F5AA33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000" y="2355000"/>
            <a:ext cx="90000" cy="11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4" name="FlowBox 1024">
            <a:extLst xmlns:a="http://schemas.openxmlformats.org/drawingml/2006/main">
              <a:ext uri="{FF2B5EF4-FFF2-40B4-BE49-F238E27FC236}">
                <a16:creationId xmlns:a16="http://schemas.microsoft.com/office/drawing/2014/main" id="{4C7364C9-6FA3-4654-9323-6C20676B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Social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Reports</a:t>
            </a:r>
          </a:p>
        </p:txBody>
      </p:sp>
      <p:sp>
        <p:nvSpPr>
          <p:cNvPr id="1025" name="Arrow 1025">
            <a:extLst xmlns:a="http://schemas.openxmlformats.org/drawingml/2006/main">
              <a:ext uri="{FF2B5EF4-FFF2-40B4-BE49-F238E27FC236}">
                <a16:creationId xmlns:a16="http://schemas.microsoft.com/office/drawing/2014/main" id="{9C76C5DB-F16A-4320-AEEF-EAA19DFE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000" y="2355000"/>
            <a:ext cx="90000" cy="11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6" name="FlowBox 1026">
            <a:extLst xmlns:a="http://schemas.openxmlformats.org/drawingml/2006/main">
              <a:ext uri="{FF2B5EF4-FFF2-40B4-BE49-F238E27FC236}">
                <a16:creationId xmlns:a16="http://schemas.microsoft.com/office/drawing/2014/main" id="{BBFB3472-3FE8-4449-81C5-548F1FA6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Event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1027" name="Arrow 1027">
            <a:extLst xmlns:a="http://schemas.openxmlformats.org/drawingml/2006/main">
              <a:ext uri="{FF2B5EF4-FFF2-40B4-BE49-F238E27FC236}">
                <a16:creationId xmlns:a16="http://schemas.microsoft.com/office/drawing/2014/main" id="{F9B48122-787B-4CA0-BFC3-18053E6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000" y="2355000"/>
            <a:ext cx="90000" cy="11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8" name="FlowBox 1028">
            <a:extLst xmlns:a="http://schemas.openxmlformats.org/drawingml/2006/main">
              <a:ext uri="{FF2B5EF4-FFF2-40B4-BE49-F238E27FC236}">
                <a16:creationId xmlns:a16="http://schemas.microsoft.com/office/drawing/2014/main" id="{DEC54DFF-007D-4A44-950C-D10243C1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Scoring</a:t>
            </a:r>
          </a:p>
        </p:txBody>
      </p:sp>
      <p:sp>
        <p:nvSpPr>
          <p:cNvPr id="1029" name="Arrow 1029">
            <a:extLst xmlns:a="http://schemas.openxmlformats.org/drawingml/2006/main">
              <a:ext uri="{FF2B5EF4-FFF2-40B4-BE49-F238E27FC236}">
                <a16:creationId xmlns:a16="http://schemas.microsoft.com/office/drawing/2014/main" id="{7A3DFE11-13D4-4A91-9FBC-E78DAAE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000" y="2355000"/>
            <a:ext cx="90000" cy="11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0" name="FlowBox 1030">
            <a:extLst xmlns:a="http://schemas.openxmlformats.org/drawingml/2006/main">
              <a:ext uri="{FF2B5EF4-FFF2-40B4-BE49-F238E27FC236}">
                <a16:creationId xmlns:a16="http://schemas.microsoft.com/office/drawing/2014/main" id="{33FD5992-8F41-4A49-A0D7-53C924E3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Confirmation</a:t>
            </a:r>
          </a:p>
        </p:txBody>
      </p:sp>
      <p:sp>
        <p:nvSpPr>
          <p:cNvPr id="1031" name="Arrow 1031">
            <a:extLst xmlns:a="http://schemas.openxmlformats.org/drawingml/2006/main">
              <a:ext uri="{FF2B5EF4-FFF2-40B4-BE49-F238E27FC236}">
                <a16:creationId xmlns:a16="http://schemas.microsoft.com/office/drawing/2014/main" id="{043FBDAD-5542-492F-8690-92BBB59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000" y="2355000"/>
            <a:ext cx="90000" cy="11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2" name="FlowBox 1032">
            <a:extLst xmlns:a="http://schemas.openxmlformats.org/drawingml/2006/main">
              <a:ext uri="{FF2B5EF4-FFF2-40B4-BE49-F238E27FC236}">
                <a16:creationId xmlns:a16="http://schemas.microsoft.com/office/drawing/2014/main" id="{79087CB4-F163-43DC-A4AE-B11EAE0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000" y="2100000"/>
            <a:ext cx="1180000" cy="620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45720" tIns="27432" rIns="45720" bIns="274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Alerts &amp;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Dashboard</a:t>
            </a:r>
          </a:p>
        </p:txBody>
      </p:sp>
      <p:sp>
        <p:nvSpPr>
          <p:cNvPr id="1033" name="TextBox 1033">
            <a:extLst xmlns:a="http://schemas.openxmlformats.org/drawingml/2006/main">
              <a:ext uri="{FF2B5EF4-FFF2-40B4-BE49-F238E27FC236}">
                <a16:creationId xmlns:a16="http://schemas.microsoft.com/office/drawing/2014/main" id="{F6453738-5968-4913-92F4-A5367AF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9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Tools &amp; Technologies</a:t>
            </a:r>
          </a:p>
        </p:txBody>
      </p:sp>
      <p:sp>
        <p:nvSpPr>
          <p:cNvPr id="1034" name="Bullets 1034">
            <a:extLst xmlns:a="http://schemas.openxmlformats.org/drawingml/2006/main">
              <a:ext uri="{FF2B5EF4-FFF2-40B4-BE49-F238E27FC236}">
                <a16:creationId xmlns:a16="http://schemas.microsoft.com/office/drawing/2014/main" id="{61C132AD-0570-4D6A-80A7-EC17AB04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280000"/>
            <a:ext cx="395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Backend: FastAPI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Data: Firestore or in-memory demo mode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Real-time: WebSocket updates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AI: detection, verification and forecasting</a:t>
            </a:r>
          </a:p>
        </p:txBody>
      </p:sp>
      <p:sp>
        <p:nvSpPr>
          <p:cNvPr id="1035" name="Bullets 1035">
            <a:extLst xmlns:a="http://schemas.openxmlformats.org/drawingml/2006/main">
              <a:ext uri="{FF2B5EF4-FFF2-40B4-BE49-F238E27FC236}">
                <a16:creationId xmlns:a16="http://schemas.microsoft.com/office/drawing/2014/main" id="{E8752FB5-8833-4EFC-99B2-1F9B00D8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0" y="3280000"/>
            <a:ext cx="395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Frontend: Next.js and Tailwind CSS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Mapping: Mapbox GL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Workers: Celery and Redis are optional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Packaging: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6B8B3AA3-BCF2-4AB2-BF61-6005327A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F51DBBA4-0035-449A-8E70-3191816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9E633DE-1173-488F-B915-9FF6B3A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1953a74f941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607C82-7540-49E9-A9BF-C5409F3887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7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36" name="TextBox 1036">
            <a:extLst xmlns:a="http://schemas.openxmlformats.org/drawingml/2006/main">
              <a:ext uri="{FF2B5EF4-FFF2-40B4-BE49-F238E27FC236}">
                <a16:creationId xmlns:a16="http://schemas.microsoft.com/office/drawing/2014/main" id="{ACA94CD4-5D45-4E74-A3A5-C55FF970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5. Existing User Experience</a:t>
            </a:r>
          </a:p>
        </p:txBody>
      </p:sp>
      <p:sp>
        <p:nvSpPr>
          <p:cNvPr id="1037" name="TextBox 1037">
            <a:extLst xmlns:a="http://schemas.openxmlformats.org/drawingml/2006/main">
              <a:ext uri="{FF2B5EF4-FFF2-40B4-BE49-F238E27FC236}">
                <a16:creationId xmlns:a16="http://schemas.microsoft.com/office/drawing/2014/main" id="{85EA187A-7A46-4067-8F3A-943CC4A0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Commander Workflow</a:t>
            </a:r>
          </a:p>
        </p:txBody>
      </p:sp>
      <p:sp>
        <p:nvSpPr>
          <p:cNvPr id="1038" name="Bullets 1038">
            <a:extLst xmlns:a="http://schemas.openxmlformats.org/drawingml/2006/main">
              <a:ext uri="{FF2B5EF4-FFF2-40B4-BE49-F238E27FC236}">
                <a16:creationId xmlns:a16="http://schemas.microsoft.com/office/drawing/2014/main" id="{1CD23DA6-A4C8-4907-ABD4-A4DEADB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144869"/>
            <a:ext cx="8100000" cy="1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dashboard combines KPIs, map markers, priority incidents, alerts and social reports.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Simulation controls reproduce crowd, fire, accident, misinformation, recycled-video and shelter-overflow scenarios.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Verify This Reel returns a claim status and the available supporting evidence.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Dispatch recommendations identify nearby units, while an authenticated user confirms the dispatch.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Offline Safety Mode provides contacts, shelter information and safety guidance.</a:t>
            </a:r>
          </a:p>
        </p:txBody>
      </p:sp>
      <p:sp>
        <p:nvSpPr>
          <p:cNvPr id="1039" name="TextBox 1039">
            <a:extLst xmlns:a="http://schemas.openxmlformats.org/drawingml/2006/main">
              <a:ext uri="{FF2B5EF4-FFF2-40B4-BE49-F238E27FC236}">
                <a16:creationId xmlns:a16="http://schemas.microsoft.com/office/drawing/2014/main" id="{950243A0-63FF-4EBC-9E39-C67A7491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46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Current Boundaries</a:t>
            </a:r>
          </a:p>
        </p:txBody>
      </p:sp>
      <p:sp>
        <p:nvSpPr>
          <p:cNvPr id="1040" name="Bullets 1040">
            <a:extLst xmlns:a="http://schemas.openxmlformats.org/drawingml/2006/main">
              <a:ext uri="{FF2B5EF4-FFF2-40B4-BE49-F238E27FC236}">
                <a16:creationId xmlns:a16="http://schemas.microsoft.com/office/drawing/2014/main" id="{2483E5FD-8218-4775-B696-F1D012BC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790000"/>
            <a:ext cx="81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repository positions the product as decision support, not autonomous emergency response.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demo uses simulated cameras and a mocked social adapter.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5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The map needs a Mapbox token for interactive rendering.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A8FFDB91-AD8F-46D3-ACB0-744E3E82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7BA080AD-5BA6-41CA-AEF6-4B6598B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6B33BBE-5D1C-4C1C-9B3F-80A1B4CE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5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42596d2cb46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B52C16C-B814-461F-8019-ECA502827D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41" name="TextBox 1041">
            <a:extLst xmlns:a="http://schemas.openxmlformats.org/drawingml/2006/main">
              <a:ext uri="{FF2B5EF4-FFF2-40B4-BE49-F238E27FC236}">
                <a16:creationId xmlns:a16="http://schemas.microsoft.com/office/drawing/2014/main" id="{459B3FF3-CA1A-45E4-A43D-9F24E13C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6. Recommended Enhancements</a:t>
            </a:r>
          </a:p>
        </p:txBody>
      </p:sp>
      <p:sp>
        <p:nvSpPr>
          <p:cNvPr id="1042" name="TextBox 1042">
            <a:extLst xmlns:a="http://schemas.openxmlformats.org/drawingml/2006/main">
              <a:ext uri="{FF2B5EF4-FFF2-40B4-BE49-F238E27FC236}">
                <a16:creationId xmlns:a16="http://schemas.microsoft.com/office/drawing/2014/main" id="{FEEB33CC-7A50-44E4-8A46-A2E40D9B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High-Impact Additions</a:t>
            </a:r>
          </a:p>
        </p:txBody>
      </p:sp>
      <p:sp>
        <p:nvSpPr>
          <p:cNvPr id="1043" name="Bullets 1043">
            <a:extLst xmlns:a="http://schemas.openxmlformats.org/drawingml/2006/main">
              <a:ext uri="{FF2B5EF4-FFF2-40B4-BE49-F238E27FC236}">
                <a16:creationId xmlns:a16="http://schemas.microsoft.com/office/drawing/2014/main" id="{B1E3ECA3-2EEA-4303-9B25-B603CD7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080000"/>
            <a:ext cx="8100000" cy="16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27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Responder mobile view: assignment acceptance, unit status and completion updates from the field.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7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Evacuation route planner: recommend lower-density corridors and flag blocked paths.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7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Multilingual pilgrim assistant: official notices in Hindi, Marathi and English.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7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Trusted-source registry: prioritise verified agencies and identify repeat misinformation.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270"/>
              </a:spcAft>
              <a:buFont typeface="Arial"/>
              <a:buChar char="•"/>
            </a:pPr>
            <a:r>
              <a:rPr sz="12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Operations analytics: show response time, claim-verification time and risk trends by zone.</a:t>
            </a:r>
          </a:p>
        </p:txBody>
      </p:sp>
      <p:sp>
        <p:nvSpPr>
          <p:cNvPr id="1044" name="TextBox 1044">
            <a:extLst xmlns:a="http://schemas.openxmlformats.org/drawingml/2006/main">
              <a:ext uri="{FF2B5EF4-FFF2-40B4-BE49-F238E27FC236}">
                <a16:creationId xmlns:a16="http://schemas.microsoft.com/office/drawing/2014/main" id="{E10EFE53-4DA6-427F-83F1-8F1FDA8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17005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Delivery Principle</a:t>
            </a:r>
          </a:p>
        </p:txBody>
      </p:sp>
      <p:sp>
        <p:nvSpPr>
          <p:cNvPr id="1045" name="TextBox 1045">
            <a:extLst xmlns:a="http://schemas.openxmlformats.org/drawingml/2006/main">
              <a:ext uri="{FF2B5EF4-FFF2-40B4-BE49-F238E27FC236}">
                <a16:creationId xmlns:a16="http://schemas.microsoft.com/office/drawing/2014/main" id="{D5E7EEF7-76E1-42BC-BB6C-8BDAAB4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3522086"/>
            <a:ext cx="81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Start with authorised data connectors and role-based access. Keep sensitive evidence, locations and alerts auditable before introducing automated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1907303F-153D-45BE-A53B-55AE712F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440A5C87-9200-48A0-844E-098C740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B2E9587-0465-4ABF-8DA2-053F605A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5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c7de2cf8b4e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769074C1-A321-49AC-88C0-F947A4C757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9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46" name="TextBox 1046">
            <a:extLst xmlns:a="http://schemas.openxmlformats.org/drawingml/2006/main">
              <a:ext uri="{FF2B5EF4-FFF2-40B4-BE49-F238E27FC236}">
                <a16:creationId xmlns:a16="http://schemas.microsoft.com/office/drawing/2014/main" id="{01FB299C-F980-4A4E-97A8-39F787BE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7. Future Scope</a:t>
            </a:r>
          </a:p>
        </p:txBody>
      </p:sp>
      <p:sp>
        <p:nvSpPr>
          <p:cNvPr id="1047" name="TextBox 1047">
            <a:extLst xmlns:a="http://schemas.openxmlformats.org/drawingml/2006/main">
              <a:ext uri="{FF2B5EF4-FFF2-40B4-BE49-F238E27FC236}">
                <a16:creationId xmlns:a16="http://schemas.microsoft.com/office/drawing/2014/main" id="{6634920E-65C0-4527-B76A-F8B24E0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88661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Prioritised Release Sequence</a:t>
            </a:r>
          </a:p>
        </p:txBody>
      </p:sp>
      <p:sp>
        <p:nvSpPr>
          <p:cNvPr id="1048" name="Bullets 1048">
            <a:extLst xmlns:a="http://schemas.openxmlformats.org/drawingml/2006/main">
              <a:ext uri="{FF2B5EF4-FFF2-40B4-BE49-F238E27FC236}">
                <a16:creationId xmlns:a16="http://schemas.microsoft.com/office/drawing/2014/main" id="{B9AFBAAF-F96D-4E44-B07A-261E90A4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349899"/>
            <a:ext cx="81000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Data integrity and safety: authorised camera connectors, audit trails and tighter role permissions.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Field coordination: responder tasking, acknowledgement and escalation tracking.</a:t>
            </a:r>
          </a:p>
          <a:p xmlns:a="http://schemas.openxmlformats.org/drawingml/2006/main">
            <a:pPr marL="228600" indent="-228600">
              <a:spcAft>
                <a:spcPts val="380"/>
              </a:spcAft>
              <a:buFont typeface="Arial"/>
              <a:buChar char="•"/>
            </a:pPr>
            <a:r>
              <a:rPr>
                <a:latin typeface="Times New Roman"/>
                <a:ea typeface="Times New Roman"/>
                <a:cs typeface="Times New Roman"/>
              </a:rPr>
              <a:t>Predictive operations: evacuation routing, what-if crowd scenarios and capacity recommendations.</a:t>
            </a:r>
            <a:endParaRPr>
              <a:solidFill>
                <a:srgbClr val="21212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Public service: multilingual notifications, accessibility support and lost-and-found workflows.</a:t>
            </a:r>
          </a:p>
          <a:p xmlns:a="http://schemas.openxmlformats.org/drawingml/2006/main">
            <a:pPr marL="228600" indent="-228600">
              <a:spcBef>
                <a:spcPts val="0"/>
              </a:spcBef>
              <a:spcAft>
                <a:spcPts val="380"/>
              </a:spcAft>
              <a:buFont typeface="Arial"/>
              <a:buChar char="•"/>
            </a:pPr>
            <a:r>
              <a:rPr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Continuous evaluation: drills, operator feedback and model-quality monitoring.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6DEC8922-276F-4B23-B9FE-2E5774BB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26C229CC-D538-43CA-8BBD-AA127387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6275EA-0559-480C-BBBC-C2F89B5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5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e1c3dde0048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2B659245-6651-488F-A196-7686D7B7CF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10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49" name="TextBox 1049">
            <a:extLst xmlns:a="http://schemas.openxmlformats.org/drawingml/2006/main">
              <a:ext uri="{FF2B5EF4-FFF2-40B4-BE49-F238E27FC236}">
                <a16:creationId xmlns:a16="http://schemas.microsoft.com/office/drawing/2014/main" id="{246A2CF6-D58A-42F9-9811-CE8D35A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 i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8. Deployment Readiness</a:t>
            </a:r>
          </a:p>
        </p:txBody>
      </p:sp>
      <p:sp>
        <p:nvSpPr>
          <p:cNvPr id="1050" name="TextBox 1050">
            <a:extLst xmlns:a="http://schemas.openxmlformats.org/drawingml/2006/main">
              <a:ext uri="{FF2B5EF4-FFF2-40B4-BE49-F238E27FC236}">
                <a16:creationId xmlns:a16="http://schemas.microsoft.com/office/drawing/2014/main" id="{99BCADDE-78CA-4523-998B-F7609A5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78" y="1991122"/>
            <a:ext cx="81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t>Deployment requires a controlled pilot before any live use. Start with one zone, approved camera feeds, read-only recommendations and supervised drills. Measure detection quality, verification time, dispatch time and alert acknowledgement. Expand only after field operators confirm that the workflow supports their decisions.</a:t>
            </a:r>
            <a:endParaRPr sz="1300" b="0" i="0">
              <a:solidFill>
                <a:srgbClr val="21212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1E476B95-B108-4DF6-A7D8-3AAAE02D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2BD74650-451A-4E1E-B580-BED47A4D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2F70B5-501B-44E6-8429-C1D7B1D9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6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f290086e84b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AD6DB159-6CE1-4C8C-89B4-5E1090D64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11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54" name="TextBox 1054">
            <a:extLst xmlns:a="http://schemas.openxmlformats.org/drawingml/2006/main">
              <a:ext uri="{FF2B5EF4-FFF2-40B4-BE49-F238E27FC236}">
                <a16:creationId xmlns:a16="http://schemas.microsoft.com/office/drawing/2014/main" id="{5EEEE7A9-10D8-4896-B185-6B42CCBB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9. 90-Day Build Plan</a:t>
            </a:r>
          </a:p>
        </p:txBody>
      </p:sp>
      <p:sp>
        <p:nvSpPr>
          <p:cNvPr id="1055" name="TextBox 1055">
            <a:extLst xmlns:a="http://schemas.openxmlformats.org/drawingml/2006/main">
              <a:ext uri="{FF2B5EF4-FFF2-40B4-BE49-F238E27FC236}">
                <a16:creationId xmlns:a16="http://schemas.microsoft.com/office/drawing/2014/main" id="{0495B0C2-2C6F-46C8-A27C-40B13CDF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82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Milestones</a:t>
            </a:r>
          </a:p>
        </p:txBody>
      </p:sp>
      <p:graphicFrame>
        <p:nvGraphicFramePr>
          <p:cNvPr id="1066" name="Table 1056"/>
          <p:cNvGraphicFramePr/>
          <p:nvPr/>
        </p:nvGraphicFramePr>
        <p:xfrm>
          <a:off xmlns:a="http://schemas.openxmlformats.org/drawingml/2006/main" x="413238" y="2100000"/>
          <a:ext xmlns:a="http://schemas.openxmlformats.org/drawingml/2006/main" cx="8216762" cy="246999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740"/>
                <a:gridCol w="6898022"/>
              </a:tblGrid>
              <a:tr h="2744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Weeks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Planned Work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1–2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Confirm event taxonomy, roles and data-governance rules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3–4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 one authorised camera or sensor feed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5–6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Build responder tasking and dispatch acknowledgement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7–8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multilingual notices and a trusted-source registry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9–10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Prototype evacuation and capacity recommendations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 a command-centre drill with operator feedback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Complete safety review and decide on pilot expansion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4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Ongoing</a:t>
                      </a:r>
                    </a:p>
                  </a:txBody>
                  <a:tcPr marL="54864" marR="54864" marT="18288" marB="18288" anchor="ctr"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1212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Track quality, latency and user adoption metrics</a:t>
                      </a:r>
                    </a:p>
                  </a:txBody>
                  <a:tcPr marL="54864" marR="54864" marT="18288" marB="18288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 cmpd="sng">
                      <a:solidFill>
                        <a:schemeClr val="tx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AD0FBFB9-9F58-46C7-AE17-7B34A10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8" y="2100000"/>
            <a:ext cx="0" cy="2469996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0AD97E62-C0D6-40E8-9318-8E52C48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8" y="4569996"/>
            <a:ext cx="8216762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651914A6-9151-4EFB-9AE4-F650401C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30000" y="2308194"/>
            <a:ext cx="0" cy="2261802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3F5D121-973F-460B-A6F8-72918E2A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38" y="2100000"/>
            <a:ext cx="8216762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5DE72D06-7F97-4E40-AFB8-763DAFA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000" y="2100000"/>
            <a:ext cx="0" cy="367992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A1CCF4FA-32A5-41A1-9755-43FD6EA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146" y="2100000"/>
            <a:ext cx="0" cy="394625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20D57B-CB82-4E2B-9752-2D88FE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36100"/>
            <a:ext cx="1343025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05/09/2026</a:t>
            </a:r>
          </a:p>
        </p:txBody>
      </p:sp>
      <p:sp>
        <p:nvSpPr>
          <p:cNvPr id="15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4E53792B-DB63-411F-940C-BE80C27D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006" y="1217600"/>
            <a:ext cx="230488" cy="3941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314F3839-CE7C-4CC5-B06B-5ACC523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36100"/>
            <a:ext cx="6807206" cy="322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3"/>
              <a:buFont typeface="Arial"/>
              <a:buNone/>
            </a:pPr>
            <a:endParaRPr sz="2493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44BB790-682D-4EBB-BC07-0E706729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36100"/>
            <a:ext cx="2105025" cy="322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sz="1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13b6a0b9642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3999" cy="133218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9EDF6590-41B7-4B35-941F-54832F8DFD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6550" y="4749900"/>
            <a:ext cx="548700" cy="393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>
                <a:solidFill>
                  <a:schemeClr val="bg1"/>
                </a:solidFill>
              </a:rPr>
              <a:t>12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051" name="TextBox 1051">
            <a:extLst xmlns:a="http://schemas.openxmlformats.org/drawingml/2006/main">
              <a:ext uri="{FF2B5EF4-FFF2-40B4-BE49-F238E27FC236}">
                <a16:creationId xmlns:a16="http://schemas.microsoft.com/office/drawing/2014/main" id="{EDA7A465-DDD0-4014-B610-80F4BD15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420000"/>
            <a:ext cx="810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</a:rPr>
              <a:t>10. Project Sources</a:t>
            </a:r>
          </a:p>
        </p:txBody>
      </p:sp>
      <p:sp>
        <p:nvSpPr>
          <p:cNvPr id="1052" name="TextBox 1052">
            <a:extLst xmlns:a="http://schemas.openxmlformats.org/drawingml/2006/main">
              <a:ext uri="{FF2B5EF4-FFF2-40B4-BE49-F238E27FC236}">
                <a16:creationId xmlns:a16="http://schemas.microsoft.com/office/drawing/2014/main" id="{B7F63A99-796E-4F0F-BAC8-725206F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1780000"/>
            <a:ext cx="8100000" cy="2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Repository Material Reviewed</a:t>
            </a:r>
          </a:p>
        </p:txBody>
      </p:sp>
      <p:sp>
        <p:nvSpPr>
          <p:cNvPr id="1053" name="Bullets 1053">
            <a:extLst xmlns:a="http://schemas.openxmlformats.org/drawingml/2006/main">
              <a:ext uri="{FF2B5EF4-FFF2-40B4-BE49-F238E27FC236}">
                <a16:creationId xmlns:a16="http://schemas.microsoft.com/office/drawing/2014/main" id="{47FFA399-42B2-4B15-96CD-5AC1E13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00" y="2100000"/>
            <a:ext cx="8100000" cy="209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[1] README.md — project scope, quick start, current limitations and demo status.</a:t>
            </a:r>
          </a:p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[2] docs/architecture.md — system architecture, data model and API surface.</a:t>
            </a:r>
          </a:p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[3] docs/demo-script.md — Major Snan simulation narrative and presentation flow.</a:t>
            </a:r>
          </a:p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[4] backend/app/ — FastAPI routes, simulation engine, services and AI modules.</a:t>
            </a:r>
          </a:p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[5] frontend/app/ and frontend/components/ — dashboard, verification, simulation, camera and offline interfaces.</a:t>
            </a:r>
          </a:p>
          <a:p xmlns:a="http://schemas.openxmlformats.org/drawingml/2006/main">
            <a:pPr marL="228600" indent="-228600">
              <a:spcAft>
                <a:spcPts val="150"/>
              </a:spcAft>
              <a:buFont typeface="Arial"/>
              <a:buChar char="•"/>
            </a:pPr>
            <a:r>
              <a:rPr sz="1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</a:rPr>
              <a:t>[6] Review date: 5 September 2026. Proposed enhancements in this deck are recommendations, not existing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77972913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2026-09-04T22:32:24.7150000Z</dcterms:created>
  <dcterms:modified xsi:type="dcterms:W3CDTF">2026-09-04T22:32:24.7150000Z</dcterms:modified>
</coreProperties>
</file>