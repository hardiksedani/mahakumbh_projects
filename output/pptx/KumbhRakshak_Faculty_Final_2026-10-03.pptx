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72baec0eff4524" /><Relationship Type="http://schemas.openxmlformats.org/officeDocument/2006/relationships/extended-properties" Target="/docProps/app.xml" Id="R6cf0b6aed9244fa3" /><Relationship Type="http://schemas.openxmlformats.org/officeDocument/2006/relationships/officeDocument" Target="/ppt/presentation.xml" Id="Rd1f20b56d3a248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08f75e31a24a45"/>
  </p:sldMasterIdLst>
  <p:notesMasterIdLst>
    <p:notesMasterId xmlns:r="http://schemas.openxmlformats.org/officeDocument/2006/relationships" r:id="Rb9132471c0dd4084"/>
  </p:notesMasterIdLst>
  <p:sldIdLst>
    <p:sldId xmlns:r="http://schemas.openxmlformats.org/officeDocument/2006/relationships" id="256" r:id="R0747e99e390e4a59"/>
    <p:sldId xmlns:r="http://schemas.openxmlformats.org/officeDocument/2006/relationships" id="257" r:id="R14e301a055f64e78"/>
    <p:sldId xmlns:r="http://schemas.openxmlformats.org/officeDocument/2006/relationships" id="258" r:id="R9ae14414125c4e0a"/>
    <p:sldId xmlns:r="http://schemas.openxmlformats.org/officeDocument/2006/relationships" id="259" r:id="R7d06e29578b8409a"/>
    <p:sldId xmlns:r="http://schemas.openxmlformats.org/officeDocument/2006/relationships" id="260" r:id="R0c74fc26f01640d0"/>
    <p:sldId xmlns:r="http://schemas.openxmlformats.org/officeDocument/2006/relationships" id="261" r:id="R26f435c1176c4f6d"/>
    <p:sldId xmlns:r="http://schemas.openxmlformats.org/officeDocument/2006/relationships" id="262" r:id="R3945fe6576534103"/>
    <p:sldId xmlns:r="http://schemas.openxmlformats.org/officeDocument/2006/relationships" id="263" r:id="R93f091348b57482c"/>
    <p:sldId xmlns:r="http://schemas.openxmlformats.org/officeDocument/2006/relationships" id="264" r:id="Rca87a6dc04674254"/>
    <p:sldId xmlns:r="http://schemas.openxmlformats.org/officeDocument/2006/relationships" id="265" r:id="R48bccff30c83437c"/>
    <p:sldId xmlns:r="http://schemas.openxmlformats.org/officeDocument/2006/relationships" id="266" r:id="R4451795f89d44884"/>
    <p:sldId xmlns:r="http://schemas.openxmlformats.org/officeDocument/2006/relationships" id="267" r:id="R1e6cddcc2bea4ffa"/>
    <p:sldId xmlns:r="http://schemas.openxmlformats.org/officeDocument/2006/relationships" id="268" r:id="Rc52bfa7c0ae14946"/>
    <p:sldId xmlns:r="http://schemas.openxmlformats.org/officeDocument/2006/relationships" id="269" r:id="Rd80157dc5ae248e1"/>
    <p:sldId xmlns:r="http://schemas.openxmlformats.org/officeDocument/2006/relationships" id="270" r:id="R5f65949071db47a1"/>
    <p:sldId xmlns:r="http://schemas.openxmlformats.org/officeDocument/2006/relationships" id="271" r:id="R95ffdc8371cd4210"/>
    <p:sldId xmlns:r="http://schemas.openxmlformats.org/officeDocument/2006/relationships" id="272" r:id="Ra67dac7194f745da"/>
    <p:sldId xmlns:r="http://schemas.openxmlformats.org/officeDocument/2006/relationships" id="273" r:id="Rf5bbf5fa941743db"/>
    <p:sldId xmlns:r="http://schemas.openxmlformats.org/officeDocument/2006/relationships" id="274" r:id="Rf0045f1ac5bd414d"/>
    <p:sldId xmlns:r="http://schemas.openxmlformats.org/officeDocument/2006/relationships" id="275" r:id="R5a12d15113b54a6f"/>
    <p:sldId xmlns:r="http://schemas.openxmlformats.org/officeDocument/2006/relationships" id="276" r:id="R521f0fe88e064132"/>
    <p:sldId xmlns:r="http://schemas.openxmlformats.org/officeDocument/2006/relationships" id="277" r:id="Rd0f60c21ef874a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82eeb9c2714d56" /><Relationship Type="http://schemas.openxmlformats.org/officeDocument/2006/relationships/slideMaster" Target="/ppt/slideMasters/slideMaster1.xml" Id="Rd108f75e31a24a45" /><Relationship Type="http://schemas.openxmlformats.org/officeDocument/2006/relationships/notesMaster" Target="/ppt/notesMasters/notesMaster1.xml" Id="Rb9132471c0dd4084" /><Relationship Type="http://schemas.openxmlformats.org/officeDocument/2006/relationships/presProps" Target="/ppt/presProps.xml" Id="Red35266b1054405f" /><Relationship Type="http://schemas.openxmlformats.org/officeDocument/2006/relationships/viewProps" Target="/ppt/viewProps.xml" Id="Re0c7e758942742c8" /><Relationship Type="http://schemas.openxmlformats.org/officeDocument/2006/relationships/tableStyles" Target="/ppt/tableStyles.xml" Id="R514fd74c5c52486a" /><Relationship Type="http://schemas.openxmlformats.org/officeDocument/2006/relationships/slide" Target="/ppt/slides/slide1.xml" Id="R0747e99e390e4a59" /><Relationship Type="http://schemas.openxmlformats.org/officeDocument/2006/relationships/slide" Target="/ppt/slides/slide2.xml" Id="R14e301a055f64e78" /><Relationship Type="http://schemas.openxmlformats.org/officeDocument/2006/relationships/slide" Target="/ppt/slides/slide3.xml" Id="R9ae14414125c4e0a" /><Relationship Type="http://schemas.openxmlformats.org/officeDocument/2006/relationships/slide" Target="/ppt/slides/slide4.xml" Id="R7d06e29578b8409a" /><Relationship Type="http://schemas.openxmlformats.org/officeDocument/2006/relationships/slide" Target="/ppt/slides/slide5.xml" Id="R0c74fc26f01640d0" /><Relationship Type="http://schemas.openxmlformats.org/officeDocument/2006/relationships/slide" Target="/ppt/slides/slide6.xml" Id="R26f435c1176c4f6d" /><Relationship Type="http://schemas.openxmlformats.org/officeDocument/2006/relationships/slide" Target="/ppt/slides/slide7.xml" Id="R3945fe6576534103" /><Relationship Type="http://schemas.openxmlformats.org/officeDocument/2006/relationships/slide" Target="/ppt/slides/slide8.xml" Id="R93f091348b57482c" /><Relationship Type="http://schemas.openxmlformats.org/officeDocument/2006/relationships/slide" Target="/ppt/slides/slide9.xml" Id="Rca87a6dc04674254" /><Relationship Type="http://schemas.openxmlformats.org/officeDocument/2006/relationships/slide" Target="/ppt/slides/slide10.xml" Id="R48bccff30c83437c" /><Relationship Type="http://schemas.openxmlformats.org/officeDocument/2006/relationships/slide" Target="/ppt/slides/slide11.xml" Id="R4451795f89d44884" /><Relationship Type="http://schemas.openxmlformats.org/officeDocument/2006/relationships/slide" Target="/ppt/slides/slide12.xml" Id="R1e6cddcc2bea4ffa" /><Relationship Type="http://schemas.openxmlformats.org/officeDocument/2006/relationships/slide" Target="/ppt/slides/slide13.xml" Id="Rc52bfa7c0ae14946" /><Relationship Type="http://schemas.openxmlformats.org/officeDocument/2006/relationships/slide" Target="/ppt/slides/slide14.xml" Id="Rd80157dc5ae248e1" /><Relationship Type="http://schemas.openxmlformats.org/officeDocument/2006/relationships/slide" Target="/ppt/slides/slide15.xml" Id="R5f65949071db47a1" /><Relationship Type="http://schemas.openxmlformats.org/officeDocument/2006/relationships/slide" Target="/ppt/slides/slide16.xml" Id="R95ffdc8371cd4210" /><Relationship Type="http://schemas.openxmlformats.org/officeDocument/2006/relationships/slide" Target="/ppt/slides/slide17.xml" Id="Ra67dac7194f745da" /><Relationship Type="http://schemas.openxmlformats.org/officeDocument/2006/relationships/slide" Target="/ppt/slides/slide18.xml" Id="Rf5bbf5fa941743db" /><Relationship Type="http://schemas.openxmlformats.org/officeDocument/2006/relationships/slide" Target="/ppt/slides/slide19.xml" Id="Rf0045f1ac5bd414d" /><Relationship Type="http://schemas.openxmlformats.org/officeDocument/2006/relationships/slide" Target="/ppt/slides/slide20.xml" Id="R5a12d15113b54a6f" /><Relationship Type="http://schemas.openxmlformats.org/officeDocument/2006/relationships/slide" Target="/ppt/slides/slide21.xml" Id="R521f0fe88e064132" /><Relationship Type="http://schemas.openxmlformats.org/officeDocument/2006/relationships/slide" Target="/ppt/slides/slide22.xml" Id="Rd0f60c21ef874a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a9b074b24044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513df869d74e62" /><Relationship Type="http://schemas.openxmlformats.org/officeDocument/2006/relationships/notesMaster" Target="/ppt/notesMasters/notesMaster1.xml" Id="Rcedeac2d4bea48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af4172493a4038" /><Relationship Type="http://schemas.openxmlformats.org/officeDocument/2006/relationships/notesMaster" Target="/ppt/notesMasters/notesMaster1.xml" Id="R7a630dc79a834e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6c8ecb0945495c" /><Relationship Type="http://schemas.openxmlformats.org/officeDocument/2006/relationships/notesMaster" Target="/ppt/notesMasters/notesMaster1.xml" Id="R9b57cc149dfb44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0413839e84405f" /><Relationship Type="http://schemas.openxmlformats.org/officeDocument/2006/relationships/notesMaster" Target="/ppt/notesMasters/notesMaster1.xml" Id="R557f201c11dc41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553db065234f0e" /><Relationship Type="http://schemas.openxmlformats.org/officeDocument/2006/relationships/notesMaster" Target="/ppt/notesMasters/notesMaster1.xml" Id="R8ebea642dfcf4a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1dc9bf749a48b2" /><Relationship Type="http://schemas.openxmlformats.org/officeDocument/2006/relationships/notesMaster" Target="/ppt/notesMasters/notesMaster1.xml" Id="R03fa855cd5ce47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3319f8b63a4197" /><Relationship Type="http://schemas.openxmlformats.org/officeDocument/2006/relationships/notesMaster" Target="/ppt/notesMasters/notesMaster1.xml" Id="R0f124ced137f4b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4d0f7da6314145" /><Relationship Type="http://schemas.openxmlformats.org/officeDocument/2006/relationships/notesMaster" Target="/ppt/notesMasters/notesMaster1.xml" Id="Rd5d431e948e84b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818b82d368422b" /><Relationship Type="http://schemas.openxmlformats.org/officeDocument/2006/relationships/notesMaster" Target="/ppt/notesMasters/notesMaster1.xml" Id="Rbdd556bfe4294c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7bbf1989da4a03" /><Relationship Type="http://schemas.openxmlformats.org/officeDocument/2006/relationships/notesMaster" Target="/ppt/notesMasters/notesMaster1.xml" Id="R98215b8d87524d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03acf5bce942bf" /><Relationship Type="http://schemas.openxmlformats.org/officeDocument/2006/relationships/notesMaster" Target="/ppt/notesMasters/notesMaster1.xml" Id="Rc3ef01411ca04e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2455440f4443f6" /><Relationship Type="http://schemas.openxmlformats.org/officeDocument/2006/relationships/notesMaster" Target="/ppt/notesMasters/notesMaster1.xml" Id="R576c982ac38e4f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f82d4b557a4ee7" /><Relationship Type="http://schemas.openxmlformats.org/officeDocument/2006/relationships/notesMaster" Target="/ppt/notesMasters/notesMaster1.xml" Id="R14dd2b926afe4e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61b4281ad14e28" /><Relationship Type="http://schemas.openxmlformats.org/officeDocument/2006/relationships/notesMaster" Target="/ppt/notesMasters/notesMaster1.xml" Id="R1a1214a2aba442a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2a44eb0b0945d8" /><Relationship Type="http://schemas.openxmlformats.org/officeDocument/2006/relationships/notesMaster" Target="/ppt/notesMasters/notesMaster1.xml" Id="R9dcf8399a87249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541af05083243fd" /><Relationship Type="http://schemas.openxmlformats.org/officeDocument/2006/relationships/notesMaster" Target="/ppt/notesMasters/notesMaster1.xml" Id="R46e9829ab24641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e60a54180c4654" /><Relationship Type="http://schemas.openxmlformats.org/officeDocument/2006/relationships/notesMaster" Target="/ppt/notesMasters/notesMaster1.xml" Id="Rb6d8e9a8727d40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5599353a544aac" /><Relationship Type="http://schemas.openxmlformats.org/officeDocument/2006/relationships/notesMaster" Target="/ppt/notesMasters/notesMaster1.xml" Id="R4c92cf60acd24d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761dd6dedf4050" /><Relationship Type="http://schemas.openxmlformats.org/officeDocument/2006/relationships/notesMaster" Target="/ppt/notesMasters/notesMaster1.xml" Id="R3d8f5492e4c84a5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68f75a662aa478a" /><Relationship Type="http://schemas.openxmlformats.org/officeDocument/2006/relationships/notesMaster" Target="/ppt/notesMasters/notesMaster1.xml" Id="R122b49cd61a449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3c40e0cb1b4655" /><Relationship Type="http://schemas.openxmlformats.org/officeDocument/2006/relationships/notesMaster" Target="/ppt/notesMasters/notesMaster1.xml" Id="R9fa4668c253c4ae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70151a5b9a4af0" /><Relationship Type="http://schemas.openxmlformats.org/officeDocument/2006/relationships/notesMaster" Target="/ppt/notesMasters/notesMaster1.xml" Id="R22c371da526b43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Screenshots captured from the local KumbhRakshak demo on 3 October 2026. Both 3D scenes are schematic and must not be used as an official site plan or emergency route.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Screenshots captured from the local KumbhRakshak demo on 3 October 2026. Dashboard indicators and forecast values shown are simulated, not measured field 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Feature inventory checked against frontend/components/ui.tsx NAV_GROUPS and the frontend/app routes on 3 October 2026. The additional tools appear on the dashboard and simulation page.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Portal behavior checked against frontend/app/simulation, map, shelters, cameras and crowd. Camera and forecast outputs are demo or model-dependent; the 3D geometry and facility pins are illustrative.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The screenshot is the local claim-scanner UI, captured 3 October 2026. See frontend/app/social, verify, sentiment and broadcast, and backend/app/api/social_sim_routes.py. The feed is mocked and publishing buttons are preview-only.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Checked against frontend/app/incidents, resources, shelters, broadcast, frontend/components/LostPersonRadar.tsx, and backend/app/api/routes.py plus v1_routes.py. Dispatch remains human-authorized.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Actual local website screenshot captured 3 October 2026. See frontend/app/simulation/page.tsx and backend/app/simulation/engine.py. Event injections require the demo backend.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Checked against backend/app/ai, backend/app/api/v1_routes.py, frontend/app/models and executive, and README.md. Heuristic, mock and simulated components are identified on the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Reference links for slide 15: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https://nashik.gov.in/en/tourist-place/ramkund-nashik/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https://nashik.gov.in/en/tourist-place/kushavart-tirtha-trimbakeshwar/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https://link.springer.com/article/10.1007/s40009-022-01114-w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https://github.com/hardiksedani/mahakumbh_projects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7cdb7c04349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dbb9f7be440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c6692b4c14f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ba36426c540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93322942b4d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88204a31d4a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b8d5abed64f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ee49e2b21489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c38ac9f7a4411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944F541C-BFE4-4BB5-971C-F51280D477B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6C11195A-1C32-4894-9AAF-91B9683B85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5959B17F-0C1C-44F4-837E-76E8B6A7D5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2">
            <a:extLst xmlns:a="http://schemas.openxmlformats.org/drawingml/2006/main">
              <a:ext uri="{FF2B5EF4-FFF2-40B4-BE49-F238E27FC236}">
                <a16:creationId xmlns:a16="http://schemas.microsoft.com/office/drawing/2014/main" id="{F45D7A69-BBFC-4682-B20B-77321F500D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2">
            <a:extLst xmlns:a="http://schemas.openxmlformats.org/drawingml/2006/main">
              <a:ext uri="{FF2B5EF4-FFF2-40B4-BE49-F238E27FC236}">
                <a16:creationId xmlns:a16="http://schemas.microsoft.com/office/drawing/2014/main" id="{17E14669-62DB-4E20-9952-052F4BB4E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54DF789B-D65E-42D0-99F2-A4C148EFC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B736A3DD-D272-44A7-AE22-AF9618B54F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4DBFC41C-4726-475D-B67D-C3A33D25A4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665F6192-81A8-40D9-9211-ABF59E3329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5">
            <a:extLst xmlns:a="http://schemas.openxmlformats.org/drawingml/2006/main">
              <a:ext uri="{FF2B5EF4-FFF2-40B4-BE49-F238E27FC236}">
                <a16:creationId xmlns:a16="http://schemas.microsoft.com/office/drawing/2014/main" id="{0B55BD71-C003-4E14-9711-32EDF5B2AB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A3FC4297-E435-42B8-9DF5-1DF8B61E01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D53FBCA4-C43D-48EA-9E49-617E41E24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D3A1F2E4-6C58-444A-96C1-5113D4FE55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6">
            <a:extLst xmlns:a="http://schemas.openxmlformats.org/drawingml/2006/main">
              <a:ext uri="{FF2B5EF4-FFF2-40B4-BE49-F238E27FC236}">
                <a16:creationId xmlns:a16="http://schemas.microsoft.com/office/drawing/2014/main" id="{8AC150D0-3F66-408C-802A-E9543AB492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6">
            <a:extLst xmlns:a="http://schemas.openxmlformats.org/drawingml/2006/main">
              <a:ext uri="{FF2B5EF4-FFF2-40B4-BE49-F238E27FC236}">
                <a16:creationId xmlns:a16="http://schemas.microsoft.com/office/drawing/2014/main" id="{452B8CD5-1EB0-488B-9F90-A46FDBD44B1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6">
            <a:extLst xmlns:a="http://schemas.openxmlformats.org/drawingml/2006/main">
              <a:ext uri="{FF2B5EF4-FFF2-40B4-BE49-F238E27FC236}">
                <a16:creationId xmlns:a16="http://schemas.microsoft.com/office/drawing/2014/main" id="{DC81755B-4407-49C5-87FD-9EDEB506129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6">
            <a:extLst xmlns:a="http://schemas.openxmlformats.org/drawingml/2006/main">
              <a:ext uri="{FF2B5EF4-FFF2-40B4-BE49-F238E27FC236}">
                <a16:creationId xmlns:a16="http://schemas.microsoft.com/office/drawing/2014/main" id="{EB3E76B8-3029-4D73-9AEB-8A083B8DAD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6">
            <a:extLst xmlns:a="http://schemas.openxmlformats.org/drawingml/2006/main">
              <a:ext uri="{FF2B5EF4-FFF2-40B4-BE49-F238E27FC236}">
                <a16:creationId xmlns:a16="http://schemas.microsoft.com/office/drawing/2014/main" id="{49C8A92D-70EB-4BE4-9210-6C9B5CC69C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6255B854-69EA-4835-87FD-B62D0F1F1A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3723ADD7-D2A6-4EEF-B55C-89A2D6382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1F639387-30C2-4352-AC2A-B82ED5FCC6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7">
            <a:extLst xmlns:a="http://schemas.openxmlformats.org/drawingml/2006/main">
              <a:ext uri="{FF2B5EF4-FFF2-40B4-BE49-F238E27FC236}">
                <a16:creationId xmlns:a16="http://schemas.microsoft.com/office/drawing/2014/main" id="{22C98663-6FBE-4662-82EE-6DB340944E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7">
            <a:extLst xmlns:a="http://schemas.openxmlformats.org/drawingml/2006/main">
              <a:ext uri="{FF2B5EF4-FFF2-40B4-BE49-F238E27FC236}">
                <a16:creationId xmlns:a16="http://schemas.microsoft.com/office/drawing/2014/main" id="{912F5826-0833-4C67-BBA9-F82304848E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4CEA5E92-A86A-4F57-81B4-DA8B148B14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D54BA214-4535-404C-B7C6-682E465369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8">
            <a:extLst xmlns:a="http://schemas.openxmlformats.org/drawingml/2006/main">
              <a:ext uri="{FF2B5EF4-FFF2-40B4-BE49-F238E27FC236}">
                <a16:creationId xmlns:a16="http://schemas.microsoft.com/office/drawing/2014/main" id="{0D2B0CE7-B247-4FB8-A4CC-56A0E5549F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7E5E02B3-EABC-4B33-B705-AC788E978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6B49C2A5-DD7D-49E2-A70B-C32A740C04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E6801EB2-29A7-4AFE-BEB6-9A3311383F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0B1168F4-9BD3-4440-A4A6-3C5F4A5781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A3A802FC-F885-4D3D-8AAC-6215820645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CD30B97C-DDF0-4A46-A5B2-1418DDF711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7E155D92-80DB-4A48-81ED-CB1DA361EF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BB55F2FE-8227-4943-92CB-72AE2419540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94788971-E310-4CCE-81EF-11B6B10972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97DE4E4F-D7C9-489B-978A-4F3492D580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F9A0683-140F-43D5-91A4-45AF07F68E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D4A8462A-CD44-4EC2-BDAE-6E3EB520E3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892ED199-B42F-404B-8D62-7B5BB391C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C8F6A32B-8690-43BB-815E-C6A5B4F11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3FCC729C-C7A0-4C6F-9CF0-FDF800865A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CA37DCF8-C401-48B0-B223-4A5C63A2D6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8DE7AD0B-3EBD-4DBB-B2D5-F0F21D9B3E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F641E407-2E3F-4AF7-B1C1-2491A28AD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2">
            <a:extLst xmlns:a="http://schemas.openxmlformats.org/drawingml/2006/main">
              <a:ext uri="{FF2B5EF4-FFF2-40B4-BE49-F238E27FC236}">
                <a16:creationId xmlns:a16="http://schemas.microsoft.com/office/drawing/2014/main" id="{14FBD8E0-3FA1-42DD-8AEA-A72FB3632B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12">
            <a:extLst xmlns:a="http://schemas.openxmlformats.org/drawingml/2006/main">
              <a:ext uri="{FF2B5EF4-FFF2-40B4-BE49-F238E27FC236}">
                <a16:creationId xmlns:a16="http://schemas.microsoft.com/office/drawing/2014/main" id="{32176502-08B0-4F22-8DBC-5DCE379266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17395DE1-E8AB-4944-B1B7-DBEB7F0FDC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A606DA8-9E61-4337-BFE6-B39C5C65B1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bbdf40f2dc4d76" /><Relationship Type="http://schemas.openxmlformats.org/officeDocument/2006/relationships/slideLayout" Target="/ppt/slideLayouts/slideLayout1.xml" Id="Rb8e2dc74a9394304" /><Relationship Type="http://schemas.openxmlformats.org/officeDocument/2006/relationships/slideLayout" Target="/ppt/slideLayouts/slideLayout2.xml" Id="R2130703a6dff43ee" /><Relationship Type="http://schemas.openxmlformats.org/officeDocument/2006/relationships/slideLayout" Target="/ppt/slideLayouts/slideLayout3.xml" Id="R41ed58036eaf4b01" /><Relationship Type="http://schemas.openxmlformats.org/officeDocument/2006/relationships/slideLayout" Target="/ppt/slideLayouts/slideLayout4.xml" Id="Ra415679c20c346c8" /><Relationship Type="http://schemas.openxmlformats.org/officeDocument/2006/relationships/slideLayout" Target="/ppt/slideLayouts/slideLayout5.xml" Id="R41dcbfec56944cdf" /><Relationship Type="http://schemas.openxmlformats.org/officeDocument/2006/relationships/slideLayout" Target="/ppt/slideLayouts/slideLayout6.xml" Id="R0e7ea0a61af54d17" /><Relationship Type="http://schemas.openxmlformats.org/officeDocument/2006/relationships/slideLayout" Target="/ppt/slideLayouts/slideLayout7.xml" Id="Rb5d3e3117f574ba4" /><Relationship Type="http://schemas.openxmlformats.org/officeDocument/2006/relationships/slideLayout" Target="/ppt/slideLayouts/slideLayout8.xml" Id="R760b5600dc034f0b" /><Relationship Type="http://schemas.openxmlformats.org/officeDocument/2006/relationships/slideLayout" Target="/ppt/slideLayouts/slideLayout9.xml" Id="R578956a024b943b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C481F839-37FC-40AB-A294-267EF4861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2AAC4AA9-F27F-40F3-8E71-1C35E0B5F9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0B0B7254-61E5-4D45-9B2C-B59506CA41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67D38291-EBEF-4F7F-ABCC-D0575C2299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09EC26A4-930E-47CC-BEC7-8A0A05FD1F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e2dc74a9394304"/>
    <p:sldLayoutId xmlns:r="http://schemas.openxmlformats.org/officeDocument/2006/relationships" id="2147483650" r:id="R2130703a6dff43ee"/>
    <p:sldLayoutId xmlns:r="http://schemas.openxmlformats.org/officeDocument/2006/relationships" id="2147483651" r:id="R41ed58036eaf4b01"/>
    <p:sldLayoutId xmlns:r="http://schemas.openxmlformats.org/officeDocument/2006/relationships" id="2147483652" r:id="Ra415679c20c346c8"/>
    <p:sldLayoutId xmlns:r="http://schemas.openxmlformats.org/officeDocument/2006/relationships" id="2147483653" r:id="R41dcbfec56944cdf"/>
    <p:sldLayoutId xmlns:r="http://schemas.openxmlformats.org/officeDocument/2006/relationships" id="2147483654" r:id="R0e7ea0a61af54d17"/>
    <p:sldLayoutId xmlns:r="http://schemas.openxmlformats.org/officeDocument/2006/relationships" id="2147483655" r:id="Rb5d3e3117f574ba4"/>
    <p:sldLayoutId xmlns:r="http://schemas.openxmlformats.org/officeDocument/2006/relationships" id="2147483656" r:id="R760b5600dc034f0b"/>
    <p:sldLayoutId xmlns:r="http://schemas.openxmlformats.org/officeDocument/2006/relationships" id="2147483657" r:id="R578956a024b943b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bddb778e24e21" /><Relationship Type="http://schemas.openxmlformats.org/officeDocument/2006/relationships/image" Target="/ppt/media/image.png" Id="R88893eb69a6c421e" /><Relationship Type="http://schemas.openxmlformats.org/officeDocument/2006/relationships/image" Target="/ppt/media/image2.png" Id="R253c3807eeff4f83" /><Relationship Type="http://schemas.openxmlformats.org/officeDocument/2006/relationships/image" Target="/ppt/media/image3.png" Id="R248db9abb63f4982" /><Relationship Type="http://schemas.openxmlformats.org/officeDocument/2006/relationships/image" Target="/ppt/media/image4.png" Id="Ra3d2cd72a43644f5" /><Relationship Type="http://schemas.openxmlformats.org/officeDocument/2006/relationships/notesSlide" Target="/ppt/notesSlides/notesSlide1.xml" Id="Rc6d4531f0ed34d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97b61956747f1" /><Relationship Type="http://schemas.openxmlformats.org/officeDocument/2006/relationships/image" Target="/ppt/media/image.png" Id="Rfcfd601a4ed24f40" /><Relationship Type="http://schemas.openxmlformats.org/officeDocument/2006/relationships/image" Target="/ppt/media/image2.png" Id="R16dc00c78c134956" /><Relationship Type="http://schemas.openxmlformats.org/officeDocument/2006/relationships/image" Target="/ppt/media/image3.png" Id="R057099acdbc84f96" /><Relationship Type="http://schemas.openxmlformats.org/officeDocument/2006/relationships/image" Target="/ppt/media/image4.png" Id="Re6f8d0542de64807" /><Relationship Type="http://schemas.openxmlformats.org/officeDocument/2006/relationships/notesSlide" Target="/ppt/notesSlides/notesSlide2.xml" Id="R87391513340b40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1022aa8d44aad" /><Relationship Type="http://schemas.openxmlformats.org/officeDocument/2006/relationships/image" Target="/ppt/media/image.png" Id="R3be656de6ab94f53" /><Relationship Type="http://schemas.openxmlformats.org/officeDocument/2006/relationships/image" Target="/ppt/media/image2.png" Id="R939c17e7e01341fc" /><Relationship Type="http://schemas.openxmlformats.org/officeDocument/2006/relationships/image" Target="/ppt/media/image3.png" Id="Rf1a15f2e4ca54350" /><Relationship Type="http://schemas.openxmlformats.org/officeDocument/2006/relationships/image" Target="/ppt/media/image4.png" Id="Rcd7036683970441a" /><Relationship Type="http://schemas.openxmlformats.org/officeDocument/2006/relationships/notesSlide" Target="/ppt/notesSlides/notesSlide3.xml" Id="Rabb2839d51b641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a5e7e95444647" /><Relationship Type="http://schemas.openxmlformats.org/officeDocument/2006/relationships/image" Target="/ppt/media/image.png" Id="R135f4d70c4ad4fb2" /><Relationship Type="http://schemas.openxmlformats.org/officeDocument/2006/relationships/image" Target="/ppt/media/image2.png" Id="Ra605b72001044c46" /><Relationship Type="http://schemas.openxmlformats.org/officeDocument/2006/relationships/image" Target="/ppt/media/image3.png" Id="R6ef96205f9fa49b1" /><Relationship Type="http://schemas.openxmlformats.org/officeDocument/2006/relationships/image" Target="/ppt/media/image4.png" Id="R1cf3d32e17a14232" /><Relationship Type="http://schemas.openxmlformats.org/officeDocument/2006/relationships/notesSlide" Target="/ppt/notesSlides/notesSlide4.xml" Id="Rfb16aa8659f246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2cef752534e6c" /><Relationship Type="http://schemas.openxmlformats.org/officeDocument/2006/relationships/image" Target="/ppt/media/image.png" Id="Re808f70c57d14f59" /><Relationship Type="http://schemas.openxmlformats.org/officeDocument/2006/relationships/image" Target="/ppt/media/image2.png" Id="R797ba8983b7c4403" /><Relationship Type="http://schemas.openxmlformats.org/officeDocument/2006/relationships/image" Target="/ppt/media/image3.png" Id="R9f305f0be7cd4674" /><Relationship Type="http://schemas.openxmlformats.org/officeDocument/2006/relationships/image" Target="/ppt/media/image4.png" Id="R628b27ad58cd4738" /><Relationship Type="http://schemas.openxmlformats.org/officeDocument/2006/relationships/notesSlide" Target="/ppt/notesSlides/notesSlide5.xml" Id="R18e2fbed1f834b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61cd13adf450b" /><Relationship Type="http://schemas.openxmlformats.org/officeDocument/2006/relationships/image" Target="/ppt/media/image.png" Id="R9bd85760e1a14115" /><Relationship Type="http://schemas.openxmlformats.org/officeDocument/2006/relationships/image" Target="/ppt/media/image2.png" Id="R0c246c547af1436b" /><Relationship Type="http://schemas.openxmlformats.org/officeDocument/2006/relationships/image" Target="/ppt/media/image3.png" Id="R3013d3f0225e49f9" /><Relationship Type="http://schemas.openxmlformats.org/officeDocument/2006/relationships/image" Target="/ppt/media/image4.png" Id="Rbb682d2893984a23" /><Relationship Type="http://schemas.openxmlformats.org/officeDocument/2006/relationships/notesSlide" Target="/ppt/notesSlides/notesSlide6.xml" Id="R3940350ff86c4f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a727c47994af4" /><Relationship Type="http://schemas.openxmlformats.org/officeDocument/2006/relationships/image" Target="/ppt/media/image.png" Id="R2a4846436e3a4480" /><Relationship Type="http://schemas.openxmlformats.org/officeDocument/2006/relationships/image" Target="/ppt/media/image2.png" Id="R4f1f139361124276" /><Relationship Type="http://schemas.openxmlformats.org/officeDocument/2006/relationships/image" Target="/ppt/media/image3.png" Id="Rb435a009cb0e4583" /><Relationship Type="http://schemas.openxmlformats.org/officeDocument/2006/relationships/image" Target="/ppt/media/image4.png" Id="Rc0ce3c3508544650" /><Relationship Type="http://schemas.openxmlformats.org/officeDocument/2006/relationships/notesSlide" Target="/ppt/notesSlides/notesSlide7.xml" Id="Rd0245d6a734440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4827a432c4e13" /><Relationship Type="http://schemas.openxmlformats.org/officeDocument/2006/relationships/image" Target="/ppt/media/image.png" Id="Rd4b2388894e64974" /><Relationship Type="http://schemas.openxmlformats.org/officeDocument/2006/relationships/image" Target="/ppt/media/image2.png" Id="Ra9093357e6674db9" /><Relationship Type="http://schemas.openxmlformats.org/officeDocument/2006/relationships/image" Target="/ppt/media/image3.png" Id="R0fb62f5e60f84f14" /><Relationship Type="http://schemas.openxmlformats.org/officeDocument/2006/relationships/image" Target="/ppt/media/image4.png" Id="R47e455ffc5704df2" /><Relationship Type="http://schemas.openxmlformats.org/officeDocument/2006/relationships/notesSlide" Target="/ppt/notesSlides/notesSlide8.xml" Id="R6bcf22f5345742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4528bdcf141d9" /><Relationship Type="http://schemas.openxmlformats.org/officeDocument/2006/relationships/image" Target="/ppt/media/image.png" Id="R1f841f43ac614bda" /><Relationship Type="http://schemas.openxmlformats.org/officeDocument/2006/relationships/image" Target="/ppt/media/image2.png" Id="Rd943370ff4ce42b6" /><Relationship Type="http://schemas.openxmlformats.org/officeDocument/2006/relationships/image" Target="/ppt/media/image3.png" Id="R21480f579fc3451d" /><Relationship Type="http://schemas.openxmlformats.org/officeDocument/2006/relationships/image" Target="/ppt/media/image4.png" Id="R1055ddd754dd41ff" /><Relationship Type="http://schemas.openxmlformats.org/officeDocument/2006/relationships/notesSlide" Target="/ppt/notesSlides/notesSlide9.xml" Id="Rdaaf9408527548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8afd0ab0f4f7f" /><Relationship Type="http://schemas.openxmlformats.org/officeDocument/2006/relationships/image" Target="/ppt/media/image.png" Id="R9f1f0081d2c44d4a" /><Relationship Type="http://schemas.openxmlformats.org/officeDocument/2006/relationships/image" Target="/ppt/media/image2.png" Id="Re404569e0d954e50" /><Relationship Type="http://schemas.openxmlformats.org/officeDocument/2006/relationships/image" Target="/ppt/media/image3.png" Id="Rd1a3d9a90d9840da" /><Relationship Type="http://schemas.openxmlformats.org/officeDocument/2006/relationships/image" Target="/ppt/media/image4.png" Id="R13c67133523c4a51" /><Relationship Type="http://schemas.openxmlformats.org/officeDocument/2006/relationships/notesSlide" Target="/ppt/notesSlides/notesSlide10.xml" Id="R4eb559a9121740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53da9051c43c5" /><Relationship Type="http://schemas.openxmlformats.org/officeDocument/2006/relationships/image" Target="/ppt/media/image.png" Id="Rf6268c022c204322" /><Relationship Type="http://schemas.openxmlformats.org/officeDocument/2006/relationships/image" Target="/ppt/media/image2.png" Id="R4bb25b7bda8d4d87" /><Relationship Type="http://schemas.openxmlformats.org/officeDocument/2006/relationships/image" Target="/ppt/media/image3.png" Id="R7074651597b14c49" /><Relationship Type="http://schemas.openxmlformats.org/officeDocument/2006/relationships/image" Target="/ppt/media/image4.png" Id="R58b01164dfc44218" /><Relationship Type="http://schemas.openxmlformats.org/officeDocument/2006/relationships/image" Target="/ppt/media/image.jpeg" Id="R84e74f11568c4b36" /><Relationship Type="http://schemas.openxmlformats.org/officeDocument/2006/relationships/image" Target="/ppt/media/image2.jpeg" Id="R4e938ca3548446ad" /><Relationship Type="http://schemas.openxmlformats.org/officeDocument/2006/relationships/notesSlide" Target="/ppt/notesSlides/notesSlide11.xml" Id="Rdebdea10381845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9a0da84ea45c1" /><Relationship Type="http://schemas.openxmlformats.org/officeDocument/2006/relationships/image" Target="/ppt/media/image.png" Id="R326b6bebaa0f4648" /><Relationship Type="http://schemas.openxmlformats.org/officeDocument/2006/relationships/image" Target="/ppt/media/image2.png" Id="Rb07222e663a247fd" /><Relationship Type="http://schemas.openxmlformats.org/officeDocument/2006/relationships/image" Target="/ppt/media/image3.png" Id="R1e4a0903f3dc4ff6" /><Relationship Type="http://schemas.openxmlformats.org/officeDocument/2006/relationships/image" Target="/ppt/media/image4.png" Id="R15c0bc3c7b57488f" /><Relationship Type="http://schemas.openxmlformats.org/officeDocument/2006/relationships/image" Target="/ppt/media/image3.jpeg" Id="R6533f7ce709d4f9d" /><Relationship Type="http://schemas.openxmlformats.org/officeDocument/2006/relationships/image" Target="/ppt/media/image4.jpeg" Id="R506202bf409c4840" /><Relationship Type="http://schemas.openxmlformats.org/officeDocument/2006/relationships/notesSlide" Target="/ppt/notesSlides/notesSlide12.xml" Id="R3793d4a2adde43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438b85e854f6b" /><Relationship Type="http://schemas.openxmlformats.org/officeDocument/2006/relationships/image" Target="/ppt/media/image.png" Id="R8af626633a43437e" /><Relationship Type="http://schemas.openxmlformats.org/officeDocument/2006/relationships/image" Target="/ppt/media/image2.png" Id="Rfeb01e37b95d465b" /><Relationship Type="http://schemas.openxmlformats.org/officeDocument/2006/relationships/image" Target="/ppt/media/image3.png" Id="Ra0d3ed2469474913" /><Relationship Type="http://schemas.openxmlformats.org/officeDocument/2006/relationships/image" Target="/ppt/media/image4.png" Id="R0215ad2e9a014fd9" /><Relationship Type="http://schemas.openxmlformats.org/officeDocument/2006/relationships/notesSlide" Target="/ppt/notesSlides/notesSlide13.xml" Id="R89a08d2cceab47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d509eca0f4615" /><Relationship Type="http://schemas.openxmlformats.org/officeDocument/2006/relationships/image" Target="/ppt/media/image.png" Id="R6176d567b8eb4ee2" /><Relationship Type="http://schemas.openxmlformats.org/officeDocument/2006/relationships/image" Target="/ppt/media/image2.png" Id="R021fc9f4a25d408e" /><Relationship Type="http://schemas.openxmlformats.org/officeDocument/2006/relationships/image" Target="/ppt/media/image3.png" Id="Ra0049da508ea47fb" /><Relationship Type="http://schemas.openxmlformats.org/officeDocument/2006/relationships/image" Target="/ppt/media/image4.png" Id="R9e43c7c1cc344662" /><Relationship Type="http://schemas.openxmlformats.org/officeDocument/2006/relationships/notesSlide" Target="/ppt/notesSlides/notesSlide14.xml" Id="Re9ad5c92bcd744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b1f533d3045b2" /><Relationship Type="http://schemas.openxmlformats.org/officeDocument/2006/relationships/image" Target="/ppt/media/image.png" Id="R6ceea54095c04e06" /><Relationship Type="http://schemas.openxmlformats.org/officeDocument/2006/relationships/image" Target="/ppt/media/image2.png" Id="Rfe080f09e65841b7" /><Relationship Type="http://schemas.openxmlformats.org/officeDocument/2006/relationships/image" Target="/ppt/media/image3.png" Id="Rfe59b36cc09e42c4" /><Relationship Type="http://schemas.openxmlformats.org/officeDocument/2006/relationships/image" Target="/ppt/media/image4.png" Id="Rffc7aa8613944a3b" /><Relationship Type="http://schemas.openxmlformats.org/officeDocument/2006/relationships/image" Target="/ppt/media/image5.jpeg" Id="R03861f3d1a7b48a9" /><Relationship Type="http://schemas.openxmlformats.org/officeDocument/2006/relationships/notesSlide" Target="/ppt/notesSlides/notesSlide15.xml" Id="Rf26f8df861cd4c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329d2ce094a52" /><Relationship Type="http://schemas.openxmlformats.org/officeDocument/2006/relationships/image" Target="/ppt/media/image.png" Id="R464d10dd364d4eec" /><Relationship Type="http://schemas.openxmlformats.org/officeDocument/2006/relationships/image" Target="/ppt/media/image2.png" Id="R1f279d92bfb640eb" /><Relationship Type="http://schemas.openxmlformats.org/officeDocument/2006/relationships/image" Target="/ppt/media/image3.png" Id="Re562d66df9194b28" /><Relationship Type="http://schemas.openxmlformats.org/officeDocument/2006/relationships/image" Target="/ppt/media/image4.png" Id="Rbd0fafef222c4e0f" /><Relationship Type="http://schemas.openxmlformats.org/officeDocument/2006/relationships/notesSlide" Target="/ppt/notesSlides/notesSlide16.xml" Id="R58364dc0c16441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0aa00b00b4538" /><Relationship Type="http://schemas.openxmlformats.org/officeDocument/2006/relationships/image" Target="/ppt/media/image.png" Id="R6d03731fb7dc4811" /><Relationship Type="http://schemas.openxmlformats.org/officeDocument/2006/relationships/image" Target="/ppt/media/image2.png" Id="Rd27697cc935848aa" /><Relationship Type="http://schemas.openxmlformats.org/officeDocument/2006/relationships/image" Target="/ppt/media/image3.png" Id="R17a5d6ff0b2e4bcb" /><Relationship Type="http://schemas.openxmlformats.org/officeDocument/2006/relationships/image" Target="/ppt/media/image4.png" Id="R34785db08c9c4861" /><Relationship Type="http://schemas.openxmlformats.org/officeDocument/2006/relationships/image" Target="/ppt/media/image6.jpeg" Id="Re6be5e1a0b4747e2" /><Relationship Type="http://schemas.openxmlformats.org/officeDocument/2006/relationships/notesSlide" Target="/ppt/notesSlides/notesSlide17.xml" Id="R0313c1d4e18a45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61a7dc8564375" /><Relationship Type="http://schemas.openxmlformats.org/officeDocument/2006/relationships/image" Target="/ppt/media/image.png" Id="R939e740193d94e3d" /><Relationship Type="http://schemas.openxmlformats.org/officeDocument/2006/relationships/image" Target="/ppt/media/image2.png" Id="R9d73d28525554dff" /><Relationship Type="http://schemas.openxmlformats.org/officeDocument/2006/relationships/image" Target="/ppt/media/image3.png" Id="Redf9267fed3149f6" /><Relationship Type="http://schemas.openxmlformats.org/officeDocument/2006/relationships/image" Target="/ppt/media/image4.png" Id="R39d20297cc074628" /><Relationship Type="http://schemas.openxmlformats.org/officeDocument/2006/relationships/notesSlide" Target="/ppt/notesSlides/notesSlide18.xml" Id="R44b007d0d1a444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8f43d36e8442f" /><Relationship Type="http://schemas.openxmlformats.org/officeDocument/2006/relationships/image" Target="/ppt/media/image.png" Id="Rbdd5cd86fc4845cb" /><Relationship Type="http://schemas.openxmlformats.org/officeDocument/2006/relationships/image" Target="/ppt/media/image2.png" Id="Racaa4e1149fb4782" /><Relationship Type="http://schemas.openxmlformats.org/officeDocument/2006/relationships/image" Target="/ppt/media/image3.png" Id="R2e3b4fd7e1814dea" /><Relationship Type="http://schemas.openxmlformats.org/officeDocument/2006/relationships/image" Target="/ppt/media/image4.png" Id="Rd8dde5495f3b486a" /><Relationship Type="http://schemas.openxmlformats.org/officeDocument/2006/relationships/notesSlide" Target="/ppt/notesSlides/notesSlide19.xml" Id="Rd10227330fb049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4165af8554e20" /><Relationship Type="http://schemas.openxmlformats.org/officeDocument/2006/relationships/image" Target="/ppt/media/image.png" Id="R51dec8e9ab6f4f95" /><Relationship Type="http://schemas.openxmlformats.org/officeDocument/2006/relationships/image" Target="/ppt/media/image2.png" Id="R1bcc324597cb4c5d" /><Relationship Type="http://schemas.openxmlformats.org/officeDocument/2006/relationships/image" Target="/ppt/media/image3.png" Id="Re7f9f703547f4267" /><Relationship Type="http://schemas.openxmlformats.org/officeDocument/2006/relationships/image" Target="/ppt/media/image7.jpeg" Id="R58fe50ded010449f" /><Relationship Type="http://schemas.openxmlformats.org/officeDocument/2006/relationships/notesSlide" Target="/ppt/notesSlides/notesSlide20.xml" Id="R36a31c011a2f4b1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0326b87164d98" /><Relationship Type="http://schemas.openxmlformats.org/officeDocument/2006/relationships/image" Target="/ppt/media/image.png" Id="Rf9692ef377ab4142" /><Relationship Type="http://schemas.openxmlformats.org/officeDocument/2006/relationships/image" Target="/ppt/media/image2.png" Id="R055cec369da0431d" /><Relationship Type="http://schemas.openxmlformats.org/officeDocument/2006/relationships/image" Target="/ppt/media/image3.png" Id="R6620ac4523954670" /><Relationship Type="http://schemas.openxmlformats.org/officeDocument/2006/relationships/image" Target="/ppt/media/image4.png" Id="R180b8639cfca421a" /><Relationship Type="http://schemas.openxmlformats.org/officeDocument/2006/relationships/notesSlide" Target="/ppt/notesSlides/notesSlide21.xml" Id="Rd08d0bc8fc7d4e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0a1ec1a8248b4" /><Relationship Type="http://schemas.openxmlformats.org/officeDocument/2006/relationships/image" Target="/ppt/media/image.png" Id="Ra6916f61f13a4049" /><Relationship Type="http://schemas.openxmlformats.org/officeDocument/2006/relationships/image" Target="/ppt/media/image2.png" Id="R00fa9d8acdae4215" /><Relationship Type="http://schemas.openxmlformats.org/officeDocument/2006/relationships/image" Target="/ppt/media/image3.png" Id="Rfa287ae8a33c4389" /><Relationship Type="http://schemas.openxmlformats.org/officeDocument/2006/relationships/image" Target="/ppt/media/image4.png" Id="R951b64c91e7346c6" /><Relationship Type="http://schemas.openxmlformats.org/officeDocument/2006/relationships/notesSlide" Target="/ppt/notesSlides/notesSlide22.xml" Id="R541f116fb2b245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8" name="Google Shape;8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893eb69a6c42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" name="Google Shape;89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3c3807eeff4f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" name="Google Shape;9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8db9abb63f498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0451E217-F517-4B95-BB88-518E054CC1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0F8244A7-4116-4EC0-AB4F-F647CDC3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00" y="1634625"/>
            <a:ext cx="10904400" cy="50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400" b="1" i="0" u="sng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</a:rPr>
              <a:t>Department of Artificial Intelligence &amp; Data Science</a:t>
            </a:r>
            <a:endParaRPr sz="18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8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</a:rPr>
              <a:t>Academic Year 2025-26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0" algn="ctr">
              <a:buSzPts val="2500"/>
              <a:buNone/>
            </a:pPr>
            <a:r>
              <a:rPr sz="32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KumbhRakshak: Safety and Decision Support for Nashik-Trimbakeshwar</a:t>
            </a:r>
          </a:p>
          <a:p xmlns:a="http://schemas.openxmlformats.org/drawingml/2006/main">
            <a:pPr lvl="0" algn="ctr">
              <a:buSzPts val="2500"/>
              <a:buNone/>
            </a:pP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0" algn="ctr">
              <a:buSzPts val="2500"/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Hardik Sedani T8-70</a:t>
            </a:r>
          </a:p>
          <a:p xmlns:a="http://schemas.openxmlformats.org/drawingml/2006/main">
            <a:pPr lvl="0" algn="ctr">
              <a:buSzPts val="2500"/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Shubham Vishwakarma T5-13</a:t>
            </a:r>
            <a:endParaRPr sz="18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cap="none">
              <a:solidFill>
                <a:srgbClr val="052358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cap="none">
              <a:solidFill>
                <a:srgbClr val="05235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cap="none">
              <a:solidFill>
                <a:srgbClr val="6E3F0C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    						</a:t>
            </a:r>
            <a:r>
              <a:rPr sz="17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			               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2cd72a43644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073693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9" name="Google Shape;9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fd601a4ed24f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0" name="Google Shape;9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dc00c78c1349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1" name="Google Shape;100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7099acdbc84f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5FB28B44-FAA6-4014-AA97-DD0A018E072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6DAEEF1D-C2F5-4149-B82E-E5B71266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479" y="1433175"/>
            <a:ext cx="6373800" cy="64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Outline of Presentation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6C1B7B00-A66B-4D88-8286-37A1121E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16" y="1626781"/>
            <a:ext cx="4703085" cy="5073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Problem statement/definition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Project Objectives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Findings and Research Gap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Features &amp; Screenshots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Software /Hardware requirement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System design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System implementation 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Results </a:t>
            </a: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References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Noto Sans Symbols"/>
              <a:buChar char="⮚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Noto Sans Symbols"/>
              <a:buChar char="⮚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0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0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00050" marR="0" lvl="0" indent="-28575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8d0542de648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082503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6" name="Google Shape;10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e656de6ab94f5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7" name="Google Shape;11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9c17e7e01341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1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a15f2e4ca543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553CEF7E-C58E-4407-BC0E-E5A2ACBA49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B31653AE-D151-4850-AAFF-27CEFCB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6373800" cy="534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03668397044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1B28C4E1-FEC1-45FF-8F2B-20D0A7E5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KumbhRakshak: Nashik-Trimbakeshwar Safety Prototype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2027 Simhastha will need clear place context and timely information across ghats, routes and facilities.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KumbhRakshak brings monitoring signals and response tools into one command-centre website.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Platform Shows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illustrative 3D guide links Nashik and Trimbakeshwar landmarks to the relevant crowd, map, camera, shelter and incident portals.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present build is a demonstration with simulated operational data. It is not an official navigation or emergency-response system.</a:t>
            </a:r>
          </a:p>
        </p:txBody>
      </p:sp>
    </p:spTree>
    <p:extLst>
      <p:ext uri="{BB962C8B-B14F-4D97-AF65-F5344CB8AC3E}">
        <p14:creationId xmlns:p14="http://schemas.microsoft.com/office/powerpoint/2010/main" val="1907104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7" name="Google Shape;10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5f4d70c4ad4f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1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05b72001044c4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1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f96205f9fa49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261251F2-B64F-406C-8B05-EA76C3D984D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B31653AE-D151-4850-AAFF-27CEFCB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0" y="1603661"/>
            <a:ext cx="6373800" cy="534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Problem Definition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3d32e17a142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2" name="TextBox 1002">
            <a:extLst xmlns:a="http://schemas.openxmlformats.org/drawingml/2006/main">
              <a:ext uri="{FF2B5EF4-FFF2-40B4-BE49-F238E27FC236}">
                <a16:creationId xmlns:a16="http://schemas.microsoft.com/office/drawing/2014/main" id="{76C348D4-E1DF-4A82-B515-4A8CCCD7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The Core Problem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Crowd, camera, social and field signals arrive through separate channels during a large gathering.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Without place context, users may struggle to identify which facility or portal is relevant to a situation.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Unverified claims can add confusion, while response decisions still require evidence and human review.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7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How can one understandable interface connect locations, signals and response workflows for the Nashik-Trimbakeshwar Kumbh?</a:t>
            </a:r>
          </a:p>
        </p:txBody>
      </p:sp>
    </p:spTree>
    <p:extLst>
      <p:ext uri="{BB962C8B-B14F-4D97-AF65-F5344CB8AC3E}">
        <p14:creationId xmlns:p14="http://schemas.microsoft.com/office/powerpoint/2010/main" val="3528591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8" name="Google Shape;119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08f70c57d14f5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2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7ba8983b7c44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2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305f0be7cd46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3" name="Google Shape;123;p16">
            <a:extLst xmlns:a="http://schemas.openxmlformats.org/drawingml/2006/main">
              <a:ext uri="{FF2B5EF4-FFF2-40B4-BE49-F238E27FC236}">
                <a16:creationId xmlns:a16="http://schemas.microsoft.com/office/drawing/2014/main" id="{838ECDC0-D0AF-4170-8884-C29C3A553DC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94364B9-0804-487C-86E2-B9BA56EA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6373800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Project Objectives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b27ad58cd47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3" name="TextBox 1003">
            <a:extLst xmlns:a="http://schemas.openxmlformats.org/drawingml/2006/main">
              <a:ext uri="{FF2B5EF4-FFF2-40B4-BE49-F238E27FC236}">
                <a16:creationId xmlns:a16="http://schemas.microsoft.com/office/drawing/2014/main" id="{D42A436F-61A0-4FD5-9473-57A6D7F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Primary Objective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 a clear decision-support prototype for operators and project reviewers, centered on Nashik and Trimbakeshwar.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Specific Objectives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Explain key landmarks and portals through an interactive 3D place guide.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 crowd pressure, camera observations and incident information together.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social claims with available evidence before any public response.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 shelter, resource and advisory workflows in one website.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Distinguish simulated data and schematic locations from verified field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923880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d85760e1a141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c246c547af143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13d3f0225e49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CC814FF0-7C06-4220-A6ED-07EF6E4AD9E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5724233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48EC87-8D2E-44ED-95C5-48E2550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323" y="1908586"/>
            <a:ext cx="17651353" cy="4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82d2893984a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graphicFrame>
        <p:nvGraphicFramePr>
          <p:cNvPr id="154" name="Table 1004"/>
          <p:cNvGraphicFramePr/>
          <p:nvPr/>
        </p:nvGraphicFramePr>
        <p:xfrm>
          <a:off xmlns:a="http://schemas.openxmlformats.org/drawingml/2006/main" x="1350000" y="2210000"/>
          <a:ext xmlns:a="http://schemas.openxmlformats.org/drawingml/2006/main" cx="10300000" cy="422000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0000"/>
                <a:gridCol w="3600000"/>
                <a:gridCol w="4100000"/>
              </a:tblGrid>
              <a:tr h="38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Author(s) / Year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Study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 Finding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Aishwarya &amp; Vinay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 of social media and its impact on Maha Kumbh Mela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Facebook, X, Instagram and YouTube help organisers share updates, schedules and safety instructions, boosting participation.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Verma &amp; Bains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Security &amp; surveillance strategies, Maha Kumbh Mela 2025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Proposes a risk-assessment and stakeholder-coordination framework for crowd safety at mega religious gatherings.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Kumbh Twitter Study (2020)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Motivations &amp; experiences — insights from Twitter analytics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Analysed ~49,500 tweets from Kumbh 2019 to mine pilgrim sentiment and experience via network/content analytics.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Tiwari &amp; Chowdhary (2022)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Technology and crowd management: Kumbh case study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 apps and smart tech improve headcounts, monitoring, multilingual info-sharing and safety at Kumbh scale.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JMIR Infodemiology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Impact of misinformation on social media in disasters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Misinformation during disasters spreads mainly via X, Facebook and WhatsApp; pre-emptive debunking limits its reach.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Simon et al. (2016)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Computers in Human Behaviour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Documents how WhatsApp rumours spread uncontrollably during a real search-and-rescue operation.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4642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0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4846436e3a448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1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1f1393611242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2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35a009cb0e45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839BF06E-82F0-4E1B-BBD8-6F5C571A7B7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5724233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Findings of Literature Survey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48EC87-8D2E-44ED-95C5-48E2550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323" y="1908586"/>
            <a:ext cx="17651353" cy="4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e3c35085446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5" name="TextBox 1005">
            <a:extLst xmlns:a="http://schemas.openxmlformats.org/drawingml/2006/main">
              <a:ext uri="{FF2B5EF4-FFF2-40B4-BE49-F238E27FC236}">
                <a16:creationId xmlns:a16="http://schemas.microsoft.com/office/drawing/2014/main" id="{531842AD-3437-4928-8A39-F45F578A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750000"/>
            <a:ext cx="10300000" cy="38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Literature Confirms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Kumbh studies describe the difficulty of managing large pedestrian flows and coordinating safety teams.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 research shows the value of zone-level observation and forecasting for early review.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Social-media studies also show that fast-moving rumours can complicate a real incident response.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The Gap We Address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KumbhRakshak demonstrates a place-linked interface that brings monitoring, claim review and response tools together. Field validation remains necessary.</a:t>
            </a:r>
          </a:p>
        </p:txBody>
      </p:sp>
    </p:spTree>
    <p:extLst>
      <p:ext uri="{BB962C8B-B14F-4D97-AF65-F5344CB8AC3E}">
        <p14:creationId xmlns:p14="http://schemas.microsoft.com/office/powerpoint/2010/main" val="34056389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3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b2388894e649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4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093357e6674db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5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b62f5e60f84f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40DFF253-1958-4C68-A77F-049FE897322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Software / Hardware Requirements</a:t>
            </a:r>
          </a:p>
        </p:txBody>
      </p:sp>
      <p:pic>
        <p:nvPicPr>
          <p:cNvPr id="10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455ffc5704d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7" name="TextBox 1007">
            <a:extLst xmlns:a="http://schemas.openxmlformats.org/drawingml/2006/main">
              <a:ext uri="{FF2B5EF4-FFF2-40B4-BE49-F238E27FC236}">
                <a16:creationId xmlns:a16="http://schemas.microsoft.com/office/drawing/2014/main" id="{A64A6D7F-4AD5-4E0A-95F7-96F22C30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505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Software Requirements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Frontend: Next.js, React, Tailwind CSS and Three.js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Backend: Python 3.12, FastAPI and WebSockets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Data: Firestore adapter with in-memory demo mode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Mapping: Mapbox GL and OpenStreetMap landmark links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modules: vision, text clustering, risk and forecasting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Simulation: timeline and example incident injections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Packaging: Docker and Docker Compose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Tools: Git, GitHub and VS Code</a:t>
            </a:r>
          </a:p>
        </p:txBody>
      </p:sp>
      <p:sp>
        <p:nvSpPr>
          <p:cNvPr id="1008" name="TextBox 1008">
            <a:extLst xmlns:a="http://schemas.openxmlformats.org/drawingml/2006/main">
              <a:ext uri="{FF2B5EF4-FFF2-40B4-BE49-F238E27FC236}">
                <a16:creationId xmlns:a16="http://schemas.microsoft.com/office/drawing/2014/main" id="{8A0AC81C-40EE-4E46-B234-70577B22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000" y="2230000"/>
            <a:ext cx="505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Hardware Requirements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Demo machine: modern CPU, 8-16 GB RAM and SSD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GPU optional for local camera-model inference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Permissioned CCTV or video feeds needed for a real pilot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Reliable network and secure server for deployment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Official GIS and facility data required before field use</a:t>
            </a:r>
          </a:p>
        </p:txBody>
      </p:sp>
    </p:spTree>
    <p:extLst>
      <p:ext uri="{BB962C8B-B14F-4D97-AF65-F5344CB8AC3E}">
        <p14:creationId xmlns:p14="http://schemas.microsoft.com/office/powerpoint/2010/main" val="15818828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841f43ac614bd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43370ff4ce42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480f579fc345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551DD9BA-6DEF-4907-84ED-C703EF34F1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System Design</a:t>
            </a:r>
          </a:p>
        </p:txBody>
      </p:sp>
      <p:pic>
        <p:nvPicPr>
          <p:cNvPr id="102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5ddd754dd41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Shape 1001">
            <a:extLst xmlns:a="http://schemas.openxmlformats.org/drawingml/2006/main">
              <a:ext uri="{FF2B5EF4-FFF2-40B4-BE49-F238E27FC236}">
                <a16:creationId xmlns:a16="http://schemas.microsoft.com/office/drawing/2014/main" id="{7A979C30-6A73-4460-A9EA-E3FD01B8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Place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Camera Signals</a:t>
            </a:r>
          </a:p>
        </p:txBody>
      </p:sp>
      <p:sp>
        <p:nvSpPr>
          <p:cNvPr id="1002" name="Arrow 1002">
            <a:extLst xmlns:a="http://schemas.openxmlformats.org/drawingml/2006/main">
              <a:ext uri="{FF2B5EF4-FFF2-40B4-BE49-F238E27FC236}">
                <a16:creationId xmlns:a16="http://schemas.microsoft.com/office/drawing/2014/main" id="{F573DB0B-0DA7-46D3-8082-BE41319E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3" name="Shape 1003">
            <a:extLst xmlns:a="http://schemas.openxmlformats.org/drawingml/2006/main">
              <a:ext uri="{FF2B5EF4-FFF2-40B4-BE49-F238E27FC236}">
                <a16:creationId xmlns:a16="http://schemas.microsoft.com/office/drawing/2014/main" id="{EFFC1195-43CE-476C-879A-9DC44273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Social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Field Reports</a:t>
            </a:r>
          </a:p>
        </p:txBody>
      </p:sp>
      <p:sp>
        <p:nvSpPr>
          <p:cNvPr id="1004" name="Arrow 1004">
            <a:extLst xmlns:a="http://schemas.openxmlformats.org/drawingml/2006/main">
              <a:ext uri="{FF2B5EF4-FFF2-40B4-BE49-F238E27FC236}">
                <a16:creationId xmlns:a16="http://schemas.microsoft.com/office/drawing/2014/main" id="{EF676C1D-96AA-4A48-BE56-8F81A565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" name="Shape 1005">
            <a:extLst xmlns:a="http://schemas.openxmlformats.org/drawingml/2006/main">
              <a:ext uri="{FF2B5EF4-FFF2-40B4-BE49-F238E27FC236}">
                <a16:creationId xmlns:a16="http://schemas.microsoft.com/office/drawing/2014/main" id="{5FAF8B8D-A997-47D0-9679-E0252F21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Event &amp; Claim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Review</a:t>
            </a:r>
          </a:p>
        </p:txBody>
      </p:sp>
      <p:sp>
        <p:nvSpPr>
          <p:cNvPr id="1006" name="Arrow 1006">
            <a:extLst xmlns:a="http://schemas.openxmlformats.org/drawingml/2006/main">
              <a:ext uri="{FF2B5EF4-FFF2-40B4-BE49-F238E27FC236}">
                <a16:creationId xmlns:a16="http://schemas.microsoft.com/office/drawing/2014/main" id="{67BFCAE7-5103-4279-954F-1570EF7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" name="Shape 1007">
            <a:extLst xmlns:a="http://schemas.openxmlformats.org/drawingml/2006/main">
              <a:ext uri="{FF2B5EF4-FFF2-40B4-BE49-F238E27FC236}">
                <a16:creationId xmlns:a16="http://schemas.microsoft.com/office/drawing/2014/main" id="{D36AF126-E212-4708-83B2-6ACE6C0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Risk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Scoring</a:t>
            </a:r>
          </a:p>
        </p:txBody>
      </p:sp>
      <p:sp>
        <p:nvSpPr>
          <p:cNvPr id="1008" name="Arrow 1008">
            <a:extLst xmlns:a="http://schemas.openxmlformats.org/drawingml/2006/main">
              <a:ext uri="{FF2B5EF4-FFF2-40B4-BE49-F238E27FC236}">
                <a16:creationId xmlns:a16="http://schemas.microsoft.com/office/drawing/2014/main" id="{11E5077A-98F4-4CB5-A912-5C4415C7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" name="Shape 1009">
            <a:extLst xmlns:a="http://schemas.openxmlformats.org/drawingml/2006/main">
              <a:ext uri="{FF2B5EF4-FFF2-40B4-BE49-F238E27FC236}">
                <a16:creationId xmlns:a16="http://schemas.microsoft.com/office/drawing/2014/main" id="{8736B668-652A-4196-A7A1-A679390A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Decision</a:t>
            </a:r>
          </a:p>
        </p:txBody>
      </p:sp>
      <p:sp>
        <p:nvSpPr>
          <p:cNvPr id="1010" name="Arrow 1010">
            <a:extLst xmlns:a="http://schemas.openxmlformats.org/drawingml/2006/main">
              <a:ext uri="{FF2B5EF4-FFF2-40B4-BE49-F238E27FC236}">
                <a16:creationId xmlns:a16="http://schemas.microsoft.com/office/drawing/2014/main" id="{445A71BF-81C0-4076-BB29-637E1D67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1" name="Shape 1011">
            <a:extLst xmlns:a="http://schemas.openxmlformats.org/drawingml/2006/main">
              <a:ext uri="{FF2B5EF4-FFF2-40B4-BE49-F238E27FC236}">
                <a16:creationId xmlns:a16="http://schemas.microsoft.com/office/drawing/2014/main" id="{BFC01D25-F5A9-4D3D-BD6D-B2BEE0CC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Portal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Advisory</a:t>
            </a:r>
          </a:p>
        </p:txBody>
      </p:sp>
      <p:sp>
        <p:nvSpPr>
          <p:cNvPr id="1012" name="TextBox 1012">
            <a:extLst xmlns:a="http://schemas.openxmlformats.org/drawingml/2006/main">
              <a:ext uri="{FF2B5EF4-FFF2-40B4-BE49-F238E27FC236}">
                <a16:creationId xmlns:a16="http://schemas.microsoft.com/office/drawing/2014/main" id="{3F3C88BE-3AF7-4775-88D0-F7B3BD19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3410000"/>
            <a:ext cx="10300000" cy="3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Data Flow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Place, camera and public-report inputs are organized into location-linked views.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groups observations and presents claims with supporting or missing evidence.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Risk indicators support review; a human operator remains responsible for any action.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Approved information can then be displayed in the dashboard and advisory workflow.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8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1f0081d2c44d4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9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04569e0d954e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0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a3d9a90d9840d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89E5F4C9-8865-4D9B-8C4A-B00AE07672F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System Implementation</a:t>
            </a:r>
          </a:p>
        </p:txBody>
      </p:sp>
      <p:pic>
        <p:nvPicPr>
          <p:cNvPr id="102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67133523c4a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13" name="TextBox 1013">
            <a:extLst xmlns:a="http://schemas.openxmlformats.org/drawingml/2006/main">
              <a:ext uri="{FF2B5EF4-FFF2-40B4-BE49-F238E27FC236}">
                <a16:creationId xmlns:a16="http://schemas.microsoft.com/office/drawing/2014/main" id="{A5EC4199-45F3-4298-B4E9-FEA26E4E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Implemented Prototype Modules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 place guide: schematic Nashik and Trimbakeshwar scenes with portal links.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Overview dashboard: feature guide, situation indicators and incident review.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Simulation: a 16-step timeline and manual demo-event injections.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 portal: example 15, 30 and 60-minute forecasts and holding-area views.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Other portals: camera, incident, shelter, resource and public-report workflows.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Claim scanner: a demo interface for evidence review; real feeds require integration.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Tech Stack in Practice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Next.js frontend, FastAPI backend, WebSockets and an in-memory demo database.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6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268c022c2043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7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b25b7bda8d4d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8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74651597b14c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3D Place Guide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01164dfc442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74f11568c4b36"/>
          <a:stretch xmlns:a="http://schemas.openxmlformats.org/drawingml/2006/main"/>
        </p:blipFill>
        <p:spPr>
          <a:xfrm xmlns:a="http://schemas.openxmlformats.org/drawingml/2006/main">
            <a:off x="1381125" y="2414727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7" name="caption-Nashik Ramkund illustrative 3D scene">
            <a:extLst xmlns:a="http://schemas.openxmlformats.org/drawingml/2006/main">
              <a:ext uri="{FF2B5EF4-FFF2-40B4-BE49-F238E27FC236}">
                <a16:creationId xmlns:a16="http://schemas.microsoft.com/office/drawing/2014/main" id="{94D2AF61-9C39-4714-A6F4-D3A8FD3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483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Nashik riverfront: Ramkund and portal links</a:t>
            </a:r>
          </a:p>
        </p:txBody>
      </p:sp>
      <p:pic>
        <p:nvPicPr>
          <p:cNvPr id="10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38ca3548446ad"/>
          <a:stretch xmlns:a="http://schemas.openxmlformats.org/drawingml/2006/main"/>
        </p:blipFill>
        <p:spPr>
          <a:xfrm xmlns:a="http://schemas.openxmlformats.org/drawingml/2006/main">
            <a:off x="6477000" y="2414727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9" name="caption-Trimbakeshwar illustrative 3D scene">
            <a:extLst xmlns:a="http://schemas.openxmlformats.org/drawingml/2006/main">
              <a:ext uri="{FF2B5EF4-FFF2-40B4-BE49-F238E27FC236}">
                <a16:creationId xmlns:a16="http://schemas.microsoft.com/office/drawing/2014/main" id="{F358522D-2448-4E7E-9BE2-BCDACF0D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483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Trimbakeshwar: separate landmark scene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6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6b6bebaa0f46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7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7222e663a247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8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4a0903f3dc4f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Prototype Website Screens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0bc3c7b5748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3f7ce709d4f9d"/>
          <a:stretch xmlns:a="http://schemas.openxmlformats.org/drawingml/2006/main"/>
        </p:blipFill>
        <p:spPr>
          <a:xfrm xmlns:a="http://schemas.openxmlformats.org/drawingml/2006/main">
            <a:off x="1381125" y="2367102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7" name="caption-KumbhRakshak overview dashboard">
            <a:extLst xmlns:a="http://schemas.openxmlformats.org/drawingml/2006/main">
              <a:ext uri="{FF2B5EF4-FFF2-40B4-BE49-F238E27FC236}">
                <a16:creationId xmlns:a16="http://schemas.microsoft.com/office/drawing/2014/main" id="{E722F51B-4FE4-4758-828C-E261DDB3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578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Overview and feature guide</a:t>
            </a:r>
          </a:p>
        </p:txBody>
      </p:sp>
      <p:pic>
        <p:nvPicPr>
          <p:cNvPr id="10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202bf409c4840"/>
          <a:stretch xmlns:a="http://schemas.openxmlformats.org/drawingml/2006/main"/>
        </p:blipFill>
        <p:spPr>
          <a:xfrm xmlns:a="http://schemas.openxmlformats.org/drawingml/2006/main">
            <a:off x="6477000" y="2367102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9" name="caption-KumbhRakshak crowd forecast portal">
            <a:extLst xmlns:a="http://schemas.openxmlformats.org/drawingml/2006/main">
              <a:ext uri="{FF2B5EF4-FFF2-40B4-BE49-F238E27FC236}">
                <a16:creationId xmlns:a16="http://schemas.microsoft.com/office/drawing/2014/main" id="{82644C8B-0870-486D-9B36-CF49D133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578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Crowd portal: illustrative forecast values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4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f626633a4343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5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b01e37b95d465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6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d3ed24694749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Complete Feature Map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5ad2e9a014f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6A9BC2EF-DE30-42F6-8112-0865C87C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7647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Explore</a:t>
            </a:r>
          </a:p>
        </p:txBody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D5AC6725-B1DB-4653-B39A-CB5EC3CE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Overview dashboard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26DA009B-E35F-4ECB-99B1-43CB6C4E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38475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3D Nashik-Trimbakeshwar place guide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28B13131-41E0-47CF-AC26-4B3B977F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Area map with camera and incident markers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3A3F12DB-0C23-4BF2-A9E0-5C754466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81425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Shelters and holding capacity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CAF22BE0-AFE2-4337-831E-9953B7EF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Monitor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B5A77D4E-572A-43EB-B152-4F59408A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Camera vision and crowd forecasts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89BFDA6F-E440-44D2-A549-D0E3500B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Public reports and claim verification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E1F263DC-7605-4A66-814E-180B2891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9725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Sentiment pulse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87B61B0F-6350-4641-9045-EA24694B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Respond</a:t>
            </a:r>
          </a:p>
        </p:txBody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EE7D3FA2-39B7-4356-B558-3B172095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670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Incident list, detail and evidence graph</a:t>
            </a:r>
          </a:p>
        </p:txBody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BA687B49-1FEF-423E-857F-E41309B5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384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Response resources and dispatch review</a:t>
            </a:r>
          </a:p>
        </p:txBody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2A529508-EA76-4BB6-9A6E-23035AEE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099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Multilingual broadcast studio</a:t>
            </a:r>
          </a:p>
        </p:txBody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ACD9911C-2A8F-4DE3-AFD1-98E54EDD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Understand and assist</a:t>
            </a:r>
          </a:p>
        </p:txBody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B29DDC1F-7202-43AD-B01D-97BCB4E5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52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AI model registry and executive brief</a:t>
            </a:r>
          </a:p>
        </p:txBody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3E2139E1-2BCF-4CCF-AA8E-05805593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244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Lost-person assistance demo</a:t>
            </a:r>
          </a:p>
        </p:txBody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FEDF2639-394A-4ACF-AB90-1DFD78DE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95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Command copilot</a:t>
            </a:r>
          </a:p>
        </p:txBody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249889BD-E147-4E6B-998D-F911B9CE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4673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16-step simulation and scenario lab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1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76d567b8eb4e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2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1fc9f4a25d40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3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049da508ea47f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Place &amp; Monitoring Portals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3c7c1cc3446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8DDDAF10-0A37-4F0D-B20E-9746AC1B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95525"/>
            <a:ext cx="471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3D place guide and map</a:t>
            </a:r>
          </a:p>
        </p:txBody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A4A340BB-3D7B-44D6-91FF-D42EB5AB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Two scenes explain Nashik and Trimbakeshwar.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003E5D2E-B991-43D2-8639-297F2B41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Click a place to open its linked feature portal.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12E08B1B-4512-4A31-9ED0-6869D7C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Area map shows camera and incident context.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299F85A4-4919-49F6-A010-36415990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71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Shelter and camera views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B837CCE0-8B5E-43D0-B5E6-C2C67765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Shelters show listed capacity and occupancy.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DE4D913E-B8F6-4017-B3F4-A5C600D0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244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Camera grid opens observation and event views.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9D969C58-220E-41A7-A617-CD566B50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Crowd portal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DA196F1C-EE01-4B0D-AFCD-CD03B8E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86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15, 30 and 60-minute forecast cards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47D77F65-9D7E-4CDE-87E6-DB92BA68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67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Holding-area buffer and surge indicators</a:t>
            </a:r>
          </a:p>
        </p:txBody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39A0CF1D-59D4-4D61-AAF3-9EAC623F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Values are simulated for the current demo.</a:t>
            </a:r>
          </a:p>
        </p:txBody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81F2431F-AA37-4715-8832-EF8F50D6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Operator overview</a:t>
            </a:r>
          </a:p>
        </p:txBody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3F7FC348-6A22-4749-8EE9-E265EC02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434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KPIs, place signals and incident alerts</a:t>
            </a:r>
          </a:p>
        </p:txBody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0A091DE8-A801-4B20-9E74-E05ABA38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244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Feature guide explains every portal.</a:t>
            </a:r>
          </a:p>
        </p:txBody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DE488ED8-76D1-4517-9CD2-7FD42C69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245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rPr>
              <a:t>3D landmarks are explanatory. Approved 2027 GIS is needed before operational use.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6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eea54095c04e0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7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080f09e65841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8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59b36cc09e42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Social Intelligence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7aa8613944a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61f3d1a7b48a9"/>
          <a:stretch xmlns:a="http://schemas.openxmlformats.org/drawingml/2006/main"/>
        </p:blipFill>
        <p:spPr>
          <a:xfrm xmlns:a="http://schemas.openxmlformats.org/drawingml/2006/main">
            <a:off x="1381125" y="2379001"/>
            <a:ext cx="5810250" cy="3566848"/>
          </a:xfrm>
          <a:prstGeom xmlns:a="http://schemas.openxmlformats.org/drawingml/2006/main" prst="rect">
            <a:avLst/>
          </a:prstGeom>
        </p:spPr>
      </p:pic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C94AB42A-5E76-409E-B4B1-CBED9E44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050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Public reports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CF131122-978F-4A26-8C28-D56EA93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67000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Mock social feed with status filters and triage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1AB25E36-1042-4195-85B0-CAA775BE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38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Claim verification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45D347AF-2AE3-42B7-876F-F1168782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004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Review location, camera evidence and uncertainty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F887A0C6-61A9-412E-B0B4-352F10F3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243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Sentiment pulse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8544D79D-2D7D-4A88-8AA2-CBED01DA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86300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Public-concern trends and emerging issues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A76F9AC2-5150-4D9E-B90A-77462989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959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Broadcast studio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88D1D8F3-45F8-4C9C-B5BD-3A83B620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657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Draft Hindi, Marathi, Gujarati and English advisories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16D7714F-B3F5-4423-A95C-00859EEA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191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rPr>
              <a:t>Actual portal screenshot. Feed and verification cases are demo data; no external advisory is published.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9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4d10dd364d4e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0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279d92bfb640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1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62d66df9194b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Incident Response Features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fafef222c4e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D4C98163-6C55-4422-A024-CE789AC1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Incident review</a:t>
            </a:r>
          </a:p>
        </p:txBody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27F73204-E827-49A8-A1FC-618CD132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List and detail pages show severity, risk and evidence.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8D7BD74F-9033-4C56-AC86-3C8294DB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Evidence graph links reports, cameras and actions.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88C7D1BD-617E-49A6-85BF-AA68351D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67175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Resources and shelters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D538F6F9-8614-4467-9ADC-CD12E319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481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Review available teams and nearest-unit suggestions.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1E018364-8F03-4583-A3AC-9BB12976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815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Check shelter capacity and overflow pressure.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1196304C-125B-4265-9E44-1BB81C1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Human-controlled response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9BE47ED7-971C-46D8-A30E-4E91AED0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86050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Recommendation and confirmation are separate steps.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F223DB9A-8EF9-4DAA-8E0A-0D2AF873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19450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Dispatch decisions can be recorded in an audit trail.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6B2751F4-6A4C-41CC-A289-2BC1DA6D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Additional assistance</a:t>
            </a:r>
          </a:p>
        </p:txBody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B3C060B9-56A8-4668-B051-86B39594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481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Lost-person demo uses clothing and sighting attributes.</a:t>
            </a:r>
          </a:p>
        </p:txBody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DCDEFFDF-4657-4646-84EF-463BB102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815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Alerts, advisories and copilot support operator review.</a:t>
            </a:r>
          </a:p>
        </p:txBody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E1A4B401-725F-475F-BA02-93FCB4D4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626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rPr>
              <a:t>The platform does not autonomously send field teams or publish a public alert.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5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03731fb7dc48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6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7697cc935848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7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a5d6ff0b2e4b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Simulation &amp; Scenario Lab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85db08c9c48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e5e1a0b4747e2"/>
          <a:stretch xmlns:a="http://schemas.openxmlformats.org/drawingml/2006/main"/>
        </p:blipFill>
        <p:spPr>
          <a:xfrm xmlns:a="http://schemas.openxmlformats.org/drawingml/2006/main">
            <a:off x="1381125" y="2517430"/>
            <a:ext cx="5857875" cy="3594791"/>
          </a:xfrm>
          <a:prstGeom xmlns:a="http://schemas.openxmlformats.org/drawingml/2006/main" prst="rect">
            <a:avLst/>
          </a:prstGeom>
        </p:spPr>
      </p:pic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53840CA4-EFC3-471D-9A39-A6EC4177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05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16-step timeline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647780DD-952F-4E12-ABB2-57F08B1A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Start, pause, resume, reset and speed controls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FB146C11-1EF3-4844-BAFB-4E66051B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61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Seven demo injections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3E55366E-F46D-43FB-A1C0-59DFAE7B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Fire, crowd surge, rumor and recycled video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DCEAC8EF-7423-4805-B857-FE3F2F14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91025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Bottleneck, shelter overflow and geotag claim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9CBE76C8-72AE-414B-8507-1C12AE2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1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Event telemetry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7A8172C2-151E-4B45-9E7E-65B846C6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81650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Scenario updates appear in the live demo log.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A6676DBE-A9F7-4D52-84B0-B5D6E3F8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296025"/>
            <a:ext cx="1004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66771"/>
                </a:solidFill>
                <a:latin typeface="Times New Roman"/>
                <a:ea typeface="Times New Roman"/>
                <a:cs typeface="Times New Roman"/>
              </a:rPr>
              <a:t>All scenario events are simulated. The 3D place guide remains separate from the event timeline.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1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9e740193d94e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2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73d28525554d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3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f9267fed3149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AI Modules &amp; Prototype Status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20297cc0746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C3915F74-7497-4A5F-ABC9-57642525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764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Processing modules</a:t>
            </a:r>
          </a:p>
        </p:txBody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09434EA5-46AC-4A5A-9930-CB043AAB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Camera-event and fire/smoke heuristics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097179F3-8E4B-43B0-B1B7-0A96F7E1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Crowd forecasting and explainable risk scoring</a:t>
            </a:r>
          </a:p>
        </p:txBody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C500BE51-8BD1-4864-A59B-55133F3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Social triage, clustering and recycled-media checks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639E9672-169B-4933-B4DD-490390D7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Claim-evidence comparison for human review</a:t>
            </a:r>
          </a:p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9DA707BA-0F93-4A2D-B6E0-3089489F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720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Platform engineering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FADC64BD-DEFC-4ACA-B476-AE1EC0CF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6252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FastAPI, Next.js and WebSocket updates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2D433ABD-9233-45AF-877E-D8385655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43525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Firestore adapter with in-memory demo fallback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59193B04-E840-4340-AEBC-1F89765E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Operator tools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B655B2F7-DF0D-47B4-A5C1-BBDE8AAD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6700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AI model registry and status view</a:t>
            </a:r>
          </a:p>
        </p:txBody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0B91CE39-3C08-4F4A-AAFD-9FDB1F54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4800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Executive brief and readiness summary</a:t>
            </a:r>
          </a:p>
        </p:txBody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25062491-01E2-4D53-9A9F-C03E2B3E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29000"/>
            <a:ext cx="442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Command copilot with guided demo prompts</a:t>
            </a:r>
          </a:p>
        </p:txBody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4C880029-51F5-41FC-B6D3-37525342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4D20"/>
                </a:solidFill>
                <a:latin typeface="Times New Roman"/>
                <a:ea typeface="Times New Roman"/>
                <a:cs typeface="Times New Roman"/>
              </a:rPr>
              <a:t>Field-use boundary</a:t>
            </a:r>
          </a:p>
        </p:txBody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A2A7B493-B25B-4118-829B-8F8A216C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62525"/>
            <a:ext cx="442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No live Kumbh CCTV or official 2027 site plan</a:t>
            </a:r>
          </a:p>
        </p:txBody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4B218722-CF09-4EB6-A46A-A655E87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391150"/>
            <a:ext cx="442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E3340"/>
                </a:solidFill>
                <a:latin typeface="Times New Roman"/>
                <a:ea typeface="Times New Roman"/>
                <a:cs typeface="Times New Roman"/>
              </a:rPr>
              <a:t>Mock social feed; no automatic dispatch or posting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6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d5cd86fc4845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7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aa4e1149fb478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3b4fd7e1814d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Results  </a:t>
            </a:r>
          </a:p>
        </p:txBody>
      </p:sp>
      <p:pic>
        <p:nvPicPr>
          <p:cNvPr id="10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de5495f3b48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Demonstrated Outcomes (Prototype)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local simulation starts, pauses and accepts a test fire event with telemetry logging.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3D Nashik guide links Ramkund to its crowd portal; Trimbakeshwar has a separate scene.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crowd page shows example 15, 30 and 60-minute forecast cards.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overview explains how to explore, monitor and respond across the available portals.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Six core backend tests passed in the local demo environment.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Scope of Current Results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These are software-demo results. Locations, event values and forecasts are illustrative, with no field-performance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dec8e9ab6f4f9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cc324597cb4c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f9f703547f42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4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fe50ded010449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34697" y="157876"/>
            <a:ext cx="6471384" cy="11708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78BD2545-B7FB-4D82-B904-5D489BDEEE7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4683224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02" name="TextBox 1002">
            <a:extLst xmlns:a="http://schemas.openxmlformats.org/drawingml/2006/main">
              <a:ext uri="{FF2B5EF4-FFF2-40B4-BE49-F238E27FC236}">
                <a16:creationId xmlns:a16="http://schemas.microsoft.com/office/drawing/2014/main" id="{2CDF01F0-5F45-476B-8626-A09B881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33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Prioritised Roadmap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Replace schematic pins with approved 2027 GIS, ghat and facility coordinates.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 permissioned CCTV, incident feeds and validated crowd counts.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Measure false alerts, model accuracy and response latency with local operators.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audit logs, access control and human approval for public advisories.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 multilingual and low-connectivity guidance with pilgrims and volunteers.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 a staged pilot before any operational or emergency use.</a:t>
            </a:r>
          </a:p>
        </p:txBody>
      </p:sp>
    </p:spTree>
    <p:extLst>
      <p:ext uri="{BB962C8B-B14F-4D97-AF65-F5344CB8AC3E}">
        <p14:creationId xmlns:p14="http://schemas.microsoft.com/office/powerpoint/2010/main" val="227489047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8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692ef377ab41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5cec369da043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20ac45239546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789CF808-4FF3-4BFE-9550-5376D96B241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722" y="1762779"/>
            <a:ext cx="4683224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b8639cfca42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3" name="TextBox 1003">
            <a:extLst xmlns:a="http://schemas.openxmlformats.org/drawingml/2006/main">
              <a:ext uri="{FF2B5EF4-FFF2-40B4-BE49-F238E27FC236}">
                <a16:creationId xmlns:a16="http://schemas.microsoft.com/office/drawing/2014/main" id="{25D3716C-5B4E-4CB7-8D03-CC096F0C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57" y="237478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Nashik District Administration. Ramkund Nashik: official landmark information.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Nashik District Administration. Kushavart Tirtha, Trimbakeshwar: official landmark information.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Kanaujiya, A.K. &amp; Tiwari, V. (2022). Crowd management and security at Prayagraj Kumbh Mela 2019. National Academy Science Letters.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Tiwari, S. &amp; Chowdhary, R. (2022). Technology and crowd management: Kumbh case study.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JMIR Infodemiology (2025). Narrative review of disaster misinformation on social media.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KumbhRakshak project code and local demo, accessed 3 October 2026.</a:t>
            </a:r>
          </a:p>
        </p:txBody>
      </p:sp>
    </p:spTree>
    <p:extLst>
      <p:ext uri="{BB962C8B-B14F-4D97-AF65-F5344CB8AC3E}">
        <p14:creationId xmlns:p14="http://schemas.microsoft.com/office/powerpoint/2010/main" val="146968795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6" name="Google Shape;156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916f61f13a40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7" name="Google Shape;15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fa9d8acdae42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8" name="Google Shape;15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287ae8a33c43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0" name="Google Shape;160;p20">
            <a:extLst xmlns:a="http://schemas.openxmlformats.org/drawingml/2006/main">
              <a:ext uri="{FF2B5EF4-FFF2-40B4-BE49-F238E27FC236}">
                <a16:creationId xmlns:a16="http://schemas.microsoft.com/office/drawing/2014/main" id="{73EEA3B5-2BD8-4214-A6EF-23BBD74E9F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61" name="Google Shape;161;p20">
            <a:extLst xmlns:a="http://schemas.openxmlformats.org/drawingml/2006/main">
              <a:ext uri="{FF2B5EF4-FFF2-40B4-BE49-F238E27FC236}">
                <a16:creationId xmlns:a16="http://schemas.microsoft.com/office/drawing/2014/main" id="{98569169-C473-4001-BF1A-42C5F9A0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558" y="2902828"/>
            <a:ext cx="4162883" cy="105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6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  <a:endParaRPr sz="60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7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b64c91e7346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42501659"/>
      </p:ext>
    </p:extLst>
  </p:cSld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2026-10-03T17:40:50.9350000Z</dcterms:created>
  <dcterms:modified xsi:type="dcterms:W3CDTF">2026-10-03T17:40:50.9350000Z</dcterms:modified>
</coreProperties>
</file>