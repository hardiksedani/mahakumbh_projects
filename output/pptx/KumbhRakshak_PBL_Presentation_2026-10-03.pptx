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34afc260e7492d" /><Relationship Type="http://schemas.openxmlformats.org/officeDocument/2006/relationships/extended-properties" Target="/docProps/app.xml" Id="R019d5c06cffb426c" /><Relationship Type="http://schemas.openxmlformats.org/officeDocument/2006/relationships/officeDocument" Target="/ppt/presentation.xml" Id="Rb7a32e4545cd4d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2266d8dd2f4cb4"/>
  </p:sldMasterIdLst>
  <p:notesMasterIdLst>
    <p:notesMasterId xmlns:r="http://schemas.openxmlformats.org/officeDocument/2006/relationships" r:id="R93ff4a7f3a4a4086"/>
  </p:notesMasterIdLst>
  <p:sldIdLst>
    <p:sldId xmlns:r="http://schemas.openxmlformats.org/officeDocument/2006/relationships" id="256" r:id="Rc34455d2735a49ab"/>
    <p:sldId xmlns:r="http://schemas.openxmlformats.org/officeDocument/2006/relationships" id="257" r:id="R2d505015bb084f09"/>
    <p:sldId xmlns:r="http://schemas.openxmlformats.org/officeDocument/2006/relationships" id="258" r:id="Re1d6c0a0463445a5"/>
    <p:sldId xmlns:r="http://schemas.openxmlformats.org/officeDocument/2006/relationships" id="259" r:id="R0ff40580b47b49ea"/>
    <p:sldId xmlns:r="http://schemas.openxmlformats.org/officeDocument/2006/relationships" id="260" r:id="R71c8eee10441467d"/>
    <p:sldId xmlns:r="http://schemas.openxmlformats.org/officeDocument/2006/relationships" id="261" r:id="Re85b57b7c27248b5"/>
    <p:sldId xmlns:r="http://schemas.openxmlformats.org/officeDocument/2006/relationships" id="262" r:id="R5f782a68fe4c4554"/>
    <p:sldId xmlns:r="http://schemas.openxmlformats.org/officeDocument/2006/relationships" id="263" r:id="R8f5475d0b4f946cd"/>
    <p:sldId xmlns:r="http://schemas.openxmlformats.org/officeDocument/2006/relationships" id="264" r:id="Rf97a8991b97b4faf"/>
    <p:sldId xmlns:r="http://schemas.openxmlformats.org/officeDocument/2006/relationships" id="265" r:id="R2e725c7b52654e6c"/>
    <p:sldId xmlns:r="http://schemas.openxmlformats.org/officeDocument/2006/relationships" id="266" r:id="R65e56f4294af4b7d"/>
    <p:sldId xmlns:r="http://schemas.openxmlformats.org/officeDocument/2006/relationships" id="267" r:id="R188dfb7d624e456a"/>
    <p:sldId xmlns:r="http://schemas.openxmlformats.org/officeDocument/2006/relationships" id="268" r:id="Rf666db14dd244f63"/>
    <p:sldId xmlns:r="http://schemas.openxmlformats.org/officeDocument/2006/relationships" id="269" r:id="Rf8aa2ed3aa7546bf"/>
    <p:sldId xmlns:r="http://schemas.openxmlformats.org/officeDocument/2006/relationships" id="270" r:id="Rb0349275408e4569"/>
    <p:sldId xmlns:r="http://schemas.openxmlformats.org/officeDocument/2006/relationships" id="271" r:id="R3cf1c33af42b49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d3f568cd6c4dc4" /><Relationship Type="http://schemas.openxmlformats.org/officeDocument/2006/relationships/slideMaster" Target="/ppt/slideMasters/slideMaster1.xml" Id="Ree2266d8dd2f4cb4" /><Relationship Type="http://schemas.openxmlformats.org/officeDocument/2006/relationships/notesMaster" Target="/ppt/notesMasters/notesMaster1.xml" Id="R93ff4a7f3a4a4086" /><Relationship Type="http://schemas.openxmlformats.org/officeDocument/2006/relationships/presProps" Target="/ppt/presProps.xml" Id="Ra7aba257d6f443e8" /><Relationship Type="http://schemas.openxmlformats.org/officeDocument/2006/relationships/viewProps" Target="/ppt/viewProps.xml" Id="R4395d5bf2a504bd1" /><Relationship Type="http://schemas.openxmlformats.org/officeDocument/2006/relationships/tableStyles" Target="/ppt/tableStyles.xml" Id="R76aa248470e744fe" /><Relationship Type="http://schemas.openxmlformats.org/officeDocument/2006/relationships/slide" Target="/ppt/slides/slide1.xml" Id="Rc34455d2735a49ab" /><Relationship Type="http://schemas.openxmlformats.org/officeDocument/2006/relationships/slide" Target="/ppt/slides/slide2.xml" Id="R2d505015bb084f09" /><Relationship Type="http://schemas.openxmlformats.org/officeDocument/2006/relationships/slide" Target="/ppt/slides/slide3.xml" Id="Re1d6c0a0463445a5" /><Relationship Type="http://schemas.openxmlformats.org/officeDocument/2006/relationships/slide" Target="/ppt/slides/slide4.xml" Id="R0ff40580b47b49ea" /><Relationship Type="http://schemas.openxmlformats.org/officeDocument/2006/relationships/slide" Target="/ppt/slides/slide5.xml" Id="R71c8eee10441467d" /><Relationship Type="http://schemas.openxmlformats.org/officeDocument/2006/relationships/slide" Target="/ppt/slides/slide6.xml" Id="Re85b57b7c27248b5" /><Relationship Type="http://schemas.openxmlformats.org/officeDocument/2006/relationships/slide" Target="/ppt/slides/slide7.xml" Id="R5f782a68fe4c4554" /><Relationship Type="http://schemas.openxmlformats.org/officeDocument/2006/relationships/slide" Target="/ppt/slides/slide8.xml" Id="R8f5475d0b4f946cd" /><Relationship Type="http://schemas.openxmlformats.org/officeDocument/2006/relationships/slide" Target="/ppt/slides/slide9.xml" Id="Rf97a8991b97b4faf" /><Relationship Type="http://schemas.openxmlformats.org/officeDocument/2006/relationships/slide" Target="/ppt/slides/slide10.xml" Id="R2e725c7b52654e6c" /><Relationship Type="http://schemas.openxmlformats.org/officeDocument/2006/relationships/slide" Target="/ppt/slides/slide11.xml" Id="R65e56f4294af4b7d" /><Relationship Type="http://schemas.openxmlformats.org/officeDocument/2006/relationships/slide" Target="/ppt/slides/slide12.xml" Id="R188dfb7d624e456a" /><Relationship Type="http://schemas.openxmlformats.org/officeDocument/2006/relationships/slide" Target="/ppt/slides/slide13.xml" Id="Rf666db14dd244f63" /><Relationship Type="http://schemas.openxmlformats.org/officeDocument/2006/relationships/slide" Target="/ppt/slides/slide14.xml" Id="Rf8aa2ed3aa7546bf" /><Relationship Type="http://schemas.openxmlformats.org/officeDocument/2006/relationships/slide" Target="/ppt/slides/slide15.xml" Id="Rb0349275408e4569" /><Relationship Type="http://schemas.openxmlformats.org/officeDocument/2006/relationships/slide" Target="/ppt/slides/slide16.xml" Id="R3cf1c33af42b49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7d34f1107f47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3000d9fff749c7" /><Relationship Type="http://schemas.openxmlformats.org/officeDocument/2006/relationships/notesMaster" Target="/ppt/notesMasters/notesMaster1.xml" Id="Rbbfe5c23816247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c25e59796045d6" /><Relationship Type="http://schemas.openxmlformats.org/officeDocument/2006/relationships/notesMaster" Target="/ppt/notesMasters/notesMaster1.xml" Id="Ra8dde013dd6042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8c00ac93b147f6" /><Relationship Type="http://schemas.openxmlformats.org/officeDocument/2006/relationships/notesMaster" Target="/ppt/notesMasters/notesMaster1.xml" Id="R7b58067748194b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984f7f8b2d4d5f" /><Relationship Type="http://schemas.openxmlformats.org/officeDocument/2006/relationships/notesMaster" Target="/ppt/notesMasters/notesMaster1.xml" Id="R60f2d36652d741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076d764fb74395" /><Relationship Type="http://schemas.openxmlformats.org/officeDocument/2006/relationships/notesMaster" Target="/ppt/notesMasters/notesMaster1.xml" Id="R4eb509c2347c4d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18f82c314842ff" /><Relationship Type="http://schemas.openxmlformats.org/officeDocument/2006/relationships/notesMaster" Target="/ppt/notesMasters/notesMaster1.xml" Id="R2b297ece5df24a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d338a36eb447b3" /><Relationship Type="http://schemas.openxmlformats.org/officeDocument/2006/relationships/notesMaster" Target="/ppt/notesMasters/notesMaster1.xml" Id="Rf69991c7e0594f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b76a90cefb4aff" /><Relationship Type="http://schemas.openxmlformats.org/officeDocument/2006/relationships/notesMaster" Target="/ppt/notesMasters/notesMaster1.xml" Id="R12887de968ef40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a89df8e18d4311" /><Relationship Type="http://schemas.openxmlformats.org/officeDocument/2006/relationships/notesMaster" Target="/ppt/notesMasters/notesMaster1.xml" Id="R94e937d381f540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1b700905ab40be" /><Relationship Type="http://schemas.openxmlformats.org/officeDocument/2006/relationships/notesMaster" Target="/ppt/notesMasters/notesMaster1.xml" Id="R5bb44214018f42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a730c875b74cda" /><Relationship Type="http://schemas.openxmlformats.org/officeDocument/2006/relationships/notesMaster" Target="/ppt/notesMasters/notesMaster1.xml" Id="Rbd2cde2824f242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11d8aaa12147a2" /><Relationship Type="http://schemas.openxmlformats.org/officeDocument/2006/relationships/notesMaster" Target="/ppt/notesMasters/notesMaster1.xml" Id="R8765b447166341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feb85db3ca4226" /><Relationship Type="http://schemas.openxmlformats.org/officeDocument/2006/relationships/notesMaster" Target="/ppt/notesMasters/notesMaster1.xml" Id="R3a56ba2d20cb4d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6b62a30d7a4b1f" /><Relationship Type="http://schemas.openxmlformats.org/officeDocument/2006/relationships/notesMaster" Target="/ppt/notesMasters/notesMaster1.xml" Id="Ra61e07a43aa944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1c9d2788e648d5" /><Relationship Type="http://schemas.openxmlformats.org/officeDocument/2006/relationships/notesMaster" Target="/ppt/notesMasters/notesMaster1.xml" Id="Rd7f637cdc86d4c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6d349f4a7745a1" /><Relationship Type="http://schemas.openxmlformats.org/officeDocument/2006/relationships/notesMaster" Target="/ppt/notesMasters/notesMaster1.xml" Id="Rbe8797a4805740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Screenshots captured from the local KumbhRakshak demo on 3 October 2026. Both 3D scenes are schematic and must not be used as an official site plan or emergency route.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Screenshots captured from the local KumbhRakshak demo on 3 October 2026. Dashboard indicators and forecast values shown are simulated, not measured field data.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Reference links for slide 15: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https://nashik.gov.in/en/tourist-place/ramkund-nashik/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https://nashik.gov.in/en/tourist-place/kushavart-tirtha-trimbakeshwar/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https://link.springer.com/article/10.1007/s40009-022-01114-w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>https://github.com/hardiksedani/mahakumbh_projects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65b7fbcc346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d1ba41432b44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71857ea60348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92ce1f822d4b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cb53e74cdd43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7a4939300403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282c722ba4af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eda703031427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44be72d1184edc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944F541C-BFE4-4BB5-971C-F51280D477B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6C11195A-1C32-4894-9AAF-91B9683B85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2">
            <a:extLst xmlns:a="http://schemas.openxmlformats.org/drawingml/2006/main">
              <a:ext uri="{FF2B5EF4-FFF2-40B4-BE49-F238E27FC236}">
                <a16:creationId xmlns:a16="http://schemas.microsoft.com/office/drawing/2014/main" id="{5959B17F-0C1C-44F4-837E-76E8B6A7D5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2">
            <a:extLst xmlns:a="http://schemas.openxmlformats.org/drawingml/2006/main">
              <a:ext uri="{FF2B5EF4-FFF2-40B4-BE49-F238E27FC236}">
                <a16:creationId xmlns:a16="http://schemas.microsoft.com/office/drawing/2014/main" id="{F45D7A69-BBFC-4682-B20B-77321F500D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2">
            <a:extLst xmlns:a="http://schemas.openxmlformats.org/drawingml/2006/main">
              <a:ext uri="{FF2B5EF4-FFF2-40B4-BE49-F238E27FC236}">
                <a16:creationId xmlns:a16="http://schemas.microsoft.com/office/drawing/2014/main" id="{17E14669-62DB-4E20-9952-052F4BB4E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5">
            <a:extLst xmlns:a="http://schemas.openxmlformats.org/drawingml/2006/main">
              <a:ext uri="{FF2B5EF4-FFF2-40B4-BE49-F238E27FC236}">
                <a16:creationId xmlns:a16="http://schemas.microsoft.com/office/drawing/2014/main" id="{54DF789B-D65E-42D0-99F2-A4C148EFC5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Google Shape;35;p5">
            <a:extLst xmlns:a="http://schemas.openxmlformats.org/drawingml/2006/main">
              <a:ext uri="{FF2B5EF4-FFF2-40B4-BE49-F238E27FC236}">
                <a16:creationId xmlns:a16="http://schemas.microsoft.com/office/drawing/2014/main" id="{B736A3DD-D272-44A7-AE22-AF9618B54F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6" name="Google Shape;36;p5">
            <a:extLst xmlns:a="http://schemas.openxmlformats.org/drawingml/2006/main">
              <a:ext uri="{FF2B5EF4-FFF2-40B4-BE49-F238E27FC236}">
                <a16:creationId xmlns:a16="http://schemas.microsoft.com/office/drawing/2014/main" id="{4DBFC41C-4726-475D-B67D-C3A33D25A4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7" name="Google Shape;37;p5">
            <a:extLst xmlns:a="http://schemas.openxmlformats.org/drawingml/2006/main">
              <a:ext uri="{FF2B5EF4-FFF2-40B4-BE49-F238E27FC236}">
                <a16:creationId xmlns:a16="http://schemas.microsoft.com/office/drawing/2014/main" id="{665F6192-81A8-40D9-9211-ABF59E3329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5">
            <a:extLst xmlns:a="http://schemas.openxmlformats.org/drawingml/2006/main">
              <a:ext uri="{FF2B5EF4-FFF2-40B4-BE49-F238E27FC236}">
                <a16:creationId xmlns:a16="http://schemas.microsoft.com/office/drawing/2014/main" id="{0B55BD71-C003-4E14-9711-32EDF5B2AB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A3FC4297-E435-42B8-9DF5-1DF8B61E01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D53FBCA4-C43D-48EA-9E49-617E41E24B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D3A1F2E4-6C58-444A-96C1-5113D4FE55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6">
            <a:extLst xmlns:a="http://schemas.openxmlformats.org/drawingml/2006/main">
              <a:ext uri="{FF2B5EF4-FFF2-40B4-BE49-F238E27FC236}">
                <a16:creationId xmlns:a16="http://schemas.microsoft.com/office/drawing/2014/main" id="{8AC150D0-3F66-408C-802A-E9543AB492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6">
            <a:extLst xmlns:a="http://schemas.openxmlformats.org/drawingml/2006/main">
              <a:ext uri="{FF2B5EF4-FFF2-40B4-BE49-F238E27FC236}">
                <a16:creationId xmlns:a16="http://schemas.microsoft.com/office/drawing/2014/main" id="{452B8CD5-1EB0-488B-9F90-A46FDBD44B1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6">
            <a:extLst xmlns:a="http://schemas.openxmlformats.org/drawingml/2006/main">
              <a:ext uri="{FF2B5EF4-FFF2-40B4-BE49-F238E27FC236}">
                <a16:creationId xmlns:a16="http://schemas.microsoft.com/office/drawing/2014/main" id="{DC81755B-4407-49C5-87FD-9EDEB506129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6">
            <a:extLst xmlns:a="http://schemas.openxmlformats.org/drawingml/2006/main">
              <a:ext uri="{FF2B5EF4-FFF2-40B4-BE49-F238E27FC236}">
                <a16:creationId xmlns:a16="http://schemas.microsoft.com/office/drawing/2014/main" id="{EB3E76B8-3029-4D73-9AEB-8A083B8DAD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6">
            <a:extLst xmlns:a="http://schemas.openxmlformats.org/drawingml/2006/main">
              <a:ext uri="{FF2B5EF4-FFF2-40B4-BE49-F238E27FC236}">
                <a16:creationId xmlns:a16="http://schemas.microsoft.com/office/drawing/2014/main" id="{49C8A92D-70EB-4BE4-9210-6C9B5CC69C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6">
            <a:extLst xmlns:a="http://schemas.openxmlformats.org/drawingml/2006/main">
              <a:ext uri="{FF2B5EF4-FFF2-40B4-BE49-F238E27FC236}">
                <a16:creationId xmlns:a16="http://schemas.microsoft.com/office/drawing/2014/main" id="{6255B854-69EA-4835-87FD-B62D0F1F1A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3723ADD7-D2A6-4EEF-B55C-89A2D6382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7">
            <a:extLst xmlns:a="http://schemas.openxmlformats.org/drawingml/2006/main">
              <a:ext uri="{FF2B5EF4-FFF2-40B4-BE49-F238E27FC236}">
                <a16:creationId xmlns:a16="http://schemas.microsoft.com/office/drawing/2014/main" id="{1F639387-30C2-4352-AC2A-B82ED5FCC6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7">
            <a:extLst xmlns:a="http://schemas.openxmlformats.org/drawingml/2006/main">
              <a:ext uri="{FF2B5EF4-FFF2-40B4-BE49-F238E27FC236}">
                <a16:creationId xmlns:a16="http://schemas.microsoft.com/office/drawing/2014/main" id="{22C98663-6FBE-4662-82EE-6DB340944E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Google Shape;53;p7">
            <a:extLst xmlns:a="http://schemas.openxmlformats.org/drawingml/2006/main">
              <a:ext uri="{FF2B5EF4-FFF2-40B4-BE49-F238E27FC236}">
                <a16:creationId xmlns:a16="http://schemas.microsoft.com/office/drawing/2014/main" id="{912F5826-0833-4C67-BBA9-F82304848E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4CEA5E92-A86A-4F57-81B4-DA8B148B14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D54BA214-4535-404C-B7C6-682E465369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8">
            <a:extLst xmlns:a="http://schemas.openxmlformats.org/drawingml/2006/main">
              <a:ext uri="{FF2B5EF4-FFF2-40B4-BE49-F238E27FC236}">
                <a16:creationId xmlns:a16="http://schemas.microsoft.com/office/drawing/2014/main" id="{0D2B0CE7-B247-4FB8-A4CC-56A0E5549F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7E5E02B3-EABC-4B33-B705-AC788E9787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6B49C2A5-DD7D-49E2-A70B-C32A740C04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E6801EB2-29A7-4AFE-BEB6-9A3311383F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0B1168F4-9BD3-4440-A4A6-3C5F4A5781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A3A802FC-F885-4D3D-8AAC-6215820645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CD30B97C-DDF0-4A46-A5B2-1418DDF711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7E155D92-80DB-4A48-81ED-CB1DA361EF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BB55F2FE-8227-4943-92CB-72AE2419540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94788971-E310-4CCE-81EF-11B6B10972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69" name="Google Shape;69;p10">
            <a:extLst xmlns:a="http://schemas.openxmlformats.org/drawingml/2006/main">
              <a:ext uri="{FF2B5EF4-FFF2-40B4-BE49-F238E27FC236}">
                <a16:creationId xmlns:a16="http://schemas.microsoft.com/office/drawing/2014/main" id="{97DE4E4F-D7C9-489B-978A-4F3492D580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F9A0683-140F-43D5-91A4-45AF07F68E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D4A8462A-CD44-4EC2-BDAE-6E3EB520E3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892ED199-B42F-404B-8D62-7B5BB391C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4" name="Google Shape;74;p11">
            <a:extLst xmlns:a="http://schemas.openxmlformats.org/drawingml/2006/main">
              <a:ext uri="{FF2B5EF4-FFF2-40B4-BE49-F238E27FC236}">
                <a16:creationId xmlns:a16="http://schemas.microsoft.com/office/drawing/2014/main" id="{C8F6A32B-8690-43BB-815E-C6A5B4F11B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3FCC729C-C7A0-4C6F-9CF0-FDF800865A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CA37DCF8-C401-48B0-B223-4A5C63A2D6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8DE7AD0B-3EBD-4DBB-B2D5-F0F21D9B3E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F641E407-2E3F-4AF7-B1C1-2491A28AD9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0" name="Google Shape;80;p12">
            <a:extLst xmlns:a="http://schemas.openxmlformats.org/drawingml/2006/main">
              <a:ext uri="{FF2B5EF4-FFF2-40B4-BE49-F238E27FC236}">
                <a16:creationId xmlns:a16="http://schemas.microsoft.com/office/drawing/2014/main" id="{14FBD8E0-3FA1-42DD-8AEA-A72FB3632B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1" name="Google Shape;81;p12">
            <a:extLst xmlns:a="http://schemas.openxmlformats.org/drawingml/2006/main">
              <a:ext uri="{FF2B5EF4-FFF2-40B4-BE49-F238E27FC236}">
                <a16:creationId xmlns:a16="http://schemas.microsoft.com/office/drawing/2014/main" id="{32176502-08B0-4F22-8DBC-5DCE379266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17395DE1-E8AB-4944-B1B7-DBEB7F0FDC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A606DA8-9E61-4337-BFE6-B39C5C65B1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fddfd90dc64c0d" /><Relationship Type="http://schemas.openxmlformats.org/officeDocument/2006/relationships/slideLayout" Target="/ppt/slideLayouts/slideLayout1.xml" Id="R2c6ab7ca622b41a4" /><Relationship Type="http://schemas.openxmlformats.org/officeDocument/2006/relationships/slideLayout" Target="/ppt/slideLayouts/slideLayout2.xml" Id="R1e89a0b82fa34698" /><Relationship Type="http://schemas.openxmlformats.org/officeDocument/2006/relationships/slideLayout" Target="/ppt/slideLayouts/slideLayout3.xml" Id="R93d5d5c298f149e9" /><Relationship Type="http://schemas.openxmlformats.org/officeDocument/2006/relationships/slideLayout" Target="/ppt/slideLayouts/slideLayout4.xml" Id="R0bb6d90f28644ee1" /><Relationship Type="http://schemas.openxmlformats.org/officeDocument/2006/relationships/slideLayout" Target="/ppt/slideLayouts/slideLayout5.xml" Id="R13e1ca4bbd2245ce" /><Relationship Type="http://schemas.openxmlformats.org/officeDocument/2006/relationships/slideLayout" Target="/ppt/slideLayouts/slideLayout6.xml" Id="Rda73ec2496e1456c" /><Relationship Type="http://schemas.openxmlformats.org/officeDocument/2006/relationships/slideLayout" Target="/ppt/slideLayouts/slideLayout7.xml" Id="Re114bc1feb664aa9" /><Relationship Type="http://schemas.openxmlformats.org/officeDocument/2006/relationships/slideLayout" Target="/ppt/slideLayouts/slideLayout8.xml" Id="R620e526d7abf41be" /><Relationship Type="http://schemas.openxmlformats.org/officeDocument/2006/relationships/slideLayout" Target="/ppt/slideLayouts/slideLayout9.xml" Id="R8476d000e10c4bc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C481F839-37FC-40AB-A294-267EF48613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2AAC4AA9-F27F-40F3-8E71-1C35E0B5F9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0B0B7254-61E5-4D45-9B2C-B59506CA41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1">
            <a:extLst xmlns:a="http://schemas.openxmlformats.org/drawingml/2006/main">
              <a:ext uri="{FF2B5EF4-FFF2-40B4-BE49-F238E27FC236}">
                <a16:creationId xmlns:a16="http://schemas.microsoft.com/office/drawing/2014/main" id="{67D38291-EBEF-4F7F-ABCC-D0575C2299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1">
            <a:extLst xmlns:a="http://schemas.openxmlformats.org/drawingml/2006/main">
              <a:ext uri="{FF2B5EF4-FFF2-40B4-BE49-F238E27FC236}">
                <a16:creationId xmlns:a16="http://schemas.microsoft.com/office/drawing/2014/main" id="{09EC26A4-930E-47CC-BEC7-8A0A05FD1F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6ab7ca622b41a4"/>
    <p:sldLayoutId xmlns:r="http://schemas.openxmlformats.org/officeDocument/2006/relationships" id="2147483650" r:id="R1e89a0b82fa34698"/>
    <p:sldLayoutId xmlns:r="http://schemas.openxmlformats.org/officeDocument/2006/relationships" id="2147483651" r:id="R93d5d5c298f149e9"/>
    <p:sldLayoutId xmlns:r="http://schemas.openxmlformats.org/officeDocument/2006/relationships" id="2147483652" r:id="R0bb6d90f28644ee1"/>
    <p:sldLayoutId xmlns:r="http://schemas.openxmlformats.org/officeDocument/2006/relationships" id="2147483653" r:id="R13e1ca4bbd2245ce"/>
    <p:sldLayoutId xmlns:r="http://schemas.openxmlformats.org/officeDocument/2006/relationships" id="2147483654" r:id="Rda73ec2496e1456c"/>
    <p:sldLayoutId xmlns:r="http://schemas.openxmlformats.org/officeDocument/2006/relationships" id="2147483655" r:id="Re114bc1feb664aa9"/>
    <p:sldLayoutId xmlns:r="http://schemas.openxmlformats.org/officeDocument/2006/relationships" id="2147483656" r:id="R620e526d7abf41be"/>
    <p:sldLayoutId xmlns:r="http://schemas.openxmlformats.org/officeDocument/2006/relationships" id="2147483657" r:id="R8476d000e10c4bc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93c4db466400b" /><Relationship Type="http://schemas.openxmlformats.org/officeDocument/2006/relationships/image" Target="/ppt/media/image.png" Id="R72ce161f0ffb4624" /><Relationship Type="http://schemas.openxmlformats.org/officeDocument/2006/relationships/image" Target="/ppt/media/image2.png" Id="Rfd7f2a191e2b4d56" /><Relationship Type="http://schemas.openxmlformats.org/officeDocument/2006/relationships/image" Target="/ppt/media/image3.png" Id="R3d09ebf3b5d549c5" /><Relationship Type="http://schemas.openxmlformats.org/officeDocument/2006/relationships/image" Target="/ppt/media/image4.png" Id="R641a63d87e7b4aaf" /><Relationship Type="http://schemas.openxmlformats.org/officeDocument/2006/relationships/notesSlide" Target="/ppt/notesSlides/notesSlide1.xml" Id="Recb8df80b5674c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c262c30fe46bb" /><Relationship Type="http://schemas.openxmlformats.org/officeDocument/2006/relationships/image" Target="/ppt/media/image.png" Id="Rac17b38f3c5b4b17" /><Relationship Type="http://schemas.openxmlformats.org/officeDocument/2006/relationships/image" Target="/ppt/media/image2.png" Id="Rba5580cd52394c4b" /><Relationship Type="http://schemas.openxmlformats.org/officeDocument/2006/relationships/image" Target="/ppt/media/image3.png" Id="R8506a845f6bd4e3d" /><Relationship Type="http://schemas.openxmlformats.org/officeDocument/2006/relationships/image" Target="/ppt/media/image4.png" Id="R7a511c6526754c18" /><Relationship Type="http://schemas.openxmlformats.org/officeDocument/2006/relationships/notesSlide" Target="/ppt/notesSlides/notesSlide2.xml" Id="R73c92b11edcf46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0f2cbfa8d428b" /><Relationship Type="http://schemas.openxmlformats.org/officeDocument/2006/relationships/image" Target="/ppt/media/image.png" Id="Rdcbf5fecd9014110" /><Relationship Type="http://schemas.openxmlformats.org/officeDocument/2006/relationships/image" Target="/ppt/media/image2.png" Id="R5f68f44ef16a42f7" /><Relationship Type="http://schemas.openxmlformats.org/officeDocument/2006/relationships/image" Target="/ppt/media/image3.png" Id="Rfceb2c49c750440d" /><Relationship Type="http://schemas.openxmlformats.org/officeDocument/2006/relationships/image" Target="/ppt/media/image4.png" Id="R41c45a0c99064891" /><Relationship Type="http://schemas.openxmlformats.org/officeDocument/2006/relationships/notesSlide" Target="/ppt/notesSlides/notesSlide3.xml" Id="R14a7634efd934d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05e82791c4d25" /><Relationship Type="http://schemas.openxmlformats.org/officeDocument/2006/relationships/image" Target="/ppt/media/image.png" Id="R8c81548770934aa1" /><Relationship Type="http://schemas.openxmlformats.org/officeDocument/2006/relationships/image" Target="/ppt/media/image2.png" Id="Re6e654bfb00b4a18" /><Relationship Type="http://schemas.openxmlformats.org/officeDocument/2006/relationships/image" Target="/ppt/media/image3.png" Id="R29510f8fc2cd44c9" /><Relationship Type="http://schemas.openxmlformats.org/officeDocument/2006/relationships/image" Target="/ppt/media/image4.png" Id="Ra16ab1eaace84d12" /><Relationship Type="http://schemas.openxmlformats.org/officeDocument/2006/relationships/notesSlide" Target="/ppt/notesSlides/notesSlide4.xml" Id="Rd0617bcdd7cc4a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6423213fd49a9" /><Relationship Type="http://schemas.openxmlformats.org/officeDocument/2006/relationships/image" Target="/ppt/media/image.png" Id="R3756d28ef3e143a3" /><Relationship Type="http://schemas.openxmlformats.org/officeDocument/2006/relationships/image" Target="/ppt/media/image2.png" Id="R17fa1f35b06f447c" /><Relationship Type="http://schemas.openxmlformats.org/officeDocument/2006/relationships/image" Target="/ppt/media/image3.png" Id="Rff63acc3509e470b" /><Relationship Type="http://schemas.openxmlformats.org/officeDocument/2006/relationships/image" Target="/ppt/media/image4.png" Id="R9eae7ce903a74ac3" /><Relationship Type="http://schemas.openxmlformats.org/officeDocument/2006/relationships/notesSlide" Target="/ppt/notesSlides/notesSlide5.xml" Id="R0c64dd7eaa174d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f4d168afc4ffd" /><Relationship Type="http://schemas.openxmlformats.org/officeDocument/2006/relationships/image" Target="/ppt/media/image.png" Id="R0347642cd1c74bfa" /><Relationship Type="http://schemas.openxmlformats.org/officeDocument/2006/relationships/image" Target="/ppt/media/image2.png" Id="R822dc6a91ec847ff" /><Relationship Type="http://schemas.openxmlformats.org/officeDocument/2006/relationships/image" Target="/ppt/media/image3.png" Id="Rb68c43538d3447d3" /><Relationship Type="http://schemas.openxmlformats.org/officeDocument/2006/relationships/image" Target="/ppt/media/image4.png" Id="R654e867904884a08" /><Relationship Type="http://schemas.openxmlformats.org/officeDocument/2006/relationships/notesSlide" Target="/ppt/notesSlides/notesSlide6.xml" Id="R6069fd976c7741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96504e52c42c6" /><Relationship Type="http://schemas.openxmlformats.org/officeDocument/2006/relationships/image" Target="/ppt/media/image.png" Id="R301ac9beb76f4149" /><Relationship Type="http://schemas.openxmlformats.org/officeDocument/2006/relationships/image" Target="/ppt/media/image2.png" Id="R288f382c42524abf" /><Relationship Type="http://schemas.openxmlformats.org/officeDocument/2006/relationships/image" Target="/ppt/media/image3.png" Id="Rf04101819ad34e1e" /><Relationship Type="http://schemas.openxmlformats.org/officeDocument/2006/relationships/image" Target="/ppt/media/image4.png" Id="Rd898a27c13d54f2b" /><Relationship Type="http://schemas.openxmlformats.org/officeDocument/2006/relationships/notesSlide" Target="/ppt/notesSlides/notesSlide7.xml" Id="R1dd5b882c94741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91ed5c40e4d51" /><Relationship Type="http://schemas.openxmlformats.org/officeDocument/2006/relationships/image" Target="/ppt/media/image.png" Id="R47f0043dd37742c0" /><Relationship Type="http://schemas.openxmlformats.org/officeDocument/2006/relationships/image" Target="/ppt/media/image2.png" Id="Rd6e7d61547d34477" /><Relationship Type="http://schemas.openxmlformats.org/officeDocument/2006/relationships/image" Target="/ppt/media/image3.png" Id="R5cef983ed94b4f04" /><Relationship Type="http://schemas.openxmlformats.org/officeDocument/2006/relationships/image" Target="/ppt/media/image4.png" Id="R11349df7b0f64511" /><Relationship Type="http://schemas.openxmlformats.org/officeDocument/2006/relationships/notesSlide" Target="/ppt/notesSlides/notesSlide8.xml" Id="Ra8756c9e37b844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1ce5e5627421d" /><Relationship Type="http://schemas.openxmlformats.org/officeDocument/2006/relationships/image" Target="/ppt/media/image.png" Id="R913c0f1f58174ab6" /><Relationship Type="http://schemas.openxmlformats.org/officeDocument/2006/relationships/image" Target="/ppt/media/image2.png" Id="R2f8b1c91b86149a1" /><Relationship Type="http://schemas.openxmlformats.org/officeDocument/2006/relationships/image" Target="/ppt/media/image3.png" Id="R9539ffc04b1e4d36" /><Relationship Type="http://schemas.openxmlformats.org/officeDocument/2006/relationships/image" Target="/ppt/media/image4.png" Id="R2b59fb30b4e34076" /><Relationship Type="http://schemas.openxmlformats.org/officeDocument/2006/relationships/notesSlide" Target="/ppt/notesSlides/notesSlide9.xml" Id="Ra604bfce66be42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566bd55c14ac7" /><Relationship Type="http://schemas.openxmlformats.org/officeDocument/2006/relationships/image" Target="/ppt/media/image.png" Id="R8953b3a13df5426e" /><Relationship Type="http://schemas.openxmlformats.org/officeDocument/2006/relationships/image" Target="/ppt/media/image2.png" Id="R5d9e2aa8eacd4877" /><Relationship Type="http://schemas.openxmlformats.org/officeDocument/2006/relationships/image" Target="/ppt/media/image3.png" Id="Rfaa807f327bb4b20" /><Relationship Type="http://schemas.openxmlformats.org/officeDocument/2006/relationships/image" Target="/ppt/media/image4.png" Id="Racbdf76b11654117" /><Relationship Type="http://schemas.openxmlformats.org/officeDocument/2006/relationships/notesSlide" Target="/ppt/notesSlides/notesSlide10.xml" Id="R90f33248d73348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f7b0f90aa4db4" /><Relationship Type="http://schemas.openxmlformats.org/officeDocument/2006/relationships/image" Target="/ppt/media/image.png" Id="Rc975237191f3444a" /><Relationship Type="http://schemas.openxmlformats.org/officeDocument/2006/relationships/image" Target="/ppt/media/image2.png" Id="Re90ade58e311401e" /><Relationship Type="http://schemas.openxmlformats.org/officeDocument/2006/relationships/image" Target="/ppt/media/image3.png" Id="Re31128cb03794c84" /><Relationship Type="http://schemas.openxmlformats.org/officeDocument/2006/relationships/image" Target="/ppt/media/image4.png" Id="Rc6d65ae6d7604c78" /><Relationship Type="http://schemas.openxmlformats.org/officeDocument/2006/relationships/image" Target="/ppt/media/image.jpeg" Id="R81eceb99f5534ccf" /><Relationship Type="http://schemas.openxmlformats.org/officeDocument/2006/relationships/image" Target="/ppt/media/image2.jpeg" Id="R7706f14cb4634b23" /><Relationship Type="http://schemas.openxmlformats.org/officeDocument/2006/relationships/notesSlide" Target="/ppt/notesSlides/notesSlide11.xml" Id="R4459c4b883fc46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7c8a290f04d33" /><Relationship Type="http://schemas.openxmlformats.org/officeDocument/2006/relationships/image" Target="/ppt/media/image.png" Id="R7657498bfefd4c31" /><Relationship Type="http://schemas.openxmlformats.org/officeDocument/2006/relationships/image" Target="/ppt/media/image2.png" Id="R3c3dd7e40e8d4799" /><Relationship Type="http://schemas.openxmlformats.org/officeDocument/2006/relationships/image" Target="/ppt/media/image3.png" Id="R516635cab7624ab0" /><Relationship Type="http://schemas.openxmlformats.org/officeDocument/2006/relationships/image" Target="/ppt/media/image4.png" Id="Rf1617fa2cf2c4485" /><Relationship Type="http://schemas.openxmlformats.org/officeDocument/2006/relationships/image" Target="/ppt/media/image3.jpeg" Id="Rfaf8033d3cf0465b" /><Relationship Type="http://schemas.openxmlformats.org/officeDocument/2006/relationships/image" Target="/ppt/media/image4.jpeg" Id="Reda64befa3c84e59" /><Relationship Type="http://schemas.openxmlformats.org/officeDocument/2006/relationships/notesSlide" Target="/ppt/notesSlides/notesSlide12.xml" Id="R6796e58576cb46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9f1c201ad44a6" /><Relationship Type="http://schemas.openxmlformats.org/officeDocument/2006/relationships/image" Target="/ppt/media/image.png" Id="R1efd6fbdc1154242" /><Relationship Type="http://schemas.openxmlformats.org/officeDocument/2006/relationships/image" Target="/ppt/media/image2.png" Id="R8434650d6c3a4a53" /><Relationship Type="http://schemas.openxmlformats.org/officeDocument/2006/relationships/image" Target="/ppt/media/image3.png" Id="Rc01131155ae34184" /><Relationship Type="http://schemas.openxmlformats.org/officeDocument/2006/relationships/image" Target="/ppt/media/image4.png" Id="R6d4c329da07c4ec2" /><Relationship Type="http://schemas.openxmlformats.org/officeDocument/2006/relationships/notesSlide" Target="/ppt/notesSlides/notesSlide13.xml" Id="R608197efd04441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46402943b4595" /><Relationship Type="http://schemas.openxmlformats.org/officeDocument/2006/relationships/image" Target="/ppt/media/image.png" Id="R0aeb8996122d4b45" /><Relationship Type="http://schemas.openxmlformats.org/officeDocument/2006/relationships/image" Target="/ppt/media/image2.png" Id="Rc54f23ef74d846f7" /><Relationship Type="http://schemas.openxmlformats.org/officeDocument/2006/relationships/image" Target="/ppt/media/image3.png" Id="Rbfc755247f9f41ab" /><Relationship Type="http://schemas.openxmlformats.org/officeDocument/2006/relationships/image" Target="/ppt/media/image5.jpeg" Id="R7de6d2da59e04ab3" /><Relationship Type="http://schemas.openxmlformats.org/officeDocument/2006/relationships/notesSlide" Target="/ppt/notesSlides/notesSlide14.xml" Id="Rd107c76b5ee94f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497d79b9a4a54" /><Relationship Type="http://schemas.openxmlformats.org/officeDocument/2006/relationships/image" Target="/ppt/media/image.png" Id="R7cbbf633648043b5" /><Relationship Type="http://schemas.openxmlformats.org/officeDocument/2006/relationships/image" Target="/ppt/media/image2.png" Id="Rb8f68dfe2c834ccd" /><Relationship Type="http://schemas.openxmlformats.org/officeDocument/2006/relationships/image" Target="/ppt/media/image3.png" Id="Rc6928f4ea3204d02" /><Relationship Type="http://schemas.openxmlformats.org/officeDocument/2006/relationships/image" Target="/ppt/media/image4.png" Id="Rd5880c88e43a400a" /><Relationship Type="http://schemas.openxmlformats.org/officeDocument/2006/relationships/notesSlide" Target="/ppt/notesSlides/notesSlide15.xml" Id="R30b1cb6c233c4b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989b8a4eb4f5a" /><Relationship Type="http://schemas.openxmlformats.org/officeDocument/2006/relationships/image" Target="/ppt/media/image.png" Id="R820a5f3b056c4239" /><Relationship Type="http://schemas.openxmlformats.org/officeDocument/2006/relationships/image" Target="/ppt/media/image2.png" Id="Rec156f7321ed4081" /><Relationship Type="http://schemas.openxmlformats.org/officeDocument/2006/relationships/image" Target="/ppt/media/image3.png" Id="R3f7163c7e42348e0" /><Relationship Type="http://schemas.openxmlformats.org/officeDocument/2006/relationships/image" Target="/ppt/media/image4.png" Id="R8c444616d0574f59" /><Relationship Type="http://schemas.openxmlformats.org/officeDocument/2006/relationships/notesSlide" Target="/ppt/notesSlides/notesSlide16.xml" Id="R9a63ada091a347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8" name="Google Shape;8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ce161f0ffb462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9" name="Google Shape;89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7f2a191e2b4d5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" name="Google Shape;90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09ebf3b5d549c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0451E217-F517-4B95-BB88-518E054CC1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0F8244A7-4116-4EC0-AB4F-F647CDC3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00" y="1634625"/>
            <a:ext cx="10904400" cy="50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400" b="1" i="0" u="sng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</a:rPr>
              <a:t>Department of Artificial Intelligence &amp; Data Science</a:t>
            </a:r>
            <a:endParaRPr sz="18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8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 i="0" u="none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</a:rPr>
              <a:t>Academic Year 2025-26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0" algn="ctr">
              <a:buSzPts val="2500"/>
              <a:buNone/>
            </a:pPr>
            <a:r>
              <a:rPr sz="32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KumbhRakshak: Safety and Decision Support for Nashik-Trimbakeshwar</a:t>
            </a:r>
          </a:p>
          <a:p xmlns:a="http://schemas.openxmlformats.org/drawingml/2006/main">
            <a:pPr lvl="0" algn="ctr">
              <a:buSzPts val="2500"/>
              <a:buNone/>
            </a:pP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lvl="0" algn="ctr">
              <a:buSzPts val="2500"/>
              <a:buNone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Hardik Sedani T8-70</a:t>
            </a:r>
          </a:p>
          <a:p xmlns:a="http://schemas.openxmlformats.org/drawingml/2006/main">
            <a:pPr lvl="0" algn="ctr">
              <a:buSzPts val="2500"/>
              <a:buNone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Shubham Vishwakarma T5-13</a:t>
            </a:r>
            <a:endParaRPr sz="18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cap="none">
              <a:solidFill>
                <a:srgbClr val="052358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cap="none">
              <a:solidFill>
                <a:srgbClr val="052358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cap="none">
              <a:solidFill>
                <a:srgbClr val="6E3F0C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    						</a:t>
            </a:r>
            <a:r>
              <a:rPr sz="17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			               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a63d87e7b4a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073693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9" name="Google Shape;9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17b38f3c5b4b1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0" name="Google Shape;99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a5580cd52394c4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1" name="Google Shape;100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06a845f6bd4e3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5FB28B44-FAA6-4014-AA97-DD0A018E072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6DAEEF1D-C2F5-4149-B82E-E5B71266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479" y="1433175"/>
            <a:ext cx="6373800" cy="64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Outline of Presentation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6C1B7B00-A66B-4D88-8286-37A1121E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16" y="1626781"/>
            <a:ext cx="4703085" cy="5073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98450" marR="0" lvl="0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 i="0" u="non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  <a:p xmlns:a="http://schemas.openxmlformats.org/drawingml/2006/main">
            <a:pPr marL="298450" marR="0" lvl="0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 i="0" u="non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Problem statement/definition</a:t>
            </a: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marR="0" lvl="3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 i="0" u="non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Project Objectives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Literature Survey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Findings and Research Gap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Prototype Screenshots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Software /Hardware requirement</a:t>
            </a: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System design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System implementation 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Results </a:t>
            </a: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 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References </a:t>
            </a: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buNone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lvl="3" indent="-285750">
              <a:spcBef>
                <a:spcPts val="1000"/>
              </a:spcBef>
              <a:buClr>
                <a:srgbClr val="C00000"/>
              </a:buClr>
              <a:buSzPts val="1818"/>
              <a:buFont typeface="Arial"/>
              <a:buChar char="•"/>
            </a:pPr>
            <a:r>
              <a: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marR="0" lvl="3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marR="0" lvl="3" indent="-28575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3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Noto Sans Symbols"/>
              <a:buChar char="⮚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3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818"/>
              <a:buFont typeface="Noto Sans Symbols"/>
              <a:buChar char="⮚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3" indent="-32893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2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3" indent="-32893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2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0" indent="-32893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2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69900" marR="0" lvl="0" indent="-32893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2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98450" marR="0" lvl="0" indent="-285750">
              <a:spcBef>
                <a:spcPts val="1000"/>
              </a:spcBef>
              <a:spcAft>
                <a:spcPts val="0"/>
              </a:spcAft>
              <a:buFont typeface="Arial"/>
              <a:buChar char="•"/>
            </a:pPr>
            <a:r>
              <a:rPr sz="2000" b="1" i="0" u="non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</a:t>
            </a: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00050" marR="0" lvl="0" indent="-28575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sz="2000" b="1" i="0" u="none" cap="none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11c6526754c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082503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6" name="Google Shape;10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cbf5fecd901411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7" name="Google Shape;11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68f44ef16a42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8" name="Google Shape;111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ceb2c49c75044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15">
            <a:extLst xmlns:a="http://schemas.openxmlformats.org/drawingml/2006/main">
              <a:ext uri="{FF2B5EF4-FFF2-40B4-BE49-F238E27FC236}">
                <a16:creationId xmlns:a16="http://schemas.microsoft.com/office/drawing/2014/main" id="{553CEF7E-C58E-4407-BC0E-E5A2ACBA49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10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B31653AE-D151-4850-AAFF-27CEFCB4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7" y="1603661"/>
            <a:ext cx="6373800" cy="534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45a0c990648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1B28C4E1-FEC1-45FF-8F2B-20D0A7E5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KumbhRakshak: Nashik-Trimbakeshwar Safety Prototype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2027 Simhastha will need clear place context and timely information across ghats, routes and facilities.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KumbhRakshak brings monitoring signals and response tools into one command-centre website.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What the Platform Shows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 illustrative 3D guide links Nashik and Trimbakeshwar landmarks to the relevant crowd, map, camera, shelter and incident portals.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present build is a demonstration with simulated operational data. It is not an official navigation or emergency-response system.</a:t>
            </a:r>
          </a:p>
        </p:txBody>
      </p:sp>
    </p:spTree>
    <p:extLst>
      <p:ext uri="{BB962C8B-B14F-4D97-AF65-F5344CB8AC3E}">
        <p14:creationId xmlns:p14="http://schemas.microsoft.com/office/powerpoint/2010/main" val="19071046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7" name="Google Shape;10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81548770934aa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8" name="Google Shape;11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e654bfb00b4a1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9" name="Google Shape;111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510f8fc2cd44c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15">
            <a:extLst xmlns:a="http://schemas.openxmlformats.org/drawingml/2006/main">
              <a:ext uri="{FF2B5EF4-FFF2-40B4-BE49-F238E27FC236}">
                <a16:creationId xmlns:a16="http://schemas.microsoft.com/office/drawing/2014/main" id="{261251F2-B64F-406C-8B05-EA76C3D984D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10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B31653AE-D151-4850-AAFF-27CEFCB4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30" y="1603661"/>
            <a:ext cx="6373800" cy="534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Problem Definition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ab1eaace84d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2" name="TextBox 1002">
            <a:extLst xmlns:a="http://schemas.openxmlformats.org/drawingml/2006/main">
              <a:ext uri="{FF2B5EF4-FFF2-40B4-BE49-F238E27FC236}">
                <a16:creationId xmlns:a16="http://schemas.microsoft.com/office/drawing/2014/main" id="{76C348D4-E1DF-4A82-B515-4A8CCCD7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The Core Problem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Crowd, camera, social and field signals arrive through separate channels during a large gathering.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Without place context, users may struggle to identify which facility or portal is relevant to a situation.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Unverified claims can add confusion, while response decisions still require evidence and human review.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7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How can one understandable interface connect locations, signals and response workflows for the Nashik-Trimbakeshwar Kumbh?</a:t>
            </a:r>
          </a:p>
        </p:txBody>
      </p:sp>
    </p:spTree>
    <p:extLst>
      <p:ext uri="{BB962C8B-B14F-4D97-AF65-F5344CB8AC3E}">
        <p14:creationId xmlns:p14="http://schemas.microsoft.com/office/powerpoint/2010/main" val="3528591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8" name="Google Shape;119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56d28ef3e143a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9" name="Google Shape;120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fa1f35b06f447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0" name="Google Shape;121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63acc3509e470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3" name="Google Shape;123;p16">
            <a:extLst xmlns:a="http://schemas.openxmlformats.org/drawingml/2006/main">
              <a:ext uri="{FF2B5EF4-FFF2-40B4-BE49-F238E27FC236}">
                <a16:creationId xmlns:a16="http://schemas.microsoft.com/office/drawing/2014/main" id="{838ECDC0-D0AF-4170-8884-C29C3A553DC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94364B9-0804-487C-86E2-B9BA56EA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7" y="1603661"/>
            <a:ext cx="6373800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 i="0" u="non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Project Objectives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e7ce903a74a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3" name="TextBox 1003">
            <a:extLst xmlns:a="http://schemas.openxmlformats.org/drawingml/2006/main">
              <a:ext uri="{FF2B5EF4-FFF2-40B4-BE49-F238E27FC236}">
                <a16:creationId xmlns:a16="http://schemas.microsoft.com/office/drawing/2014/main" id="{D42A436F-61A0-4FD5-9473-57A6D7F4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Primary Objective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Build a clear decision-support prototype for operators and project reviewers, centered on Nashik and Trimbakeshwar.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Specific Objectives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Explain key landmarks and portals through an interactive 3D place guide.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 crowd pressure, camera observations and incident information together.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social claims with available evidence before any public response.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 shelter, resource and advisory workflows in one website.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Distinguish simulated data and schematic locations from verified field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923880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7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47642cd1c74bf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8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2dc6a91ec847f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8c43538d3447d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CC814FF0-7C06-4220-A6ED-07EF6E4AD9E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5724233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Literature Survey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48EC87-8D2E-44ED-95C5-48E2550F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323" y="1908586"/>
            <a:ext cx="17651353" cy="4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e867904884a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graphicFrame>
        <p:nvGraphicFramePr>
          <p:cNvPr id="154" name="Table 1004"/>
          <p:cNvGraphicFramePr/>
          <p:nvPr/>
        </p:nvGraphicFramePr>
        <p:xfrm>
          <a:off xmlns:a="http://schemas.openxmlformats.org/drawingml/2006/main" x="1350000" y="2210000"/>
          <a:ext xmlns:a="http://schemas.openxmlformats.org/drawingml/2006/main" cx="10300000" cy="4220000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0000"/>
                <a:gridCol w="3600000"/>
                <a:gridCol w="4100000"/>
              </a:tblGrid>
              <a:tr h="38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Author(s) / Year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Study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Key Finding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Aishwarya &amp; Vinay (2025)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 of social media and its impact on Maha Kumbh Mela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Facebook, X, Instagram and YouTube help organisers share updates, schedules and safety instructions, boosting participation.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Verma &amp; Bains (2025)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Security &amp; surveillance strategies, Maha Kumbh Mela 2025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Proposes a risk-assessment and stakeholder-coordination framework for crowd safety at mega religious gatherings.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Kumbh Twitter Study (2020)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Motivations &amp; experiences — insights from Twitter analytics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Analysed ~49,500 tweets from Kumbh 2019 to mine pilgrim sentiment and experience via network/content analytics.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Tiwari &amp; Chowdhary (2022)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Technology and crowd management: Kumbh case study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Mobile apps and smart tech improve headcounts, monitoring, multilingual info-sharing and safety at Kumbh scale.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JMIR Infodemiology (2025)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Impact of misinformation on social media in disasters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Misinformation during disasters spreads mainly via X, Facebook and WhatsApp; pre-emptive debunking limits its reach.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Simon et al. (2016)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Computers in Human Behaviour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Documents how WhatsApp rumours spread uncontrollably during a real search-and-rescue operation.</a:t>
                      </a:r>
                    </a:p>
                  </a:txBody>
                  <a:tcPr marL="45720" marR="4572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4642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0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1ac9beb76f414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1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8f382c42524ab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2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4101819ad34e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839BF06E-82F0-4E1B-BBD8-6F5C571A7B7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5724233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Findings of Literature Survey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48EC87-8D2E-44ED-95C5-48E2550F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323" y="1908586"/>
            <a:ext cx="17651353" cy="44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1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8a27c13d54f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5" name="TextBox 1005">
            <a:extLst xmlns:a="http://schemas.openxmlformats.org/drawingml/2006/main">
              <a:ext uri="{FF2B5EF4-FFF2-40B4-BE49-F238E27FC236}">
                <a16:creationId xmlns:a16="http://schemas.microsoft.com/office/drawing/2014/main" id="{531842AD-3437-4928-8A39-F45F578A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750000"/>
            <a:ext cx="10300000" cy="38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What the Literature Confirms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Kumbh studies describe the difficulty of managing large pedestrian flows and coordinating safety teams.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Crowd research shows the value of zone-level observation and forecasting for early review.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Social-media studies also show that fast-moving rumours can complicate a real incident response.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The Gap We Address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KumbhRakshak demonstrates a place-linked interface that brings monitoring, claim review and response tools together. Field validation remains necessary.</a:t>
            </a:r>
          </a:p>
        </p:txBody>
      </p:sp>
    </p:spTree>
    <p:extLst>
      <p:ext uri="{BB962C8B-B14F-4D97-AF65-F5344CB8AC3E}">
        <p14:creationId xmlns:p14="http://schemas.microsoft.com/office/powerpoint/2010/main" val="34056389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3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f0043dd37742c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4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e7d61547d3447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5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ef983ed94b4f0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40DFF253-1958-4C68-A77F-049FE897322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Software / Hardware Requirements</a:t>
            </a:r>
          </a:p>
        </p:txBody>
      </p:sp>
      <p:pic>
        <p:nvPicPr>
          <p:cNvPr id="101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49df7b0f645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7" name="TextBox 1007">
            <a:extLst xmlns:a="http://schemas.openxmlformats.org/drawingml/2006/main">
              <a:ext uri="{FF2B5EF4-FFF2-40B4-BE49-F238E27FC236}">
                <a16:creationId xmlns:a16="http://schemas.microsoft.com/office/drawing/2014/main" id="{A64A6D7F-4AD5-4E0A-95F7-96F22C30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505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Software Requirements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Frontend: Next.js, React, Tailwind CSS and Three.js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Backend: Python 3.12, FastAPI and WebSockets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Data: Firestore adapter with in-memory demo mode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Mapping: Mapbox GL and OpenStreetMap landmark links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 modules: vision, text clustering, risk and forecasting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Simulation: timeline and example incident injections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Packaging: Docker and Docker Compose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Tools: Git, GitHub and VS Code</a:t>
            </a:r>
          </a:p>
        </p:txBody>
      </p:sp>
      <p:sp>
        <p:nvSpPr>
          <p:cNvPr id="1008" name="TextBox 1008">
            <a:extLst xmlns:a="http://schemas.openxmlformats.org/drawingml/2006/main">
              <a:ext uri="{FF2B5EF4-FFF2-40B4-BE49-F238E27FC236}">
                <a16:creationId xmlns:a16="http://schemas.microsoft.com/office/drawing/2014/main" id="{8A0AC81C-40EE-4E46-B234-70577B22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000" y="2230000"/>
            <a:ext cx="505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Hardware Requirements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Demo machine: modern CPU, 8-16 GB RAM and SSD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GPU optional for local camera-model inference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Permissioned CCTV or video feeds needed for a real pilot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Reliable network and secure server for deployment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Official GIS and facility data required before field use</a:t>
            </a:r>
          </a:p>
        </p:txBody>
      </p:sp>
    </p:spTree>
    <p:extLst>
      <p:ext uri="{BB962C8B-B14F-4D97-AF65-F5344CB8AC3E}">
        <p14:creationId xmlns:p14="http://schemas.microsoft.com/office/powerpoint/2010/main" val="15818828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7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3c0f1f58174a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8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8b1c91b86149a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9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539ffc04b1e4d3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551DD9BA-6DEF-4907-84ED-C703EF34F19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System Design</a:t>
            </a:r>
          </a:p>
        </p:txBody>
      </p:sp>
      <p:pic>
        <p:nvPicPr>
          <p:cNvPr id="102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9fb30b4e340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Shape 1001">
            <a:extLst xmlns:a="http://schemas.openxmlformats.org/drawingml/2006/main">
              <a:ext uri="{FF2B5EF4-FFF2-40B4-BE49-F238E27FC236}">
                <a16:creationId xmlns:a16="http://schemas.microsoft.com/office/drawing/2014/main" id="{7A979C30-6A73-4460-A9EA-E3FD01B8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Place &amp;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Camera Signals</a:t>
            </a:r>
          </a:p>
        </p:txBody>
      </p:sp>
      <p:sp>
        <p:nvSpPr>
          <p:cNvPr id="1002" name="Arrow 1002">
            <a:extLst xmlns:a="http://schemas.openxmlformats.org/drawingml/2006/main">
              <a:ext uri="{FF2B5EF4-FFF2-40B4-BE49-F238E27FC236}">
                <a16:creationId xmlns:a16="http://schemas.microsoft.com/office/drawing/2014/main" id="{F573DB0B-0DA7-46D3-8082-BE41319E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3" name="Shape 1003">
            <a:extLst xmlns:a="http://schemas.openxmlformats.org/drawingml/2006/main">
              <a:ext uri="{FF2B5EF4-FFF2-40B4-BE49-F238E27FC236}">
                <a16:creationId xmlns:a16="http://schemas.microsoft.com/office/drawing/2014/main" id="{EFFC1195-43CE-476C-879A-9DC44273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Social &amp;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Field Reports</a:t>
            </a:r>
          </a:p>
        </p:txBody>
      </p:sp>
      <p:sp>
        <p:nvSpPr>
          <p:cNvPr id="1004" name="Arrow 1004">
            <a:extLst xmlns:a="http://schemas.openxmlformats.org/drawingml/2006/main">
              <a:ext uri="{FF2B5EF4-FFF2-40B4-BE49-F238E27FC236}">
                <a16:creationId xmlns:a16="http://schemas.microsoft.com/office/drawing/2014/main" id="{EF676C1D-96AA-4A48-BE56-8F81A565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5" name="Shape 1005">
            <a:extLst xmlns:a="http://schemas.openxmlformats.org/drawingml/2006/main">
              <a:ext uri="{FF2B5EF4-FFF2-40B4-BE49-F238E27FC236}">
                <a16:creationId xmlns:a16="http://schemas.microsoft.com/office/drawing/2014/main" id="{5FAF8B8D-A997-47D0-9679-E0252F21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Event &amp; Claim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Review</a:t>
            </a:r>
          </a:p>
        </p:txBody>
      </p:sp>
      <p:sp>
        <p:nvSpPr>
          <p:cNvPr id="1006" name="Arrow 1006">
            <a:extLst xmlns:a="http://schemas.openxmlformats.org/drawingml/2006/main">
              <a:ext uri="{FF2B5EF4-FFF2-40B4-BE49-F238E27FC236}">
                <a16:creationId xmlns:a16="http://schemas.microsoft.com/office/drawing/2014/main" id="{67BFCAE7-5103-4279-954F-1570EF72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7" name="Shape 1007">
            <a:extLst xmlns:a="http://schemas.openxmlformats.org/drawingml/2006/main">
              <a:ext uri="{FF2B5EF4-FFF2-40B4-BE49-F238E27FC236}">
                <a16:creationId xmlns:a16="http://schemas.microsoft.com/office/drawing/2014/main" id="{D36AF126-E212-4708-83B2-6ACE6C09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Risk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Scoring</a:t>
            </a:r>
          </a:p>
        </p:txBody>
      </p:sp>
      <p:sp>
        <p:nvSpPr>
          <p:cNvPr id="1008" name="Arrow 1008">
            <a:extLst xmlns:a="http://schemas.openxmlformats.org/drawingml/2006/main">
              <a:ext uri="{FF2B5EF4-FFF2-40B4-BE49-F238E27FC236}">
                <a16:creationId xmlns:a16="http://schemas.microsoft.com/office/drawing/2014/main" id="{11E5077A-98F4-4CB5-A912-5C4415C7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9" name="Shape 1009">
            <a:extLst xmlns:a="http://schemas.openxmlformats.org/drawingml/2006/main">
              <a:ext uri="{FF2B5EF4-FFF2-40B4-BE49-F238E27FC236}">
                <a16:creationId xmlns:a16="http://schemas.microsoft.com/office/drawing/2014/main" id="{8736B668-652A-4196-A7A1-A679390A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Human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Decision</a:t>
            </a:r>
          </a:p>
        </p:txBody>
      </p:sp>
      <p:sp>
        <p:nvSpPr>
          <p:cNvPr id="1010" name="Arrow 1010">
            <a:extLst xmlns:a="http://schemas.openxmlformats.org/drawingml/2006/main">
              <a:ext uri="{FF2B5EF4-FFF2-40B4-BE49-F238E27FC236}">
                <a16:creationId xmlns:a16="http://schemas.microsoft.com/office/drawing/2014/main" id="{445A71BF-81C0-4076-BB29-637E1D67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00" y="2680000"/>
            <a:ext cx="70000" cy="18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1" name="Shape 1011">
            <a:extLst xmlns:a="http://schemas.openxmlformats.org/drawingml/2006/main">
              <a:ext uri="{FF2B5EF4-FFF2-40B4-BE49-F238E27FC236}">
                <a16:creationId xmlns:a16="http://schemas.microsoft.com/office/drawing/2014/main" id="{BFC01D25-F5A9-4D3D-BD6D-B2BEE0CC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000" y="2380000"/>
            <a:ext cx="152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00" tIns="27400" rIns="45700" bIns="274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Portal &amp;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Advisory</a:t>
            </a:r>
          </a:p>
        </p:txBody>
      </p:sp>
      <p:sp>
        <p:nvSpPr>
          <p:cNvPr id="1012" name="TextBox 1012">
            <a:extLst xmlns:a="http://schemas.openxmlformats.org/drawingml/2006/main">
              <a:ext uri="{FF2B5EF4-FFF2-40B4-BE49-F238E27FC236}">
                <a16:creationId xmlns:a16="http://schemas.microsoft.com/office/drawing/2014/main" id="{3F3C88BE-3AF7-4775-88D0-F7B3BD19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3410000"/>
            <a:ext cx="10300000" cy="32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19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Data Flow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Place, camera and public-report inputs are organized into location-linked views.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system groups observations and presents claims with supporting or missing evidence.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Risk indicators support review; a human operator remains responsible for any action.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4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Approved information can then be displayed in the dashboard and advisory workflow.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8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53b3a13df5426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9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9e2aa8eacd487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0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a807f327bb4b2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89E5F4C9-8865-4D9B-8C4A-B00AE07672F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System Implementation</a:t>
            </a:r>
          </a:p>
        </p:txBody>
      </p:sp>
      <p:pic>
        <p:nvPicPr>
          <p:cNvPr id="102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df76b116541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13" name="TextBox 1013">
            <a:extLst xmlns:a="http://schemas.openxmlformats.org/drawingml/2006/main">
              <a:ext uri="{FF2B5EF4-FFF2-40B4-BE49-F238E27FC236}">
                <a16:creationId xmlns:a16="http://schemas.microsoft.com/office/drawing/2014/main" id="{A5EC4199-45F3-4298-B4E9-FEA26E4E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Implemented Prototype Modules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 place guide: schematic Nashik and Trimbakeshwar scenes with portal links.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Overview dashboard: feature guide, situation indicators and incident review.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Simulation: a 16-step timeline and manual demo-event injections.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Crowd portal: example 15, 30 and 60-minute forecasts and holding-area views.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Other portals: camera, incident, shelter, resource and public-report workflows.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Claim scanner: a demo interface for evidence review; real feeds require integration.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19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Tech Stack in Practice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Next.js frontend, FastAPI backend, WebSockets and an in-memory demo database.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0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75237191f3444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1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0ade58e31140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2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1128cb03794c8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3D Place Guide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65ae6d7604c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pic>
        <p:nvPicPr>
          <p:cNvPr id="10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ceb99f5534ccf"/>
          <a:stretch xmlns:a="http://schemas.openxmlformats.org/drawingml/2006/main"/>
        </p:blipFill>
        <p:spPr>
          <a:xfrm xmlns:a="http://schemas.openxmlformats.org/drawingml/2006/main">
            <a:off x="1381125" y="2414727"/>
            <a:ext cx="4857750" cy="2981046"/>
          </a:xfrm>
          <a:prstGeom xmlns:a="http://schemas.openxmlformats.org/drawingml/2006/main" prst="rect">
            <a:avLst/>
          </a:prstGeom>
        </p:spPr>
      </p:pic>
      <p:sp>
        <p:nvSpPr>
          <p:cNvPr id="1007" name="caption-Nashik Ramkund illustrative 3D scene">
            <a:extLst xmlns:a="http://schemas.openxmlformats.org/drawingml/2006/main">
              <a:ext uri="{FF2B5EF4-FFF2-40B4-BE49-F238E27FC236}">
                <a16:creationId xmlns:a16="http://schemas.microsoft.com/office/drawing/2014/main" id="{94D2AF61-9C39-4714-A6F4-D3A8FD3F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483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>Nashik riverfront: Ramkund and portal links</a:t>
            </a:r>
          </a:p>
        </p:txBody>
      </p:sp>
      <p:pic>
        <p:nvPicPr>
          <p:cNvPr id="10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6f14cb4634b23"/>
          <a:stretch xmlns:a="http://schemas.openxmlformats.org/drawingml/2006/main"/>
        </p:blipFill>
        <p:spPr>
          <a:xfrm xmlns:a="http://schemas.openxmlformats.org/drawingml/2006/main">
            <a:off x="6477000" y="2414727"/>
            <a:ext cx="4857750" cy="2981046"/>
          </a:xfrm>
          <a:prstGeom xmlns:a="http://schemas.openxmlformats.org/drawingml/2006/main" prst="rect">
            <a:avLst/>
          </a:prstGeom>
        </p:spPr>
      </p:pic>
      <p:sp>
        <p:nvSpPr>
          <p:cNvPr id="1009" name="caption-Trimbakeshwar illustrative 3D scene">
            <a:extLst xmlns:a="http://schemas.openxmlformats.org/drawingml/2006/main">
              <a:ext uri="{FF2B5EF4-FFF2-40B4-BE49-F238E27FC236}">
                <a16:creationId xmlns:a16="http://schemas.microsoft.com/office/drawing/2014/main" id="{F358522D-2448-4E7E-9BE2-BCDACF0D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483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>Trimbakeshwar: separate landmark scene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0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57498bfefd4c3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1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3dd7e40e8d47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2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6635cab7624ab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Prototype Website Screens</a:t>
            </a: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 </a:t>
            </a:r>
          </a:p>
        </p:txBody>
      </p:sp>
      <p:pic>
        <p:nvPicPr>
          <p:cNvPr id="10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17fa2cf2c44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pic>
        <p:nvPicPr>
          <p:cNvPr id="10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8033d3cf0465b"/>
          <a:stretch xmlns:a="http://schemas.openxmlformats.org/drawingml/2006/main"/>
        </p:blipFill>
        <p:spPr>
          <a:xfrm xmlns:a="http://schemas.openxmlformats.org/drawingml/2006/main">
            <a:off x="1381125" y="2367102"/>
            <a:ext cx="4857750" cy="2981046"/>
          </a:xfrm>
          <a:prstGeom xmlns:a="http://schemas.openxmlformats.org/drawingml/2006/main" prst="rect">
            <a:avLst/>
          </a:prstGeom>
        </p:spPr>
      </p:pic>
      <p:sp>
        <p:nvSpPr>
          <p:cNvPr id="1007" name="caption-KumbhRakshak overview dashboard">
            <a:extLst xmlns:a="http://schemas.openxmlformats.org/drawingml/2006/main">
              <a:ext uri="{FF2B5EF4-FFF2-40B4-BE49-F238E27FC236}">
                <a16:creationId xmlns:a16="http://schemas.microsoft.com/office/drawing/2014/main" id="{E722F51B-4FE4-4758-828C-E261DDB3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578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>Overview and feature guide</a:t>
            </a:r>
          </a:p>
        </p:txBody>
      </p:sp>
      <p:pic>
        <p:nvPicPr>
          <p:cNvPr id="10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64befa3c84e59"/>
          <a:stretch xmlns:a="http://schemas.openxmlformats.org/drawingml/2006/main"/>
        </p:blipFill>
        <p:spPr>
          <a:xfrm xmlns:a="http://schemas.openxmlformats.org/drawingml/2006/main">
            <a:off x="6477000" y="2367102"/>
            <a:ext cx="4857750" cy="2981046"/>
          </a:xfrm>
          <a:prstGeom xmlns:a="http://schemas.openxmlformats.org/drawingml/2006/main" prst="rect">
            <a:avLst/>
          </a:prstGeom>
        </p:spPr>
      </p:pic>
      <p:sp>
        <p:nvSpPr>
          <p:cNvPr id="1009" name="caption-KumbhRakshak crowd forecast portal">
            <a:extLst xmlns:a="http://schemas.openxmlformats.org/drawingml/2006/main">
              <a:ext uri="{FF2B5EF4-FFF2-40B4-BE49-F238E27FC236}">
                <a16:creationId xmlns:a16="http://schemas.microsoft.com/office/drawing/2014/main" id="{82644C8B-0870-486D-9B36-CF49D133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578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>Crowd portal: illustrative forecast values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6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fd6fbdc115424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7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34650d6c3a4a5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8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01131155ae3418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9D6E38FE-DFB3-4FC7-8015-E489E3BBB3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6" y="1603661"/>
            <a:ext cx="7862521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lvl="0">
              <a:buSzPts val="3100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Results  </a:t>
            </a:r>
          </a:p>
        </p:txBody>
      </p:sp>
      <p:pic>
        <p:nvPicPr>
          <p:cNvPr id="10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c329da07c4e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4E658D16-D60A-4B8C-BCD8-6F65763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Demonstrated Outcomes (Prototype)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local simulation starts, pauses and accepts a test fire event with telemetry logging.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3D Nashik guide links Ramkund to its crowd portal; Trimbakeshwar has a separate scene.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crowd page shows example 15, 30 and 60-minute forecast cards.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overview explains how to explore, monitor and respond across the available portals.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Six core backend tests passed in the local demo environment.</a:t>
            </a:r>
          </a:p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19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Scope of Current Results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5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These are software-demo results. Locations, event values and forecasts are illustrative, with no field-performance claim.</a:t>
            </a:r>
          </a:p>
        </p:txBody>
      </p:sp>
    </p:spTree>
    <p:extLst>
      <p:ext uri="{BB962C8B-B14F-4D97-AF65-F5344CB8AC3E}">
        <p14:creationId xmlns:p14="http://schemas.microsoft.com/office/powerpoint/2010/main" val="8529943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7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eb8996122d4b4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8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4f23ef74d846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9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c755247f9f41a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0" name="Google Shape;140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e6d2da59e04ab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34697" y="157876"/>
            <a:ext cx="6471384" cy="11708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78BD2545-B7FB-4D82-B904-5D489BDEEE7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97" y="1603661"/>
            <a:ext cx="4683224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02" name="TextBox 1002">
            <a:extLst xmlns:a="http://schemas.openxmlformats.org/drawingml/2006/main">
              <a:ext uri="{FF2B5EF4-FFF2-40B4-BE49-F238E27FC236}">
                <a16:creationId xmlns:a16="http://schemas.microsoft.com/office/drawing/2014/main" id="{2CDF01F0-5F45-476B-8626-A09B881B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633" y="223000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1400"/>
              </a:spcBef>
              <a:spcAft>
                <a:spcPts val="200"/>
              </a:spcAft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Prioritised Roadmap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Replace schematic pins with approved 2027 GIS, ghat and facility coordinates.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Integrate permissioned CCTV, incident feeds and validated crowd counts.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Measure false alerts, model accuracy and response latency with local operators.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 audit logs, access control and human approval for public advisories.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Test multilingual and low-connectivity guidance with pilgrims and volunteers.</a:t>
            </a:r>
          </a:p>
          <a:p xmlns:a="http://schemas.openxmlformats.org/drawingml/2006/main">
            <a:pPr marL="285750" lvl="0" indent="-28575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Run a staged pilot before any operational or emergency use.</a:t>
            </a:r>
          </a:p>
        </p:txBody>
      </p:sp>
    </p:spTree>
    <p:extLst>
      <p:ext uri="{BB962C8B-B14F-4D97-AF65-F5344CB8AC3E}">
        <p14:creationId xmlns:p14="http://schemas.microsoft.com/office/powerpoint/2010/main" val="227489047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8" name="Google Shape;1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bbf633648043b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9" name="Google Shape;1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f68dfe2c834cc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0" name="Google Shape;1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928f4ea3204d0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789CF808-4FF3-4BFE-9550-5376D96B241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7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12FD5A28-51CE-4680-A986-9D5B499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722" y="1762779"/>
            <a:ext cx="4683224" cy="520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3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sz="31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80c88e43a40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3" name="TextBox 1003">
            <a:extLst xmlns:a="http://schemas.openxmlformats.org/drawingml/2006/main">
              <a:ext uri="{FF2B5EF4-FFF2-40B4-BE49-F238E27FC236}">
                <a16:creationId xmlns:a16="http://schemas.microsoft.com/office/drawing/2014/main" id="{25D3716C-5B4E-4CB7-8D03-CC096F0C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657" y="2374780"/>
            <a:ext cx="10300000" cy="4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27400" rIns="45700" bIns="27400" anchor="t">
            <a:noAutofit/>
          </a:bodyPr>
          <a:lstStyle xmlns:a="http://schemas.openxmlformats.org/drawingml/2006/main"/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[1] Nashik District Administration. Ramkund Nashik: official landmark information.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[2] Nashik District Administration. Kushavart Tirtha, Trimbakeshwar: official landmark information.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 Kanaujiya, A.K. &amp; Tiwari, V. (2022). Crowd management and security at Prayagraj Kumbh Mela 2019. National Academy Science Letters.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[4] Tiwari, S. &amp; Chowdhary, R. (2022). Technology and crowd management: Kumbh case study.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[5] JMIR Infodemiology (2025). Narrative review of disaster misinformation on social media.</a:t>
            </a:r>
          </a:p>
          <a:p xmlns:a="http://schemas.openxmlformats.org/drawingml/2006/main">
            <a:pPr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sz="12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[6] KumbhRakshak project code and local demo, accessed 3 October 2026.</a:t>
            </a:r>
          </a:p>
        </p:txBody>
      </p:sp>
    </p:spTree>
    <p:extLst>
      <p:ext uri="{BB962C8B-B14F-4D97-AF65-F5344CB8AC3E}">
        <p14:creationId xmlns:p14="http://schemas.microsoft.com/office/powerpoint/2010/main" val="146968795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6" name="Google Shape;156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0a5f3b056c423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" y="-20450"/>
            <a:ext cx="566975" cy="687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7" name="Google Shape;157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156f7321ed40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950" y="-20450"/>
            <a:ext cx="209675" cy="54611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8" name="Google Shape;158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7163c7e42348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389" y="-20457"/>
            <a:ext cx="566958" cy="54611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0" name="Google Shape;160;p20">
            <a:extLst xmlns:a="http://schemas.openxmlformats.org/drawingml/2006/main">
              <a:ext uri="{FF2B5EF4-FFF2-40B4-BE49-F238E27FC236}">
                <a16:creationId xmlns:a16="http://schemas.microsoft.com/office/drawing/2014/main" id="{73EEA3B5-2BD8-4214-A6EF-23BBD74E9F3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257406" y="2740265"/>
            <a:ext cx="3733500" cy="23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/>
            <a:br/>
            <a:br/>
            <a:endParaRPr sz="2400">
              <a:solidFill>
                <a:srgbClr val="C00000"/>
              </a:solidFill>
            </a:endParaRPr>
          </a:p>
        </p:txBody>
      </p:sp>
      <p:sp>
        <p:nvSpPr>
          <p:cNvPr id="161" name="Google Shape;161;p20">
            <a:extLst xmlns:a="http://schemas.openxmlformats.org/drawingml/2006/main">
              <a:ext uri="{FF2B5EF4-FFF2-40B4-BE49-F238E27FC236}">
                <a16:creationId xmlns:a16="http://schemas.microsoft.com/office/drawing/2014/main" id="{98569169-C473-4001-BF1A-42C5F9A0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558" y="2902828"/>
            <a:ext cx="4162883" cy="105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sz="6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Thank You</a:t>
            </a:r>
            <a:endParaRPr sz="6000" b="0" i="0" u="none" cap="none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7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44616d0574f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093" y="245382"/>
            <a:ext cx="5370513" cy="10969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42501659"/>
      </p:ext>
    </p:extLst>
  </p:cSld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2026-10-03T16:50:57.1350000Z</dcterms:created>
  <dcterms:modified xsi:type="dcterms:W3CDTF">2026-10-03T16:50:57.1350000Z</dcterms:modified>
</coreProperties>
</file>