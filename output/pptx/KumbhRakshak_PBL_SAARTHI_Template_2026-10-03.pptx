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3c4c64e6340a0" /><Relationship Type="http://schemas.openxmlformats.org/officeDocument/2006/relationships/extended-properties" Target="/docProps/app.xml" Id="Rb303673323db4af0" /><Relationship Type="http://schemas.openxmlformats.org/officeDocument/2006/relationships/officeDocument" Target="/ppt/presentation.xml" Id="R86ad9bcbd545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b2a575d184a02"/>
  </p:sldMasterIdLst>
  <p:notesMasterIdLst>
    <p:notesMasterId xmlns:r="http://schemas.openxmlformats.org/officeDocument/2006/relationships" r:id="Ra20da84f9cf24338"/>
  </p:notesMasterIdLst>
  <p:sldIdLst>
    <p:sldId xmlns:r="http://schemas.openxmlformats.org/officeDocument/2006/relationships" id="256" r:id="R0b367c12b06641b9"/>
    <p:sldId xmlns:r="http://schemas.openxmlformats.org/officeDocument/2006/relationships" id="257" r:id="R244111b4c7974194"/>
    <p:sldId xmlns:r="http://schemas.openxmlformats.org/officeDocument/2006/relationships" id="258" r:id="Rf07e58eb5708430f"/>
    <p:sldId xmlns:r="http://schemas.openxmlformats.org/officeDocument/2006/relationships" id="259" r:id="Rc5f1078dcd4047aa"/>
    <p:sldId xmlns:r="http://schemas.openxmlformats.org/officeDocument/2006/relationships" id="260" r:id="Rdc97b9d2ac6149c8"/>
    <p:sldId xmlns:r="http://schemas.openxmlformats.org/officeDocument/2006/relationships" id="261" r:id="R0945552df1094306"/>
    <p:sldId xmlns:r="http://schemas.openxmlformats.org/officeDocument/2006/relationships" id="262" r:id="Rf998deb2d86d4058"/>
    <p:sldId xmlns:r="http://schemas.openxmlformats.org/officeDocument/2006/relationships" id="263" r:id="R5843c649906c4624"/>
    <p:sldId xmlns:r="http://schemas.openxmlformats.org/officeDocument/2006/relationships" id="264" r:id="R7889d8c93680482d"/>
    <p:sldId xmlns:r="http://schemas.openxmlformats.org/officeDocument/2006/relationships" id="265" r:id="R260197ff658d4266"/>
    <p:sldId xmlns:r="http://schemas.openxmlformats.org/officeDocument/2006/relationships" id="266" r:id="Rf764b31a570d4896"/>
    <p:sldId xmlns:r="http://schemas.openxmlformats.org/officeDocument/2006/relationships" id="267" r:id="R0474bfcced854820"/>
    <p:sldId xmlns:r="http://schemas.openxmlformats.org/officeDocument/2006/relationships" id="268" r:id="Rabade492ac0349b8"/>
    <p:sldId xmlns:r="http://schemas.openxmlformats.org/officeDocument/2006/relationships" id="269" r:id="Re65af6ac1e0f463f"/>
    <p:sldId xmlns:r="http://schemas.openxmlformats.org/officeDocument/2006/relationships" id="270" r:id="R225f10cea6d94467"/>
    <p:sldId xmlns:r="http://schemas.openxmlformats.org/officeDocument/2006/relationships" id="271" r:id="R7e2bea3cec5e4472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75899481a469b" /><Relationship Type="http://schemas.openxmlformats.org/officeDocument/2006/relationships/slideMaster" Target="/ppt/slideMasters/slideMaster1.xml" Id="R2c9b2a575d184a02" /><Relationship Type="http://schemas.openxmlformats.org/officeDocument/2006/relationships/notesMaster" Target="/ppt/notesMasters/notesMaster1.xml" Id="Ra20da84f9cf24338" /><Relationship Type="http://schemas.openxmlformats.org/officeDocument/2006/relationships/presProps" Target="/ppt/presProps.xml" Id="R0fa0d8e291154074" /><Relationship Type="http://schemas.openxmlformats.org/officeDocument/2006/relationships/tableStyles" Target="/ppt/tableStyles.xml" Id="Rbc0c9cabf5df4582" /><Relationship Type="http://schemas.openxmlformats.org/officeDocument/2006/relationships/slide" Target="/ppt/slides/slide1.xml" Id="R0b367c12b06641b9" /><Relationship Type="http://schemas.openxmlformats.org/officeDocument/2006/relationships/slide" Target="/ppt/slides/slide2.xml" Id="R244111b4c7974194" /><Relationship Type="http://schemas.openxmlformats.org/officeDocument/2006/relationships/slide" Target="/ppt/slides/slide3.xml" Id="Rf07e58eb5708430f" /><Relationship Type="http://schemas.openxmlformats.org/officeDocument/2006/relationships/slide" Target="/ppt/slides/slide4.xml" Id="Rc5f1078dcd4047aa" /><Relationship Type="http://schemas.openxmlformats.org/officeDocument/2006/relationships/slide" Target="/ppt/slides/slide5.xml" Id="Rdc97b9d2ac6149c8" /><Relationship Type="http://schemas.openxmlformats.org/officeDocument/2006/relationships/slide" Target="/ppt/slides/slide6.xml" Id="R0945552df1094306" /><Relationship Type="http://schemas.openxmlformats.org/officeDocument/2006/relationships/slide" Target="/ppt/slides/slide7.xml" Id="Rf998deb2d86d4058" /><Relationship Type="http://schemas.openxmlformats.org/officeDocument/2006/relationships/slide" Target="/ppt/slides/slide8.xml" Id="R5843c649906c4624" /><Relationship Type="http://schemas.openxmlformats.org/officeDocument/2006/relationships/slide" Target="/ppt/slides/slide9.xml" Id="R7889d8c93680482d" /><Relationship Type="http://schemas.openxmlformats.org/officeDocument/2006/relationships/slide" Target="/ppt/slides/slide10.xml" Id="R260197ff658d4266" /><Relationship Type="http://schemas.openxmlformats.org/officeDocument/2006/relationships/slide" Target="/ppt/slides/slide11.xml" Id="Rf764b31a570d4896" /><Relationship Type="http://schemas.openxmlformats.org/officeDocument/2006/relationships/slide" Target="/ppt/slides/slide12.xml" Id="R0474bfcced854820" /><Relationship Type="http://schemas.openxmlformats.org/officeDocument/2006/relationships/slide" Target="/ppt/slides/slide13.xml" Id="Rabade492ac0349b8" /><Relationship Type="http://schemas.openxmlformats.org/officeDocument/2006/relationships/slide" Target="/ppt/slides/slide14.xml" Id="Re65af6ac1e0f463f" /><Relationship Type="http://schemas.openxmlformats.org/officeDocument/2006/relationships/slide" Target="/ppt/slides/slide15.xml" Id="R225f10cea6d94467" /><Relationship Type="http://schemas.openxmlformats.org/officeDocument/2006/relationships/slide" Target="/ppt/slides/slide16.xml" Id="R7e2bea3cec5e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94c4360c1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3bee68b7d042f5" /><Relationship Type="http://schemas.openxmlformats.org/officeDocument/2006/relationships/notesMaster" Target="/ppt/notesMasters/notesMaster1.xml" Id="R7f3f0e8e67dc4b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517a0862494ab1" /><Relationship Type="http://schemas.openxmlformats.org/officeDocument/2006/relationships/notesMaster" Target="/ppt/notesMasters/notesMaster1.xml" Id="Rdf64673c25994c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7da41c548047d1" /><Relationship Type="http://schemas.openxmlformats.org/officeDocument/2006/relationships/notesMaster" Target="/ppt/notesMasters/notesMaster1.xml" Id="R8b09695e4c914e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d8cf004ab477f" /><Relationship Type="http://schemas.openxmlformats.org/officeDocument/2006/relationships/notesMaster" Target="/ppt/notesMasters/notesMaster1.xml" Id="R19a19022d48b4b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f398040848482f" /><Relationship Type="http://schemas.openxmlformats.org/officeDocument/2006/relationships/notesMaster" Target="/ppt/notesMasters/notesMaster1.xml" Id="R674eae2ba4c54e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f039af00024828" /><Relationship Type="http://schemas.openxmlformats.org/officeDocument/2006/relationships/notesMaster" Target="/ppt/notesMasters/notesMaster1.xml" Id="Ra08a90b3af2240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3e86679e73438c" /><Relationship Type="http://schemas.openxmlformats.org/officeDocument/2006/relationships/notesMaster" Target="/ppt/notesMasters/notesMaster1.xml" Id="R91737c1973b148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db4a858bdd42e6" /><Relationship Type="http://schemas.openxmlformats.org/officeDocument/2006/relationships/notesMaster" Target="/ppt/notesMasters/notesMaster1.xml" Id="R27cb7a8020c244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851d4eb874492" /><Relationship Type="http://schemas.openxmlformats.org/officeDocument/2006/relationships/notesMaster" Target="/ppt/notesMasters/notesMaster1.xml" Id="R13d5a4bebce44d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1abfcf896a4ac4" /><Relationship Type="http://schemas.openxmlformats.org/officeDocument/2006/relationships/notesMaster" Target="/ppt/notesMasters/notesMaster1.xml" Id="R49801cbf82474e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ec6bb03bb84448" /><Relationship Type="http://schemas.openxmlformats.org/officeDocument/2006/relationships/notesMaster" Target="/ppt/notesMasters/notesMaster1.xml" Id="Rbee34aff267b43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174af57f534393" /><Relationship Type="http://schemas.openxmlformats.org/officeDocument/2006/relationships/notesMaster" Target="/ppt/notesMasters/notesMaster1.xml" Id="R81fa641e2be04b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c9c8a88d974543" /><Relationship Type="http://schemas.openxmlformats.org/officeDocument/2006/relationships/notesMaster" Target="/ppt/notesMasters/notesMaster1.xml" Id="Red11af37272744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a299b52caf42c5" /><Relationship Type="http://schemas.openxmlformats.org/officeDocument/2006/relationships/notesMaster" Target="/ppt/notesMasters/notesMaster1.xml" Id="Rca9504ae928b4a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2f710a4fd44812" /><Relationship Type="http://schemas.openxmlformats.org/officeDocument/2006/relationships/notesMaster" Target="/ppt/notesMasters/notesMaster1.xml" Id="R6628844c93be44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0773f8938644b3" /><Relationship Type="http://schemas.openxmlformats.org/officeDocument/2006/relationships/notesMaster" Target="/ppt/notesMasters/notesMaster1.xml" Id="Rfa4f4639fc9b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project prototype presentation. It does not claim approval or operational use by the Maharashtra authorities.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of the working website appear in the implementation, results and 3D place guide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screenshot captured from the local project demo on 3 October 2026. Indicators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visitor journey cards are retained as contextual problem framing. The project solution is a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screenshot from the local project demo on 3 October 2026. The 3D scene is illustrative, not an official site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local project demo, 3 October 2026. Forecast values are simulated, not measured field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https://github.com/hardiksedani/mahakumbh_projects</a:t>
            </a:r>
          </a:p>
          <a:p xmlns:a="http://schemas.openxmlformats.org/drawingml/2006/main">
            <a:r>
              <a:t>Official landmark sources: https://nashik.gov.in/en/tourist-place/ramkund-nashik/ and https://nashik.gov.in/en/tourist-place/kushavart-tirtha-trimbakeshwar/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screenshots from the local project demo. Scenes and pin locations are illustrative and require official GIS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5dcc81dba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a33076e0643d2" /><Relationship Type="http://schemas.openxmlformats.org/officeDocument/2006/relationships/slideLayout" Target="/ppt/slideLayouts/slideLayout1.xml" Id="R1eb7c26e65e54e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7c26e65e54e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19c22d9a4a99" /><Relationship Type="http://schemas.openxmlformats.org/officeDocument/2006/relationships/image" Target="/ppt/media/image.png" Id="Rf3ba5d5e1ec041e9" /><Relationship Type="http://schemas.openxmlformats.org/officeDocument/2006/relationships/notesSlide" Target="/ppt/notesSlides/notesSlide1.xml" Id="R125592f93f9f40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405743d21411c" /><Relationship Type="http://schemas.openxmlformats.org/officeDocument/2006/relationships/image" Target="/ppt/media/image2.png" Id="Ra43d9b3204204cd2" /><Relationship Type="http://schemas.openxmlformats.org/officeDocument/2006/relationships/notesSlide" Target="/ppt/notesSlides/notesSlide2.xml" Id="R1a3686d1798740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020b7e3bb4502" /><Relationship Type="http://schemas.openxmlformats.org/officeDocument/2006/relationships/image" Target="/ppt/media/image3.png" Id="Rc43499946b034270" /><Relationship Type="http://schemas.openxmlformats.org/officeDocument/2006/relationships/image" Target="/ppt/media/image.jpeg" Id="R920b6abaf9ba44a6" /><Relationship Type="http://schemas.openxmlformats.org/officeDocument/2006/relationships/notesSlide" Target="/ppt/notesSlides/notesSlide3.xml" Id="R96b5ce8632ab49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45db9b7e74f20" /><Relationship Type="http://schemas.openxmlformats.org/officeDocument/2006/relationships/image" Target="/ppt/media/image4.png" Id="R1623e47b3fb64b74" /><Relationship Type="http://schemas.openxmlformats.org/officeDocument/2006/relationships/notesSlide" Target="/ppt/notesSlides/notesSlide4.xml" Id="Ra34a8615df9044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2eb63b2ee49cf" /><Relationship Type="http://schemas.openxmlformats.org/officeDocument/2006/relationships/image" Target="/ppt/media/image5.png" Id="R3b2c989d6c394b93" /><Relationship Type="http://schemas.openxmlformats.org/officeDocument/2006/relationships/notesSlide" Target="/ppt/notesSlides/notesSlide5.xml" Id="R89346aa9fff240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6137e99d343e8" /><Relationship Type="http://schemas.openxmlformats.org/officeDocument/2006/relationships/image" Target="/ppt/media/image6.png" Id="Ra8b1b78723734d16" /><Relationship Type="http://schemas.openxmlformats.org/officeDocument/2006/relationships/notesSlide" Target="/ppt/notesSlides/notesSlide6.xml" Id="Rc1c6ce7d562944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7f16b05494fd3" /><Relationship Type="http://schemas.openxmlformats.org/officeDocument/2006/relationships/image" Target="/ppt/media/image7.png" Id="R637d13e28ac34fda" /><Relationship Type="http://schemas.openxmlformats.org/officeDocument/2006/relationships/notesSlide" Target="/ppt/notesSlides/notesSlide7.xml" Id="R64590c44990546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62c8dc8614f23" /><Relationship Type="http://schemas.openxmlformats.org/officeDocument/2006/relationships/image" Target="/ppt/media/image8.png" Id="R9569b8a293964213" /><Relationship Type="http://schemas.openxmlformats.org/officeDocument/2006/relationships/notesSlide" Target="/ppt/notesSlides/notesSlide8.xml" Id="R3f6655ea40fd4f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64deb25814866" /><Relationship Type="http://schemas.openxmlformats.org/officeDocument/2006/relationships/image" Target="/ppt/media/image9.png" Id="R77b0970d0b554612" /><Relationship Type="http://schemas.openxmlformats.org/officeDocument/2006/relationships/notesSlide" Target="/ppt/notesSlides/notesSlide9.xml" Id="Rfe63dff3be46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748d174154ce4" /><Relationship Type="http://schemas.openxmlformats.org/officeDocument/2006/relationships/image" Target="/ppt/media/image10.png" Id="R86ae68dae4d34149" /><Relationship Type="http://schemas.openxmlformats.org/officeDocument/2006/relationships/image" Target="/ppt/media/image2.jpeg" Id="Rb3e9eb879924425a" /><Relationship Type="http://schemas.openxmlformats.org/officeDocument/2006/relationships/notesSlide" Target="/ppt/notesSlides/notesSlide10.xml" Id="R8678497927eb49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1323585764b2b" /><Relationship Type="http://schemas.openxmlformats.org/officeDocument/2006/relationships/image" Target="/ppt/media/image11.png" Id="Rc7706dfcf70944a8" /><Relationship Type="http://schemas.openxmlformats.org/officeDocument/2006/relationships/notesSlide" Target="/ppt/notesSlides/notesSlide11.xml" Id="R1bcde3551b5b48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14f65c6304e65" /><Relationship Type="http://schemas.openxmlformats.org/officeDocument/2006/relationships/image" Target="/ppt/media/image12.png" Id="R98a0817bbb264b4e" /><Relationship Type="http://schemas.openxmlformats.org/officeDocument/2006/relationships/image" Target="/ppt/media/image3.jpeg" Id="R2a65b3c1c1b9406d" /><Relationship Type="http://schemas.openxmlformats.org/officeDocument/2006/relationships/notesSlide" Target="/ppt/notesSlides/notesSlide12.xml" Id="R776023ee2c8348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117c481a646b0" /><Relationship Type="http://schemas.openxmlformats.org/officeDocument/2006/relationships/image" Target="/ppt/media/image13.png" Id="Rfbeda009ca4f4e83" /><Relationship Type="http://schemas.openxmlformats.org/officeDocument/2006/relationships/notesSlide" Target="/ppt/notesSlides/notesSlide13.xml" Id="R79af0ff870d249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5a149f4a04d9f" /><Relationship Type="http://schemas.openxmlformats.org/officeDocument/2006/relationships/image" Target="/ppt/media/image14.png" Id="R2062372d0b7748bf" /><Relationship Type="http://schemas.openxmlformats.org/officeDocument/2006/relationships/notesSlide" Target="/ppt/notesSlides/notesSlide14.xml" Id="R16ca7dc6945b4e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c5741ce31472a" /><Relationship Type="http://schemas.openxmlformats.org/officeDocument/2006/relationships/image" Target="/ppt/media/image15.png" Id="Rbd293038beb04ea7" /><Relationship Type="http://schemas.openxmlformats.org/officeDocument/2006/relationships/image" Target="/ppt/media/image4.jpeg" Id="Rbfa8639701444f05" /><Relationship Type="http://schemas.openxmlformats.org/officeDocument/2006/relationships/image" Target="/ppt/media/image5.jpeg" Id="R944ac9fd360a4320" /><Relationship Type="http://schemas.openxmlformats.org/officeDocument/2006/relationships/notesSlide" Target="/ppt/notesSlides/notesSlide15.xml" Id="R7993cf5c68db47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ddb9f61124b42" /><Relationship Type="http://schemas.openxmlformats.org/officeDocument/2006/relationships/image" Target="/ppt/media/image16.png" Id="Rdb30aa9784e04f63" /><Relationship Type="http://schemas.openxmlformats.org/officeDocument/2006/relationships/notesSlide" Target="/ppt/notesSlides/notesSlide16.xml" Id="Rf8cb42f39e5b4b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a5d5e1ec041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A0148-FF54-4428-9A6E-7739740A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238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9F8CF-80E0-44E5-BDC4-08D92161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B48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1F2B48"/>
                </a:solidFill>
                <a:latin typeface="Cambria"/>
                <a:ea typeface="Cambria"/>
                <a:cs typeface="Cambria"/>
              </a:rPr>
              <a:t>Department of Artificial Intelligence &amp; Data 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26390-3B08-433E-B88D-26E1FB10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B48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F2B48"/>
                </a:solidFill>
                <a:latin typeface="Cambria"/>
                <a:ea typeface="Cambria"/>
                <a:cs typeface="Cambria"/>
              </a:rPr>
              <a:t>Academic Year 2025-26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A8534-EF85-4F09-B1D0-E826974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86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262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KumbhRakshak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208E6-0A27-4582-9ECD-FC64CCB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Safety and Decision Support for Nashik-Trimbakeshwar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DD656-F428-4066-89AB-A53CBE8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425" b="0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Hardik Sedani T8-70  |  Shubham Vishwakarma T5-13</a:t>
            </a:r>
          </a:p>
        </p:txBody>
      </p:sp>
    </p:spTree>
    <p:extLst>
      <p:ext uri="{BB962C8B-B14F-4D97-AF65-F5344CB8AC3E}">
        <p14:creationId xmlns:p14="http://schemas.microsoft.com/office/powerpoint/2010/main" val="11512654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d9b3204204c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19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499946b0342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58F7A-468F-4458-BD16-25B2D222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77914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800E1-B6FE-4089-B733-AFB2DC9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85950"/>
            <a:ext cx="388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8DE7B-A0D9-4DAF-99B1-BFC32379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752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KumbhRakshak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20DF1-4893-418E-8060-22B6352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 place-linked command-centre prototype for the upcoming Nashik-Trimbakeshwar Simhastha.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D639F-B463-4DA7-9503-9AA180A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037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Shows locations, crowd indicators and incident information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7D81B-476D-40C1-97D4-44FCA8A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0450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Uses a 3D guide to explain where ghats and facilities belong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64C5B-8936-490C-B056-F35B52A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0052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Links each place to its relevant monitoring or response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524A3-B75B-43A3-B5AB-FC85F164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00600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Requires official GIS, live feeds and validation before field use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6abaf9ba44a6"/>
          <a:stretch xmlns:a="http://schemas.openxmlformats.org/drawingml/2006/main"/>
        </p:blipFill>
        <p:spPr>
          <a:xfrm xmlns:a="http://schemas.openxmlformats.org/drawingml/2006/main">
            <a:off x="9686925" y="2364737"/>
            <a:ext cx="3810000" cy="233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25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3e47b3fb64b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A6493-0648-4A23-A44A-B06F4EB3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66925"/>
            <a:ext cx="11668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CB5E4-094E-4DFF-BD84-22FBF2BB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2407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 large event needs clear place context when crowd, camera and public reports arrive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0838F-1053-45F7-B638-4EAB89E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1E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065E9-D609-4D49-A5B0-A0A6B06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40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F32EA-F639-40E4-A694-4BACD9FF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052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Crowd bottlenecks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A55AE-8B2C-4F8B-AC53-7F990A73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5B065-E2A8-4DA5-99F2-130EBDFB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3627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A81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D5A819"/>
                </a:solidFill>
                <a:latin typeface="Calibri"/>
                <a:ea typeface="Calibri"/>
                <a:cs typeface="Calibri"/>
              </a:rPr>
              <a:t>Research Gap: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2107E-B76C-40E6-A5E7-76190CF1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36270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place-linked view that connects signals, facilities and human response is missing from many tools.</a:t>
            </a:r>
          </a:p>
        </p:txBody>
      </p:sp>
    </p:spTree>
    <p:extLst>
      <p:ext uri="{BB962C8B-B14F-4D97-AF65-F5344CB8AC3E}">
        <p14:creationId xmlns:p14="http://schemas.microsoft.com/office/powerpoint/2010/main" val="13914934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c989d6c394b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8BFE0-C01F-47AE-9AD2-F368531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86025"/>
            <a:ext cx="5372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679B5-B374-41C1-BA77-B6633776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05075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Show Nashik and Trimbakeshwar landmarks in an interactive 3D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41D7A-9765-414E-BC53-1365501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29050"/>
            <a:ext cx="5372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45007-8E78-4D8F-98AC-9352482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Connect each landmark to the related crowd, map or response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68C43-8C70-4B9F-80E1-28D1870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62550"/>
            <a:ext cx="5372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D45B7-08C9-415B-83ED-07368FAD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Surface crowd pressure and incident signals for human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2A5BB-7849-4E87-85DA-EDF02157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77000"/>
            <a:ext cx="5372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85EAF-1C44-4296-97F5-B2763884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496050"/>
            <a:ext cx="533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Explain demo data and unverified information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CA6AA-1EF6-4D5C-B577-7CE4AFD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86025"/>
            <a:ext cx="40862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B9427-2FAB-4D32-87A2-0E402DC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05075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Bring many project features into one understandable website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B564B-B3F8-4CE3-888E-527B4D9A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40862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E9879-DAD1-494A-B9D5-5782813D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4810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Support claim review before public communication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2BE02-338B-4756-A501-9EFEA263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62550"/>
            <a:ext cx="40862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A1EB7-AB12-4416-AB4A-91F5DB07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18160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Prepare for GIS and live-feed integration after validation</a:t>
            </a:r>
          </a:p>
        </p:txBody>
      </p:sp>
    </p:spTree>
    <p:extLst>
      <p:ext uri="{BB962C8B-B14F-4D97-AF65-F5344CB8AC3E}">
        <p14:creationId xmlns:p14="http://schemas.microsoft.com/office/powerpoint/2010/main" val="5903925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1b78723734d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F4F00-40D1-4F62-A54B-4335C433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565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43E50-2D3D-4A51-85DD-55D09E4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337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Literature Survey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EB61F-1C3B-496B-A5C8-5355A67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81915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Research on Kumbh safety, crowd analysis and digital reporting informs this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B86C5-D479-4B8D-B278-19C8CA5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81125"/>
            <a:ext cx="4219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7AFA8-F77B-418E-A346-34E0E64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57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Relevance to KumbhRakshak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771E9-98F0-4A77-86C6-1D1669F1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71650"/>
            <a:ext cx="4200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7F15F-01FA-49BF-A190-7C66598D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3990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Sets the real-world safety and coordination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9743B-768D-4C75-BE95-5F7947DA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62225"/>
            <a:ext cx="4200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64450-4324-4983-B32E-4865266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38425"/>
            <a:ext cx="3990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Supports camera-based crowd observation as a future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0A0D4-4920-4B11-8359-842AF04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62325"/>
            <a:ext cx="4200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37E59-A174-4356-B740-B8C1BE7A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3990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Shows density estimation can help zone-level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68A26-17EC-4068-B3F1-832026AA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29075"/>
            <a:ext cx="420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F1861-C2F7-49D2-86D7-E385410C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3990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Motivates forecasts, but field accuracy must be tested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244BA-573D-4BA5-BA59-74220F4E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714875"/>
            <a:ext cx="42005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70872-5ED6-47CD-90C6-59326F12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91075"/>
            <a:ext cx="3990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Explains risk around ghat pedestrian bottlenecks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5219A-710D-41D8-BAC3-70595EB8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19725"/>
            <a:ext cx="4200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5AD40-F4D4-48E2-B3C3-1C9C9C8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95925"/>
            <a:ext cx="3990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Supports accessibility-aware place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CEDC8-165F-490A-AEB5-F6995EAA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134100"/>
            <a:ext cx="42005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B1A43-AB6A-4CE7-9F57-4F1949C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10300"/>
            <a:ext cx="3990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Motivates human review of public reports and claims</a:t>
            </a:r>
          </a:p>
        </p:txBody>
      </p:sp>
    </p:spTree>
    <p:extLst>
      <p:ext uri="{BB962C8B-B14F-4D97-AF65-F5344CB8AC3E}">
        <p14:creationId xmlns:p14="http://schemas.microsoft.com/office/powerpoint/2010/main" val="2610928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d13e28ac34f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034DD-54BB-43F0-AE98-40B6AC79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8122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14A22-16E5-4FFE-8557-841FA59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90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Kumbh studies show the scale of crowd coordination and safety planning.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40234-7F6B-4D51-B249-BDDDE29C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71800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002B9-8267-4049-BBC5-E6483844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8132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Vision research supports crowd counting, but site-specific validation is essential.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0B941-2E33-4656-B11B-BF1030E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4332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64FA6-7012-460B-99C3-F35BB919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528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Forecasting can aid early review when reliable local data is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1329A-5B42-452F-A4B2-1294DFF6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52437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9FB1A-81E0-48E1-92EC-90892C09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3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Accessible navigation research informs a future verified route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B63D1-7463-4671-9D0E-984A718A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8637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DCE5D-E60A-4675-B288-0B6D4C4B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295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Fast-moving online claims require evidence and human approval before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250C0-38F0-44D2-B5C3-842D56F8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77000"/>
            <a:ext cx="1147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A2CF-3334-4B85-8C01-F0D8019F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A81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5A819"/>
                </a:solidFill>
                <a:latin typeface="Calibri"/>
                <a:ea typeface="Calibri"/>
                <a:cs typeface="Calibri"/>
              </a:rPr>
              <a:t>Confirmed Research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1DF87-0DB9-4CA5-A2E1-0133C11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53200"/>
            <a:ext cx="11106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KumbhRakshak brings place context, monitoring views and response workflows together. Field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2599163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9b8a2939642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BAA0A-C9BC-4033-B935-7E7E73E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00325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64F07-3D68-41A7-B078-C00D24DB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479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Frontend: Next.js, React, Three.js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48D97-1D75-433F-976C-3A3F4542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43275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F9497-9CE8-4DFF-80A5-63E9625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Backend: FastAPI and WebSockets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58308-E5F6-440B-B72F-BB156093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1480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9B611-478A-4415-98BB-3D4DCF3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62425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Data: Firestore adapter, demo memory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248B7-1453-49FB-8B8A-170902D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1965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60194-4F26-4B95-8D91-689E277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67275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AI: vision, claim and crowd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E997B-FD42-4A82-9123-7E4F04DF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56260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9A756-B257-4FB9-A20F-0105D98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10225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Maps: Mapbox GL and OpenStreetMap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05EA1-C773-4D5F-9F4C-CA3501E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181725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9355E-BC97-460C-9B3C-4D188D82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2293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Tools: Docker, Git, 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0854-5043-4210-81FE-2E19517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690A4-B730-48E6-88E1-C6AF36A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812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Camera feeds: permissioned sources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41C00-00E5-410C-AEAF-58709BBC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6F40B-F78C-495D-AC04-A0BF0BC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623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Operator laptop or server: 8-16 GB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4A1C1-FCAF-40EF-AE99-19533E81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DB5A6-BCB4-4DEC-B2CC-B8D79D3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33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Phones: browsers for field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10D04-AB54-403B-B79E-132BF41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D7516-9597-43CE-97DA-2636FEBF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Network: reliable and secured APIs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3F1BD-A459-4871-984D-4EB2DE3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197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A500E-8751-42EB-8224-801091D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483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GIS: official ghat and facility coordinates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2E10F-DCF9-4DF5-8602-17A6DD3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705600"/>
            <a:ext cx="11582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1FB89-EC8E-41CF-BDA3-C47E2D72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848475"/>
            <a:ext cx="1109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A live deployment needs official data access, security review and field testing.</a:t>
            </a:r>
          </a:p>
        </p:txBody>
      </p:sp>
    </p:spTree>
    <p:extLst>
      <p:ext uri="{BB962C8B-B14F-4D97-AF65-F5344CB8AC3E}">
        <p14:creationId xmlns:p14="http://schemas.microsoft.com/office/powerpoint/2010/main" val="7803643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0970d0b5546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EB6B1-6DC2-423F-8F0B-5D2E7B7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76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2715-356A-4311-93CE-4C413CED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050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4085-EAF6-4BE2-A5D1-1021908D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Place guide, advisories and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0510-7536-49AE-84C5-1B95A21D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76500"/>
            <a:ext cx="2647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CA253-338A-49C7-9263-4290C49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0507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Field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7E394-59B2-44D6-BA9E-962AC959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432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Observations and incident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7AB7A-298D-426F-BEB0-0ABA599B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196C1-BAD3-4467-B9C5-401494E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0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Operator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C8EFC-661E-4677-993A-7B911C58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432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Crowd, cameras and human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4198A-7E92-4258-AE7C-46789E25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2238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0C281-E4FB-430F-BC68-E1DC9D1E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7815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Place &amp; Signal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9816A-CB06-4C4F-8E0E-477C29D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08635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Maps, feeds and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A3E14-C2D7-4683-B415-2BD4280C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1714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6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02F03-DE05-46ED-A67B-B731DC70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81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Event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677DF-166B-4343-AA80-EA0794ED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86350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and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28B5A-0C12-4090-ACAB-5D28CFB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62500"/>
            <a:ext cx="1714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D98FE-B326-4A88-AF28-432767A9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781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Indicators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9509C-50AB-4813-A7F9-F2B2634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86350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Illustrative demo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4E60B-96FD-40B4-9176-5A8B89F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1752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6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6F213-11E7-4F27-A827-E7DA60D5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7815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EC475-8255-45C0-9727-A9620328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86350"/>
            <a:ext cx="1657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Operator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DD292-52EB-4FA4-B068-7986F888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62500"/>
            <a:ext cx="1828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76D26-769A-480D-A048-ED536E8B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815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Alerts &amp; Guidance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22ADC-D8C1-42F1-9B6D-661CBEC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0863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Approved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48FBA-D2BA-41D7-B5D0-21D10534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34125"/>
            <a:ext cx="971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F9C8E-D35B-49B8-83C1-7A6B6519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912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dashboard connects each signal to a named location before an operator decides what to do.</a:t>
            </a:r>
          </a:p>
        </p:txBody>
      </p:sp>
    </p:spTree>
    <p:extLst>
      <p:ext uri="{BB962C8B-B14F-4D97-AF65-F5344CB8AC3E}">
        <p14:creationId xmlns:p14="http://schemas.microsoft.com/office/powerpoint/2010/main" val="20172550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e68dae4d341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5EE86-EBC0-475A-BEE4-BB7D4540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7858125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9eb879924425a"/>
          <a:stretch xmlns:a="http://schemas.openxmlformats.org/drawingml/2006/main"/>
        </p:blipFill>
        <p:spPr>
          <a:xfrm xmlns:a="http://schemas.openxmlformats.org/drawingml/2006/main">
            <a:off x="3553377" y="1495425"/>
            <a:ext cx="7714146" cy="47339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5AEDA-0C7A-4CFC-95DC-444C954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391275"/>
            <a:ext cx="1165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7E82A-4AB3-4F76-83BD-C0C91BAD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15100"/>
            <a:ext cx="11210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KumbhRakshak 3D Place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162DB-84A7-4EE2-966F-0D90038C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905625"/>
            <a:ext cx="11210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Schematic Nashik scene: choose Ramkund or another visible landmark, then open its linked feature portal.</a:t>
            </a:r>
          </a:p>
        </p:txBody>
      </p:sp>
    </p:spTree>
    <p:extLst>
      <p:ext uri="{BB962C8B-B14F-4D97-AF65-F5344CB8AC3E}">
        <p14:creationId xmlns:p14="http://schemas.microsoft.com/office/powerpoint/2010/main" val="15867709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06dfcf70944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3F800-211C-40E4-83BF-6045BF9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193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5DB2E-3F05-49D9-A6E5-2B6F423D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19350"/>
            <a:ext cx="2362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3D Place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CB550-7D94-43E7-801F-9F9E0DB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3367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Illustrative Nashik and Trimbakeshwar scenes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CC27A-EE80-45A2-879E-AA43C75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19350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53E1D-96D3-4B6C-8220-BDD65567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19350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Crowd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84D3F-5512-440A-800A-6109435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2276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Example 15, 30 and 60-minute forecasts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8E8EF-1563-41B5-8EC1-69DACCB3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052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17A64-C994-41C2-9CDF-0ED8432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05200"/>
            <a:ext cx="2362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Incident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E1047-5528-494A-8071-C35B66EC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195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Timeline and operator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727E5-2044-4C52-A2B2-C288996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05200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99513-81BB-4B5D-85C9-1B850504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05200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Claim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19D8C-B2DE-47F1-B036-EEB0255B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19525"/>
            <a:ext cx="2276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Evidence before public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B5B25-0DF9-4E58-B893-4498C1F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47925"/>
            <a:ext cx="5181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938CA-3021-4BD0-907E-A2C62D3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5A81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5A819"/>
                </a:solidFill>
                <a:latin typeface="Calibri"/>
                <a:ea typeface="Calibri"/>
                <a:cs typeface="Calibri"/>
              </a:rPr>
              <a:t>Prototype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FBCB1-C8FE-449F-83AF-F9E3F27B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 front end  +  FastAPI back end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In-memory demo data and WebSocket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EC2B8-4736-4ED8-8563-8019A875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5476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C0FB3-1840-4BA3-824E-A490046B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Current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B3291-3AA1-4325-BAB0-9ED6556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4791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Real CCTV, crowd counts and GIS are not connected.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329AB-09C1-4011-85F8-DE470C04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38750"/>
            <a:ext cx="4791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Scenario events and forecast values are simulated.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C58ED-6ECD-4DA1-9F5D-1FA6BAF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0"/>
            <a:ext cx="4791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Emergency actions need an authorized human operator.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A9034-DF33-451E-9436-54C1CBCA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91050"/>
            <a:ext cx="64103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3BCD5-F6D9-4BFB-9082-5317D3A0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Demo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D9F36-8449-4CE3-912A-E0BA7607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14925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Select a place  →  view its portal  →  inspect the signal  →  record an operator decision</a:t>
            </a:r>
          </a:p>
        </p:txBody>
      </p:sp>
    </p:spTree>
    <p:extLst>
      <p:ext uri="{BB962C8B-B14F-4D97-AF65-F5344CB8AC3E}">
        <p14:creationId xmlns:p14="http://schemas.microsoft.com/office/powerpoint/2010/main" val="17377143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0817bbb264b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C765B-0B82-4B38-A8C4-0FE53E80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33550"/>
            <a:ext cx="5619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8948-C1FD-4C49-8840-3E72C4A5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7907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Demonstrated Prototype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38942-3EE3-484F-A832-2D07F158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1455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63299-6453-4071-AF57-C5C61B7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240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3D place guide opens Nashik and Trimbakeshwar scenes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72B54-FF41-46B1-B883-63D4AC4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4317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B227E-21F9-4436-BD07-748C70D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527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Ramkund hotspot links to a crowd-related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B69CA-4C75-418C-BC4B-241AD129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CDED1-5C33-46E7-A5FE-0C34FBC8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813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Simulation starts, pauses and logs injected demo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64685-D8D5-43C8-B511-C75D20B6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70E95-A3E5-4602-A397-FD64C21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995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Crowd portal displays example forecast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8234B-7A7C-4E47-82C3-E7A91CA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2905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53B56-3FD5-4B5A-A3DE-51B7FEE6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Overview groups available features by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D75B-6665-4EC9-A141-F903178F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5767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EBF79-58C0-4AAE-8887-F2C7574A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Local back-end tests passed in demo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71E68-C4C1-45EB-AA8A-2EF4E858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A64FB-EFE2-4D50-9CD5-EB3AF943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958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All operational figures are labeled as illustrative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8FFC8-A5BF-4D34-869F-164F029F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1492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24654-C7D4-4D5D-87BA-41A7E61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2445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Field accuracy and response impact remain untested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DCB43-DED3-4D97-9A7F-69C8B2C6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352550"/>
            <a:ext cx="6200775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5b3c1c1b9406d"/>
          <a:stretch xmlns:a="http://schemas.openxmlformats.org/drawingml/2006/main"/>
        </p:blipFill>
        <p:spPr>
          <a:xfrm xmlns:a="http://schemas.openxmlformats.org/drawingml/2006/main">
            <a:off x="7324725" y="1714945"/>
            <a:ext cx="6067425" cy="372338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4DB1E-52EB-47EC-86D4-9BB1687B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57825"/>
            <a:ext cx="566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Crowd portal: simulated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0A9DD-9F59-4AD6-98F6-E1A479D7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34075"/>
            <a:ext cx="53911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591D3-8CE7-498B-B5C9-D2EA89F7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8170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Validation before field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D001A-8D90-4542-95FD-F4B7D5DF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29375"/>
            <a:ext cx="50768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Connect verified GIS and live feeds, then test alerts, accuracy and response workflows with local authorities.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CD02A-3727-45F7-90EB-9C1A4286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48350"/>
            <a:ext cx="60293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16BAC-B9BF-428F-9150-38829B3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067425"/>
            <a:ext cx="5572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The screenshots demonstrate software behavior; they do not establish safety performance at a real event.</a:t>
            </a:r>
          </a:p>
        </p:txBody>
      </p:sp>
    </p:spTree>
    <p:extLst>
      <p:ext uri="{BB962C8B-B14F-4D97-AF65-F5344CB8AC3E}">
        <p14:creationId xmlns:p14="http://schemas.microsoft.com/office/powerpoint/2010/main" val="20113381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da009ca4f4e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4E2A5-168F-4E1D-8F01-A051F18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71675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A982D-D15E-4954-ACF5-02AC601B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09775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Use approved 2027 GIS and ghat facility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01BFF-4DBF-4115-8077-30F27873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AF452-ABC1-40C1-8096-D4572FD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81375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Integrate permissioned camera and incident feeds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6479B-9CD3-4468-88A6-117BD10C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F6D14-44C9-4C8C-B3C8-071CA3E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05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Measure risk-model accuracy and false alerts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7495-1AB0-4D61-9468-B8DF0B8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91250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10E60-50AD-4A6D-A78A-3022E518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229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Connect emergency services through approved protocols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96C6A-AFD8-427F-9265-93C63D0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71675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4723C-654B-449D-B48A-4B33D6F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09775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Add audited, multilingual public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A80C5-CFE1-4D9C-B41D-4323DD14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43275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2AC32-D1A3-4E8E-9218-97B7081A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81375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Test low-connectivity use with volunteers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F2027-0902-4430-B3EE-7C0D55DC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AFF30-140B-4005-B2A6-5AD29FA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705350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Run staged pilots before operational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E7C7B-DF4A-4BAB-85E4-1145D665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91250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ACA5F-5A6C-4307-BE67-E73AEC63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6229350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Study historical data for 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20289166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2372d0b7748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F9905-44D4-4621-B8BF-7487F6ED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838325"/>
            <a:ext cx="12011025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AB35A-E03F-4CA4-9D86-B425729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764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[1]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9E300-3E0C-42FF-A3E0-8707DBE7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9621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Kanaujiya, A.K. &amp; Tiwari, V. (2022), Crowd Management and Strategies for Security and Surveillance During Large Mass Gathering Events: Prayagraj Kumbh Mela 2019 Experience. National Academy Science Letters.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3E59-C8FE-4B00-8C07-1376D6F2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956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B44FE-6CB2-4C95-A24F-50B44FC9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813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Nashik District Administration, Ramkund Nashik, official landmark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3805D-2FC6-44FF-B329-24867525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7147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BDB8C-2918-47A3-B697-9A8BB866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0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Nashik District Administration, Kushavart Tirtha, Trimbakeshwar, official landmark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A1366-9E1A-410C-AC0F-12A2419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33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41A70-9F8E-40BA-B443-E501FC9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4196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Tiwari, S. &amp; Chowdhary, R. (2022), Technology and crowd management: Kumbh case study.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D0C2F-22C8-4C8A-8D2D-3477E804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3530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[5]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8F3B8-DDAB-4698-A17C-37112E9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2387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KumbhRakshak project repository: github.com/hardiksedani/mahakumbh_projects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D51CE-78FC-41C9-8416-4DD4716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1722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80411-4B1C-487E-BC9B-9E00AE3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0579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KumbhRakshak local website prototype, screenshots captured 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99673661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93038beb04e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EB203-C7D4-4A75-BED9-EF1AA2A5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7858125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8639701444f05"/>
          <a:stretch xmlns:a="http://schemas.openxmlformats.org/drawingml/2006/main"/>
        </p:blipFill>
        <p:spPr>
          <a:xfrm xmlns:a="http://schemas.openxmlformats.org/drawingml/2006/main">
            <a:off x="3533775" y="2493650"/>
            <a:ext cx="3762375" cy="2308849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ac9fd360a4320"/>
          <a:stretch xmlns:a="http://schemas.openxmlformats.org/drawingml/2006/main"/>
        </p:blipFill>
        <p:spPr>
          <a:xfrm xmlns:a="http://schemas.openxmlformats.org/drawingml/2006/main">
            <a:off x="7429500" y="2493650"/>
            <a:ext cx="3762375" cy="230884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5A5BB-2EE4-425C-824E-E7DCE25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391275"/>
            <a:ext cx="1165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23B91-9B25-4D0D-93F2-33053B0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15100"/>
            <a:ext cx="11210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Two Linked 3D Scenes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F362A-1319-444C-84F7-07CB9FE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905625"/>
            <a:ext cx="11210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Nashik and Trimbakeshwar each have schematic landmarks and direct links to the relevant feature portals.</a:t>
            </a:r>
          </a:p>
        </p:txBody>
      </p:sp>
    </p:spTree>
    <p:extLst>
      <p:ext uri="{BB962C8B-B14F-4D97-AF65-F5344CB8AC3E}">
        <p14:creationId xmlns:p14="http://schemas.microsoft.com/office/powerpoint/2010/main" val="8122802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0aa9784e04f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4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2026-10-03T17:03:53.0940000Z</dcterms:created>
  <dcterms:modified xsi:type="dcterms:W3CDTF">2026-10-03T17:03:53.0940000Z</dcterms:modified>
</coreProperties>
</file>