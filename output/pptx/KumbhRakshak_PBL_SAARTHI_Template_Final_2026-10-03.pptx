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de4b17880d4fad" /><Relationship Type="http://schemas.openxmlformats.org/officeDocument/2006/relationships/extended-properties" Target="/docProps/app.xml" Id="Rd549339b54ab476d" /><Relationship Type="http://schemas.openxmlformats.org/officeDocument/2006/relationships/officeDocument" Target="/ppt/presentation.xml" Id="Rc9c02d81310849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ceb2d117645e4"/>
  </p:sldMasterIdLst>
  <p:notesMasterIdLst>
    <p:notesMasterId xmlns:r="http://schemas.openxmlformats.org/officeDocument/2006/relationships" r:id="R094742827fcd4f18"/>
  </p:notesMasterIdLst>
  <p:sldIdLst>
    <p:sldId xmlns:r="http://schemas.openxmlformats.org/officeDocument/2006/relationships" id="256" r:id="R672d9b91b64e440a"/>
    <p:sldId xmlns:r="http://schemas.openxmlformats.org/officeDocument/2006/relationships" id="257" r:id="R9633967b688241b7"/>
    <p:sldId xmlns:r="http://schemas.openxmlformats.org/officeDocument/2006/relationships" id="258" r:id="Rcc02fbf215844f9f"/>
    <p:sldId xmlns:r="http://schemas.openxmlformats.org/officeDocument/2006/relationships" id="259" r:id="R3839d77bd7994634"/>
    <p:sldId xmlns:r="http://schemas.openxmlformats.org/officeDocument/2006/relationships" id="260" r:id="R83c0d0e52e134ebf"/>
    <p:sldId xmlns:r="http://schemas.openxmlformats.org/officeDocument/2006/relationships" id="261" r:id="Rd4b467ad8ede41ae"/>
    <p:sldId xmlns:r="http://schemas.openxmlformats.org/officeDocument/2006/relationships" id="262" r:id="R710e30a4000744bc"/>
    <p:sldId xmlns:r="http://schemas.openxmlformats.org/officeDocument/2006/relationships" id="263" r:id="R018fd054f5a94338"/>
    <p:sldId xmlns:r="http://schemas.openxmlformats.org/officeDocument/2006/relationships" id="264" r:id="Rfcdd334cc1384699"/>
    <p:sldId xmlns:r="http://schemas.openxmlformats.org/officeDocument/2006/relationships" id="265" r:id="R4b0fed289e0a4138"/>
    <p:sldId xmlns:r="http://schemas.openxmlformats.org/officeDocument/2006/relationships" id="266" r:id="R77141cffd7f94973"/>
    <p:sldId xmlns:r="http://schemas.openxmlformats.org/officeDocument/2006/relationships" id="267" r:id="R7c4794abf850442c"/>
    <p:sldId xmlns:r="http://schemas.openxmlformats.org/officeDocument/2006/relationships" id="268" r:id="Re0d10e0e84104187"/>
    <p:sldId xmlns:r="http://schemas.openxmlformats.org/officeDocument/2006/relationships" id="269" r:id="R753dd6f183394b0c"/>
    <p:sldId xmlns:r="http://schemas.openxmlformats.org/officeDocument/2006/relationships" id="270" r:id="Rf7755018461f4c0b"/>
    <p:sldId xmlns:r="http://schemas.openxmlformats.org/officeDocument/2006/relationships" id="271" r:id="R0460be62bc85492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c5031e730a407e" /><Relationship Type="http://schemas.openxmlformats.org/officeDocument/2006/relationships/slideMaster" Target="/ppt/slideMasters/slideMaster1.xml" Id="Rab9ceb2d117645e4" /><Relationship Type="http://schemas.openxmlformats.org/officeDocument/2006/relationships/notesMaster" Target="/ppt/notesMasters/notesMaster1.xml" Id="R094742827fcd4f18" /><Relationship Type="http://schemas.openxmlformats.org/officeDocument/2006/relationships/presProps" Target="/ppt/presProps.xml" Id="R2c357adfef9a482e" /><Relationship Type="http://schemas.openxmlformats.org/officeDocument/2006/relationships/tableStyles" Target="/ppt/tableStyles.xml" Id="R611621d426314011" /><Relationship Type="http://schemas.openxmlformats.org/officeDocument/2006/relationships/slide" Target="/ppt/slides/slide1.xml" Id="R672d9b91b64e440a" /><Relationship Type="http://schemas.openxmlformats.org/officeDocument/2006/relationships/slide" Target="/ppt/slides/slide2.xml" Id="R9633967b688241b7" /><Relationship Type="http://schemas.openxmlformats.org/officeDocument/2006/relationships/slide" Target="/ppt/slides/slide3.xml" Id="Rcc02fbf215844f9f" /><Relationship Type="http://schemas.openxmlformats.org/officeDocument/2006/relationships/slide" Target="/ppt/slides/slide4.xml" Id="R3839d77bd7994634" /><Relationship Type="http://schemas.openxmlformats.org/officeDocument/2006/relationships/slide" Target="/ppt/slides/slide5.xml" Id="R83c0d0e52e134ebf" /><Relationship Type="http://schemas.openxmlformats.org/officeDocument/2006/relationships/slide" Target="/ppt/slides/slide6.xml" Id="Rd4b467ad8ede41ae" /><Relationship Type="http://schemas.openxmlformats.org/officeDocument/2006/relationships/slide" Target="/ppt/slides/slide7.xml" Id="R710e30a4000744bc" /><Relationship Type="http://schemas.openxmlformats.org/officeDocument/2006/relationships/slide" Target="/ppt/slides/slide8.xml" Id="R018fd054f5a94338" /><Relationship Type="http://schemas.openxmlformats.org/officeDocument/2006/relationships/slide" Target="/ppt/slides/slide9.xml" Id="Rfcdd334cc1384699" /><Relationship Type="http://schemas.openxmlformats.org/officeDocument/2006/relationships/slide" Target="/ppt/slides/slide10.xml" Id="R4b0fed289e0a4138" /><Relationship Type="http://schemas.openxmlformats.org/officeDocument/2006/relationships/slide" Target="/ppt/slides/slide11.xml" Id="R77141cffd7f94973" /><Relationship Type="http://schemas.openxmlformats.org/officeDocument/2006/relationships/slide" Target="/ppt/slides/slide12.xml" Id="R7c4794abf850442c" /><Relationship Type="http://schemas.openxmlformats.org/officeDocument/2006/relationships/slide" Target="/ppt/slides/slide13.xml" Id="Re0d10e0e84104187" /><Relationship Type="http://schemas.openxmlformats.org/officeDocument/2006/relationships/slide" Target="/ppt/slides/slide14.xml" Id="R753dd6f183394b0c" /><Relationship Type="http://schemas.openxmlformats.org/officeDocument/2006/relationships/slide" Target="/ppt/slides/slide15.xml" Id="Rf7755018461f4c0b" /><Relationship Type="http://schemas.openxmlformats.org/officeDocument/2006/relationships/slide" Target="/ppt/slides/slide16.xml" Id="R0460be62bc85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d59a198cc946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8b04d9eb8d4c31" /><Relationship Type="http://schemas.openxmlformats.org/officeDocument/2006/relationships/notesMaster" Target="/ppt/notesMasters/notesMaster1.xml" Id="R27b8768ef129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150032543d40bb" /><Relationship Type="http://schemas.openxmlformats.org/officeDocument/2006/relationships/notesMaster" Target="/ppt/notesMasters/notesMaster1.xml" Id="Re58de32416154e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747c7bedd4569" /><Relationship Type="http://schemas.openxmlformats.org/officeDocument/2006/relationships/notesMaster" Target="/ppt/notesMasters/notesMaster1.xml" Id="Rdce4af2f5a9b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dcb8f467ff4a2a" /><Relationship Type="http://schemas.openxmlformats.org/officeDocument/2006/relationships/notesMaster" Target="/ppt/notesMasters/notesMaster1.xml" Id="Rb2fa31245da54b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f3b81442624f5f" /><Relationship Type="http://schemas.openxmlformats.org/officeDocument/2006/relationships/notesMaster" Target="/ppt/notesMasters/notesMaster1.xml" Id="Rc42c818009d845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9bbc9cfef4d4e" /><Relationship Type="http://schemas.openxmlformats.org/officeDocument/2006/relationships/notesMaster" Target="/ppt/notesMasters/notesMaster1.xml" Id="R9c0df16a85a542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20c936e2140af" /><Relationship Type="http://schemas.openxmlformats.org/officeDocument/2006/relationships/notesMaster" Target="/ppt/notesMasters/notesMaster1.xml" Id="Redb4048a323d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14857eeb4046f3" /><Relationship Type="http://schemas.openxmlformats.org/officeDocument/2006/relationships/notesMaster" Target="/ppt/notesMasters/notesMaster1.xml" Id="Rabef7cef589b4a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1d5b0ca6f7412b" /><Relationship Type="http://schemas.openxmlformats.org/officeDocument/2006/relationships/notesMaster" Target="/ppt/notesMasters/notesMaster1.xml" Id="R46b94960f1f140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7647ad6a334971" /><Relationship Type="http://schemas.openxmlformats.org/officeDocument/2006/relationships/notesMaster" Target="/ppt/notesMasters/notesMaster1.xml" Id="R5948a7362a52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2c55455b6846df" /><Relationship Type="http://schemas.openxmlformats.org/officeDocument/2006/relationships/notesMaster" Target="/ppt/notesMasters/notesMaster1.xml" Id="Reede021f7ab94d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a0731d47c04b93" /><Relationship Type="http://schemas.openxmlformats.org/officeDocument/2006/relationships/notesMaster" Target="/ppt/notesMasters/notesMaster1.xml" Id="R74c9146e636444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e2a60d86f94698" /><Relationship Type="http://schemas.openxmlformats.org/officeDocument/2006/relationships/notesMaster" Target="/ppt/notesMasters/notesMaster1.xml" Id="Rd316afabc9324d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8e7baa10bd40b3" /><Relationship Type="http://schemas.openxmlformats.org/officeDocument/2006/relationships/notesMaster" Target="/ppt/notesMasters/notesMaster1.xml" Id="Ra5bf13086c1d43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7d1908486e46b8" /><Relationship Type="http://schemas.openxmlformats.org/officeDocument/2006/relationships/notesMaster" Target="/ppt/notesMasters/notesMaster1.xml" Id="Ree43d37282b740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ecc3f79bbf4233" /><Relationship Type="http://schemas.openxmlformats.org/officeDocument/2006/relationships/notesMaster" Target="/ppt/notesMasters/notesMaster1.xml" Id="Rd8f8ba072a5a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project prototype presentation. It does not claim approval or operational use by the Maharashtra authorities.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of the working website appear in the implementation, results and 3D place guide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 screenshot captured from the local project demo on 3 October 2026. Indicators are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visitor journey cards are retained as contextual problem framing. The project solution is a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screenshot from the local project demo on 3 October 2026. The 3D scene is illustrative, not an official site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local project demo, 3 October 2026. Forecast values are simulated, not measured field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repository: https://github.com/hardiksedani/mahakumbh_projects</a:t>
            </a:r>
          </a:p>
          <a:p xmlns:a="http://schemas.openxmlformats.org/drawingml/2006/main">
            <a:r>
              <a:t>Official landmark sources: https://nashik.gov.in/en/tourist-place/ramkund-nashik/ and https://nashik.gov.in/en/tourist-place/kushavart-tirtha-trimbakeshwar/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screenshots from the local project demo. Scenes and pin locations are illustrative and require official GIS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8e34e696e49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ed1c184c44ebf" /><Relationship Type="http://schemas.openxmlformats.org/officeDocument/2006/relationships/slideLayout" Target="/ppt/slideLayouts/slideLayout1.xml" Id="Rdf555ad6474d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55ad6474d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e77b9237e4709" /><Relationship Type="http://schemas.openxmlformats.org/officeDocument/2006/relationships/image" Target="/ppt/media/image.png" Id="R450b26d250654db9" /><Relationship Type="http://schemas.openxmlformats.org/officeDocument/2006/relationships/notesSlide" Target="/ppt/notesSlides/notesSlide1.xml" Id="Rb7a2601b319c4a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02f8a411a4246" /><Relationship Type="http://schemas.openxmlformats.org/officeDocument/2006/relationships/image" Target="/ppt/media/image2.png" Id="R148c55c741d44594" /><Relationship Type="http://schemas.openxmlformats.org/officeDocument/2006/relationships/notesSlide" Target="/ppt/notesSlides/notesSlide2.xml" Id="Rd07e052e1bf145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d0040cd22475f" /><Relationship Type="http://schemas.openxmlformats.org/officeDocument/2006/relationships/image" Target="/ppt/media/image3.png" Id="R9704b0bd15774716" /><Relationship Type="http://schemas.openxmlformats.org/officeDocument/2006/relationships/image" Target="/ppt/media/image.jpeg" Id="R84f31613bfef46d8" /><Relationship Type="http://schemas.openxmlformats.org/officeDocument/2006/relationships/notesSlide" Target="/ppt/notesSlides/notesSlide3.xml" Id="R0bea3825af1e4b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d5cf09a874f87" /><Relationship Type="http://schemas.openxmlformats.org/officeDocument/2006/relationships/image" Target="/ppt/media/image4.png" Id="Rd873861cda1e41a1" /><Relationship Type="http://schemas.openxmlformats.org/officeDocument/2006/relationships/notesSlide" Target="/ppt/notesSlides/notesSlide4.xml" Id="R5b2de9424bbb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20e9e20dc4c5e" /><Relationship Type="http://schemas.openxmlformats.org/officeDocument/2006/relationships/image" Target="/ppt/media/image5.png" Id="R872e89c4f3c64252" /><Relationship Type="http://schemas.openxmlformats.org/officeDocument/2006/relationships/notesSlide" Target="/ppt/notesSlides/notesSlide5.xml" Id="Raefa6ee7d5c94c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48d50b2eb4225" /><Relationship Type="http://schemas.openxmlformats.org/officeDocument/2006/relationships/image" Target="/ppt/media/image6.png" Id="R7e496894d2f949f8" /><Relationship Type="http://schemas.openxmlformats.org/officeDocument/2006/relationships/notesSlide" Target="/ppt/notesSlides/notesSlide6.xml" Id="Rc64e5534419f49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2a094d7594a4f" /><Relationship Type="http://schemas.openxmlformats.org/officeDocument/2006/relationships/image" Target="/ppt/media/image7.png" Id="Rde60783b3dfb4732" /><Relationship Type="http://schemas.openxmlformats.org/officeDocument/2006/relationships/notesSlide" Target="/ppt/notesSlides/notesSlide7.xml" Id="R9ee1e4b2a9464c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bf7b260b44de2" /><Relationship Type="http://schemas.openxmlformats.org/officeDocument/2006/relationships/image" Target="/ppt/media/image8.png" Id="R6d32884c355e452c" /><Relationship Type="http://schemas.openxmlformats.org/officeDocument/2006/relationships/notesSlide" Target="/ppt/notesSlides/notesSlide8.xml" Id="Recfb688ba49046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21c5fdcee45be" /><Relationship Type="http://schemas.openxmlformats.org/officeDocument/2006/relationships/image" Target="/ppt/media/image9.png" Id="R1e4a68bcf4a74b1c" /><Relationship Type="http://schemas.openxmlformats.org/officeDocument/2006/relationships/notesSlide" Target="/ppt/notesSlides/notesSlide9.xml" Id="R39ebeab89d2044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209431fb6432f" /><Relationship Type="http://schemas.openxmlformats.org/officeDocument/2006/relationships/image" Target="/ppt/media/image10.png" Id="Re1c8541a2fc3482a" /><Relationship Type="http://schemas.openxmlformats.org/officeDocument/2006/relationships/image" Target="/ppt/media/image2.jpeg" Id="Rbc1569d2c57649de" /><Relationship Type="http://schemas.openxmlformats.org/officeDocument/2006/relationships/notesSlide" Target="/ppt/notesSlides/notesSlide10.xml" Id="Rede36c85ebf94c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15cc9d0604dd4" /><Relationship Type="http://schemas.openxmlformats.org/officeDocument/2006/relationships/image" Target="/ppt/media/image11.png" Id="Raa917a02cf1f4f15" /><Relationship Type="http://schemas.openxmlformats.org/officeDocument/2006/relationships/notesSlide" Target="/ppt/notesSlides/notesSlide11.xml" Id="R31e7381079f54f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939eec10c4171" /><Relationship Type="http://schemas.openxmlformats.org/officeDocument/2006/relationships/image" Target="/ppt/media/image12.png" Id="R9c0432a2df904b82" /><Relationship Type="http://schemas.openxmlformats.org/officeDocument/2006/relationships/image" Target="/ppt/media/image3.jpeg" Id="Rc6b376d847a748b4" /><Relationship Type="http://schemas.openxmlformats.org/officeDocument/2006/relationships/notesSlide" Target="/ppt/notesSlides/notesSlide12.xml" Id="R4593ae5aa00247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e6ab3106d47ab" /><Relationship Type="http://schemas.openxmlformats.org/officeDocument/2006/relationships/image" Target="/ppt/media/image13.png" Id="R1821a25860574bed" /><Relationship Type="http://schemas.openxmlformats.org/officeDocument/2006/relationships/notesSlide" Target="/ppt/notesSlides/notesSlide13.xml" Id="Rb827dc25d71544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92b4f543c4f86" /><Relationship Type="http://schemas.openxmlformats.org/officeDocument/2006/relationships/image" Target="/ppt/media/image14.png" Id="R8bff627c5d424ea8" /><Relationship Type="http://schemas.openxmlformats.org/officeDocument/2006/relationships/notesSlide" Target="/ppt/notesSlides/notesSlide14.xml" Id="Rcf71308a3c4e4a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60d5b7f6540ce" /><Relationship Type="http://schemas.openxmlformats.org/officeDocument/2006/relationships/image" Target="/ppt/media/image15.png" Id="R86d01008af744f11" /><Relationship Type="http://schemas.openxmlformats.org/officeDocument/2006/relationships/image" Target="/ppt/media/image4.jpeg" Id="R7fb12e14bad94787" /><Relationship Type="http://schemas.openxmlformats.org/officeDocument/2006/relationships/image" Target="/ppt/media/image5.jpeg" Id="R44f68b939f1b4d51" /><Relationship Type="http://schemas.openxmlformats.org/officeDocument/2006/relationships/notesSlide" Target="/ppt/notesSlides/notesSlide15.xml" Id="R9742f896c05c46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c18f3340b4dfa" /><Relationship Type="http://schemas.openxmlformats.org/officeDocument/2006/relationships/image" Target="/ppt/media/image16.png" Id="R19a808eb9cb74ea5" /><Relationship Type="http://schemas.openxmlformats.org/officeDocument/2006/relationships/notesSlide" Target="/ppt/notesSlides/notesSlide16.xml" Id="R81fee8b8dcf046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0b26d250654d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4781-275B-40CC-BB9F-65BB28D6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2382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2E5CD-64D7-4146-AF3D-DCB5F0C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B48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1F2B48"/>
                </a:solidFill>
                <a:latin typeface="Cambria"/>
                <a:ea typeface="Cambria"/>
                <a:cs typeface="Cambria"/>
              </a:rPr>
              <a:t>Department of Artificial Intelligence &amp; Data 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D1F5A-37D6-468E-BDB0-949C5ED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600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B48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1F2B48"/>
                </a:solidFill>
                <a:latin typeface="Cambria"/>
                <a:ea typeface="Cambria"/>
                <a:cs typeface="Cambria"/>
              </a:rPr>
              <a:t>Academic Year 2025-26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95489-E928-4172-BDD7-4046FA81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286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262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KumbhRakshak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CE6B2-39A8-4F6F-8090-601A99E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987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950" b="0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Safety and Decision Support for Nashik-Trimbakeshwar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D56FA-73FF-4F56-87A3-9C280B8F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767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Hardik Sedani T8-70  |  Shubham Vishwakarma T5-13</a:t>
            </a:r>
          </a:p>
        </p:txBody>
      </p:sp>
    </p:spTree>
    <p:extLst>
      <p:ext uri="{BB962C8B-B14F-4D97-AF65-F5344CB8AC3E}">
        <p14:creationId xmlns:p14="http://schemas.microsoft.com/office/powerpoint/2010/main" val="2947349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c55c741d445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703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4b0bd157747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2CAF0-9741-46E2-8F39-4F500463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71675"/>
            <a:ext cx="77914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FBF1D-B4BE-487D-8DC3-4A5862F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85950"/>
            <a:ext cx="388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C9DD9-6E1F-4325-BFBF-3A605E7C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00250"/>
            <a:ext cx="752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KumbhRakshak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A2010-566F-4A6B-B1EE-54C15FB6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8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 place-linked command-centre prototype for the upcoming Nashik-Trimbakeshwar Simhastha.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16344-FB3E-42FC-B69C-44D02A64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037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Shows locations, crowd indicators and incident information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3FF3E-8B9E-40DF-8850-1D76BDA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00450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Uses a 3D guide to explain where ghats and facilities belong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C431F-6E2E-4CA5-ABF7-B1260F84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0052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Links each place to its relevant monitoring or response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3E408-8E89-457D-A1B1-69D88E9B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00600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 Requires official GIS, live feeds and validation before field use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31613bfef46d8"/>
          <a:stretch xmlns:a="http://schemas.openxmlformats.org/drawingml/2006/main"/>
        </p:blipFill>
        <p:spPr>
          <a:xfrm xmlns:a="http://schemas.openxmlformats.org/drawingml/2006/main">
            <a:off x="9686925" y="2364737"/>
            <a:ext cx="3810000" cy="233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794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3861cda1e41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15A0F-1537-40D4-AA2A-55410FF8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066925"/>
            <a:ext cx="11668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E8C52-73C7-4D03-80A5-C65BC94E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2407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A large event needs clear place context when crowd, camera and public reports arrive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7E2A1-8927-4BEC-8AF2-CB4FA700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1E2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B3C76-3B98-4BBD-ACC1-B301C60E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409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75014-33DD-4638-8C2B-D5FE6DD0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052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Crowd bottlenecks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190E0-09EB-4E28-9D1A-4A3A386E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81625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B44D91-02EA-46AD-88C2-17908D2A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10200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Unclear links between ghats, routes and relevant portals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DA32F-EBDE-494A-9AA6-F3A6A38F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81625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227C8-3DA5-4391-9EDE-26DA27CB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410200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Crowd and incident inputs arrive in separate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84B3E-8D06-44A8-B66E-766F945D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381625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5C62-A9AF-4CCC-846E-518D96A2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10200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Unverified posts can spread during an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00308-FECB-442A-922C-8B6460F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381625"/>
            <a:ext cx="1962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7BEF2-43D3-4716-AE0F-19CA6FE5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10200"/>
            <a:ext cx="1885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Human approval and clear context remain essential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BC6FC-25D1-4456-8809-C13BF774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00775"/>
            <a:ext cx="121920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E1A47-4C20-4102-8F21-B851E193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3627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5A81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D5A819"/>
                </a:solidFill>
                <a:latin typeface="Calibri"/>
                <a:ea typeface="Calibri"/>
                <a:cs typeface="Calibri"/>
              </a:rPr>
              <a:t>Research Gap: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1A90F-0B8E-4F06-8A75-5CFD060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36270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place-linked view that connects signals, facilities and human response is missing from many tools.</a:t>
            </a:r>
          </a:p>
        </p:txBody>
      </p:sp>
    </p:spTree>
    <p:extLst>
      <p:ext uri="{BB962C8B-B14F-4D97-AF65-F5344CB8AC3E}">
        <p14:creationId xmlns:p14="http://schemas.microsoft.com/office/powerpoint/2010/main" val="8853817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e89c4f3c642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AD49B-BF5A-4644-B460-C444829F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86025"/>
            <a:ext cx="5372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8FF4E-6821-4D6F-A30C-5BE39CF4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05075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Show Nashik and Trimbakeshwar landmarks in an interactive 3D guide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C63D1-BE88-4D4A-A87B-F668B9EF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29050"/>
            <a:ext cx="5372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EEFB2-189D-48B0-B353-A53234CB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Connect each landmark to the related crowd, map or response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C33AC-B1C3-4C9F-ADCF-3E4E939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62550"/>
            <a:ext cx="53721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B93E2-91E2-48CD-9E55-6A1E2CD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533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Surface crowd pressure and incident signals for human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16565-6FEA-41D0-BDEB-EA9E7F53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77000"/>
            <a:ext cx="5372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6637A-12BC-4046-BD57-94BF1947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496050"/>
            <a:ext cx="5334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Explain demo data and unverified information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E0496-396C-43F1-A00F-7A24D5C7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86025"/>
            <a:ext cx="40862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9CF2E-E4B1-46D5-AD4F-71BD0ABE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505075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Bring many project features into one understandable website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8A9F7-BD41-4510-980F-81FE14E4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29050"/>
            <a:ext cx="40862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ABCC8-43C9-4D43-8CCB-FAEECD20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4810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Support claim review before public communication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076D7-6166-44A3-9096-E7268C9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62550"/>
            <a:ext cx="40862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0F6B-5874-429B-A80B-8DCBBCDC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181600"/>
            <a:ext cx="4048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Prepare for GIS and live-feed integration after validation</a:t>
            </a:r>
          </a:p>
        </p:txBody>
      </p:sp>
    </p:spTree>
    <p:extLst>
      <p:ext uri="{BB962C8B-B14F-4D97-AF65-F5344CB8AC3E}">
        <p14:creationId xmlns:p14="http://schemas.microsoft.com/office/powerpoint/2010/main" val="2801845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96894d2f949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49E44-E37E-498A-926A-A442BD61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5657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525AB-6E23-4F52-A711-8710239D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3375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37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337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Literature Survey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56AF2-06A1-49D8-AE4C-6E0B2A4A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81915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Research on Kumbh safety, crowd analysis and digital reporting informs this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F839-1453-45F2-A9DF-1E3D4CE4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381125"/>
            <a:ext cx="4219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42FDD-2CF4-4662-B69F-D2681C27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457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Relevance to KumbhRakshak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C2E7F-8E5D-492F-A341-F67DA247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71650"/>
            <a:ext cx="4200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31142-2399-4AF9-AD10-D3B1F395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847850"/>
            <a:ext cx="39909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Sets the real-world safety and coordination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5AFE8-55EA-4433-B965-03943B39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562225"/>
            <a:ext cx="42005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3B1F7-007C-48AD-AAFF-5D49F1D6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38425"/>
            <a:ext cx="3990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Supports camera-based crowd observation as a future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C0D92-B85A-46A7-94B9-03FAEA8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62325"/>
            <a:ext cx="42005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0B9AC-8EA8-46BF-8784-99DEC995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39909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Shows density estimation can help zone-level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9BACF-9500-4937-9242-B2EC0779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029075"/>
            <a:ext cx="42005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BCAB5-15AC-4727-B7AC-CD35A72E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3990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Motivates forecasts, but field accuracy must be tested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3985C-3C1C-4B52-8F1D-CC776CD2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714875"/>
            <a:ext cx="42005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FB72D-6F2D-4E13-887E-9F4ED4A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91075"/>
            <a:ext cx="3990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Explains risk around ghat pedestrian bottlenecks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22BF8-B70F-4B89-B98A-D21D880C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19725"/>
            <a:ext cx="4200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E7691-BECE-4360-BE7B-E01B8DF3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95925"/>
            <a:ext cx="3990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Supports accessibility-aware place guidance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CC5F7-72A2-4A65-84CD-8767076C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134100"/>
            <a:ext cx="42005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8ACA2-1B75-440C-91E3-E5DAEF5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10300"/>
            <a:ext cx="39909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Motivates human review of public reports and claims</a:t>
            </a:r>
          </a:p>
        </p:txBody>
      </p:sp>
    </p:spTree>
    <p:extLst>
      <p:ext uri="{BB962C8B-B14F-4D97-AF65-F5344CB8AC3E}">
        <p14:creationId xmlns:p14="http://schemas.microsoft.com/office/powerpoint/2010/main" val="3160666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0783b3dfb47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9BBCE-BBAB-488F-B44A-5EA3D548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18122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E2F8-A3A7-4DD7-83FF-440901A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90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Kumbh studies show the scale of crowd coordination and safety planning.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89C88-3637-4400-89D5-73F5DE1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71800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6B0DE-58E6-4F9E-8E3E-F6BD1DD5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8132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Vision research supports crowd counting, but site-specific validation is essential.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75DCE-8E7F-4015-A63A-EDC8F7EA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4332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6A64D-71A9-4601-A6C8-4440B027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7528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Forecasting can aid early review when reliable local data is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06CDF-7BB1-49FE-BCF9-58E5D1C8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52437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73DA2-56BE-4E81-9F4C-02252E83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533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Accessible navigation research informs a future verified route layer.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DD111-B9A9-4E78-B794-51E8D6F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86375"/>
            <a:ext cx="110680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10B04-F9A7-4CEA-95FD-7FCF8050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2959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Fast-moving online claims require evidence and human approval before response.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A8B0B-11AB-428B-8E33-7289824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181725"/>
            <a:ext cx="118395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C4EA5-2866-49B9-B951-599C793C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A81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D5A819"/>
                </a:solidFill>
                <a:latin typeface="Calibri"/>
                <a:ea typeface="Calibri"/>
                <a:cs typeface="Calibri"/>
              </a:rPr>
              <a:t>Confirmed Research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8DDB1-8634-48FF-BF69-CC292BC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553200"/>
            <a:ext cx="11106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KumbhRakshak brings place context, monitoring views and response workflows together. Field validation remains necessary.</a:t>
            </a:r>
          </a:p>
        </p:txBody>
      </p:sp>
    </p:spTree>
    <p:extLst>
      <p:ext uri="{BB962C8B-B14F-4D97-AF65-F5344CB8AC3E}">
        <p14:creationId xmlns:p14="http://schemas.microsoft.com/office/powerpoint/2010/main" val="20105441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2884c355e452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F9564-4B06-49DD-B257-78B874A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14600"/>
            <a:ext cx="56292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3BDE1-7240-48D9-ABB8-C9B92AC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76500"/>
            <a:ext cx="4276725" cy="420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2E839-2C18-454E-A812-244D79D5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00325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4F71B-38AC-4455-875C-F639F308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479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Frontend: Next.js, React, Three.js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95A6F-B51A-44C8-9E98-8736E0FA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43275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ED3E3-8BFE-486A-B17B-462B360D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9090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Backend: FastAPI and WebSockets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F9115-CB1C-4B49-B535-AF2D1943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1480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F15F0-7B32-41A1-B74B-239A073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62425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Data: Firestore adapter, demo memory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B15E5-0F26-41C8-8517-C5AFF8D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1965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B56E7-C3A9-4C4D-9099-1E3A7522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67275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AI: vision, claim and crowd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22DD0-3F8D-4D08-A9E9-1C50C8A5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56260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43B0A-B0A7-4C2A-937E-37476779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10225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Maps: Mapbox GL and OpenStreetMap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A331C8-C4A2-4DC1-BCF4-B2155FFB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6181725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0C21E-0BCA-455B-825D-34838306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2293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Tools: Docker, Git, VS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2F4B2-72FE-4C19-BD74-BDE858F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789FF-8D17-408E-9EE9-30ED1E37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812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Camera feeds: permissioned sources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FB119-4BC7-4B81-B612-6780E969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6335CB-8CBE-4689-A975-9653F9C6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623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Operator laptop or server: 8-16 GB 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96E19-6A75-4AB3-8219-D1EAF35E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05275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BD106-9BE8-4F47-A314-2DE223FE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33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Phones: browsers for field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3FC93-0237-4C45-BF8B-60D656A8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997CC-3EAE-47FD-9C8F-21D601CC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8863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Network: reliable and secured APIs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7C136D-1615-4938-8AB4-8224FC98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19750"/>
            <a:ext cx="4143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E4DAA-113E-47AE-95E0-01F83C9D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64832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GIS: official ghat and facility coordinates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A29678-BD41-4F42-9627-64312C1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705600"/>
            <a:ext cx="11582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CCD92-8468-4442-97CF-DF1D51A2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848475"/>
            <a:ext cx="1109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A live deployment needs official data access, security review and field testing.</a:t>
            </a:r>
          </a:p>
        </p:txBody>
      </p:sp>
    </p:spTree>
    <p:extLst>
      <p:ext uri="{BB962C8B-B14F-4D97-AF65-F5344CB8AC3E}">
        <p14:creationId xmlns:p14="http://schemas.microsoft.com/office/powerpoint/2010/main" val="14332949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a68bcf4a74b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22F83-D29B-4BB4-9385-E5FD69B0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7650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85407-6C78-40E7-AF1F-1C1A73C7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050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Public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08E6E-653A-4EC3-980B-FF0AFAC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Place guide, advisories and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F5920-726D-42B9-88A6-A91DB4BC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76500"/>
            <a:ext cx="2647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ABCA3-9CC1-471C-AF6F-F9A99EA7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505075"/>
            <a:ext cx="264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Field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E1BC6-E905-4952-B602-6E62284D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43225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Observations and incident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606A2-2E4B-4E43-A69E-5ACF4AA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1E2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1706D-D86F-43EB-8838-2268388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0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Operator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5B6EC-7483-441E-A5BB-C0157F72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43225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Crowd, cameras and human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BE351-0CCF-452D-8E0C-817BE62D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762500"/>
            <a:ext cx="21240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0D395-825B-4F28-B607-E731600F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006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Place &amp; Signal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285EB-E667-46FA-BB71-41A9F351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2445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Maps, feeds and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9AE6C-D464-454C-9FFD-5B5F6D7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62500"/>
            <a:ext cx="21240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6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AF3D3-CE1E-42BF-9434-2B0A453B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006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Event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F10D2-90BE-4330-B136-DBA8EF5B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2445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and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4E224-FA92-47A0-BAE5-CD86AFD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62500"/>
            <a:ext cx="21240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971A79-2AFF-4372-9119-7343A18A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Indicators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8E9D0-EF90-4D35-94B2-FB3377F7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2445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Illustrative demo values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3E37D-27E4-4768-A535-0E3F1D38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62500"/>
            <a:ext cx="212407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6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9EFE7-6E40-463A-990B-B22A2CA5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00600"/>
            <a:ext cx="2028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F2680-A8BC-4460-9CDB-CC51D9C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24450"/>
            <a:ext cx="2028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Operator approval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134209-D65D-43EF-AA8C-386FD5C5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62500"/>
            <a:ext cx="21336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2B727-26A7-4B81-9B46-BF56614B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8006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Alerts &amp; Guidance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45D75-129C-47EE-8D2F-ACDE271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124450"/>
            <a:ext cx="2038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Approved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AA23D-5105-4F61-8A05-2153874B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34125"/>
            <a:ext cx="971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D28BB-617F-4DBE-BAB8-AD0681E6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391275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The dashboard connects each signal to a named location before an operator decides what to do.</a:t>
            </a:r>
          </a:p>
        </p:txBody>
      </p:sp>
    </p:spTree>
    <p:extLst>
      <p:ext uri="{BB962C8B-B14F-4D97-AF65-F5344CB8AC3E}">
        <p14:creationId xmlns:p14="http://schemas.microsoft.com/office/powerpoint/2010/main" val="2952008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8541a2fc348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31A76-C0CD-47EF-A730-9A2FFB6D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7858125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569d2c57649de"/>
          <a:stretch xmlns:a="http://schemas.openxmlformats.org/drawingml/2006/main"/>
        </p:blipFill>
        <p:spPr>
          <a:xfrm xmlns:a="http://schemas.openxmlformats.org/drawingml/2006/main">
            <a:off x="3553377" y="1495425"/>
            <a:ext cx="7714146" cy="47339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6097C-0CCA-4F53-A6E1-C3BA9533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391275"/>
            <a:ext cx="1165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239D0-7E9B-435F-82E4-C0AD0482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15100"/>
            <a:ext cx="11210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KumbhRakshak 3D Place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71682-F465-4E05-856E-60676A5E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905625"/>
            <a:ext cx="11210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Schematic Nashik scene: choose Ramkund or another visible landmark, then open its linked feature portal.</a:t>
            </a:r>
          </a:p>
        </p:txBody>
      </p:sp>
    </p:spTree>
    <p:extLst>
      <p:ext uri="{BB962C8B-B14F-4D97-AF65-F5344CB8AC3E}">
        <p14:creationId xmlns:p14="http://schemas.microsoft.com/office/powerpoint/2010/main" val="8024724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17a02cf1f4f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AB366-BA2A-47A7-9F9B-7B5F07D6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23852-C509-46FF-A970-3B83E1C5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800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Prototype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F53D2-FB8F-4B72-AD07-D8B209BB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24100"/>
            <a:ext cx="2447925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2E56E-1C21-43A5-BDD9-B1A61FBC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24100"/>
            <a:ext cx="245745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E88DC-BCE8-490E-ADCB-BC03DC7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193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CB475-BBE4-4E5C-8A92-43A0D9C7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19350"/>
            <a:ext cx="2362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3D Place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EAE6A-3FC2-4ABB-A56E-4185E789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3367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6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Illustrative Nashik and Trimbakeshwar scenes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C1C90-B8B4-4C85-9CA7-E55CDA5E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19350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C3B4F-F35D-4546-B129-3DC2F00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19350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Crowd Portal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0D2E1-B7D6-4964-AB76-7B81145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2276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Example 15, 30 and 60-minute forecasts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9EE25-C69A-4771-BB6F-1106684A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0520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98945-C067-4A0C-84EC-27387AE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05200"/>
            <a:ext cx="2362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Incident Portal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51115-A5D7-4FDA-B64C-482E96DE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19525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Timeline and operator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301A7-7E00-4414-B987-A338288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05200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95E7F-E58A-4C87-BC2D-A5EFD79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05200"/>
            <a:ext cx="22764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8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Claim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B8157-14B5-4C1D-B87D-05D50B0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19525"/>
            <a:ext cx="22764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Evidence before public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82C01-C8DB-440A-A288-A57134B7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47925"/>
            <a:ext cx="5181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4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FBBA7-639A-43DF-93B0-1CD66F46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5A81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5A819"/>
                </a:solidFill>
                <a:latin typeface="Calibri"/>
                <a:ea typeface="Calibri"/>
                <a:cs typeface="Calibri"/>
              </a:rPr>
              <a:t>Prototype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8C67D-B402-4987-8736-799875F9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337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 front end  +  FastAPI back end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In-memory demo data and WebSocket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4982E-7117-446D-B3D4-E4C274E7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67175"/>
            <a:ext cx="5476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CF6E9-C6FA-424C-BD11-05847B41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Current boundaries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895E5-ED05-4701-8ABE-1B838157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4791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Real CCTV, crowd counts and GIS are not connected.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8A946-19D4-444B-8AC5-4C891EAD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38750"/>
            <a:ext cx="4791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Scenario events and forecast values are simulated.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FF1F3-F98A-4FD4-8053-4080DC2E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905500"/>
            <a:ext cx="47910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• Emergency actions need an authorized human operator.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F033E-D816-4A05-9C3D-053E39B0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591050"/>
            <a:ext cx="64103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1E953-F382-4FEA-891E-F4DC513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958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Demo workflow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FE6EF7-E001-413C-8761-0374FD5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14925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Select a place, open its portal, review the signal and record an operator decision.</a:t>
            </a:r>
          </a:p>
        </p:txBody>
      </p:sp>
    </p:spTree>
    <p:extLst>
      <p:ext uri="{BB962C8B-B14F-4D97-AF65-F5344CB8AC3E}">
        <p14:creationId xmlns:p14="http://schemas.microsoft.com/office/powerpoint/2010/main" val="15617916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432a2df904b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D0A64-F11F-42F7-9A27-0A0510A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33550"/>
            <a:ext cx="5619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FD878-7D7F-4356-8F58-45963AC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7907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725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Demonstrated Prototype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2376E-1100-4692-A940-AF873C64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1455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6BADE-B914-415C-A5C5-4F80B987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240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3D place guide opens Nashik and Trimbakeshwar scenes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C3DAA-EAF5-4A5C-AF6D-9A003EEB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4317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6D7AB-D19F-4A79-AFFD-23CF4D4A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527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Ramkund hotspot links to a crowd-related portal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C1975-7EBA-4623-85D2-AE560002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23A62-EE10-4817-8950-0E3249A5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813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Simulation starts, pauses and logs injected demo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BD143-E1C4-45D1-B47A-3318974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09405-B491-4A3D-BD91-617C7530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40995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Crowd portal displays example forecast cards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1F748-746B-403C-8A76-DF196A8B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2905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9ECFF-8488-45DB-A031-01A046F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Overview groups available features by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1A415C-B544-42DD-A38A-06541573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5767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65169-8847-4C28-9B9D-8D236E1B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6720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Local back-end tests passed in demo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368D1-302E-447F-899C-DEA3CA7A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35080-05EB-402E-9346-4F2A3AC5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9582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All operational figures are labeled as illustrative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487AA-13BD-4E66-8EDA-EA8FF16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14925"/>
            <a:ext cx="497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6FD30D-2691-4308-B788-9F02B50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24450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Field accuracy and response impact remain untested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56E438-0A26-4C39-9724-37313E4E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352550"/>
            <a:ext cx="6200775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376d847a748b4"/>
          <a:stretch xmlns:a="http://schemas.openxmlformats.org/drawingml/2006/main"/>
        </p:blipFill>
        <p:spPr>
          <a:xfrm xmlns:a="http://schemas.openxmlformats.org/drawingml/2006/main">
            <a:off x="7324725" y="1714945"/>
            <a:ext cx="6067425" cy="372338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E473E1-4241-4DF8-B35C-123433FC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57825"/>
            <a:ext cx="566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Crowd portal: simulated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C44C8-71CD-4EA2-A897-33266FFC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34075"/>
            <a:ext cx="53911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BF4C1C-91C9-4B96-912C-8FF99700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98170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1E27"/>
                </a:solidFill>
                <a:latin typeface="Cambria"/>
                <a:ea typeface="Cambria"/>
                <a:cs typeface="Cambria"/>
              </a:defRPr>
            </a:pPr>
            <a:r>
              <a:rPr sz="1650" b="1">
                <a:solidFill>
                  <a:srgbClr val="921E27"/>
                </a:solidFill>
                <a:latin typeface="Cambria"/>
                <a:ea typeface="Cambria"/>
                <a:cs typeface="Cambria"/>
              </a:rPr>
              <a:t>Validation before field 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AB4CE7-9DDE-495F-9635-022B678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429375"/>
            <a:ext cx="50768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Connect verified GIS and live feeds, then test alerts, accuracy and response workflows with local authorities.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1E11F2-E697-4E45-A31F-98D439AB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48350"/>
            <a:ext cx="60293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F2FEB9-3801-4B71-9866-E3E14CCD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067425"/>
            <a:ext cx="5572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The screenshots demonstrate software behavior; they do not establish safety performance at a real event.</a:t>
            </a:r>
          </a:p>
        </p:txBody>
      </p:sp>
    </p:spTree>
    <p:extLst>
      <p:ext uri="{BB962C8B-B14F-4D97-AF65-F5344CB8AC3E}">
        <p14:creationId xmlns:p14="http://schemas.microsoft.com/office/powerpoint/2010/main" val="10485528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1a25860574b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8FA6A-FCFF-4DF9-B8E9-D515874B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71675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3DBFB-ADA5-49C9-A08B-05808238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09775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Use approved 2027 GIS and ghat facility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28AAC-DAF2-4E51-96AD-06B579F9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43275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0263A-E051-4B76-BE9C-165F4412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81375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Integrate permissioned camera and incident feeds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BC59F-0421-4FC0-9BDA-72AD903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5864A-6387-40DE-B0E2-5DF22582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705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Measure risk-model accuracy and false alerts locally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5BE52-1AEE-45A1-B711-14F9171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91250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DD159-0DA2-438A-B444-D001FEF2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229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Connect emergency services through approved protocols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48684-DF76-40C8-8706-0F5BB9A3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71675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6E2A6-ABE2-4BA1-AB55-AC781485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09775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Add audited, multilingual public guidance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47D1C-8C65-49EE-A5AE-5A662A3B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43275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83C68-9C14-41BF-80BE-22F9CD95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81375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Test low-connectivity use with volunteers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7EDF6-5AC3-4D41-A622-91190710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4905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9D160-66AC-4199-9670-6B3E74A5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705350"/>
            <a:ext cx="48863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Run staged pilots before operational 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55A21-23A0-49ED-92F3-813123E2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53125"/>
            <a:ext cx="49053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D5E62-9AF1-4D54-A1BF-FE8CCE6A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991225"/>
            <a:ext cx="48863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Study historical data for 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4265407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f627c5d424e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D3BF-FA1A-41AB-BFA5-1E1639B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838325"/>
            <a:ext cx="12011025" cy="576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996B9-9605-48CA-94D5-80E810DA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0764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[1]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A93B3-56D1-49B4-8481-645D3D65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9621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Kanaujiya, A.K. &amp; Tiwari, V. (2022), Crowd Management and Strategies for Security and Surveillance During Large Mass Gathering Events: Prayagraj Kumbh Mela 2019 Experience. National Academy Science Letters.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C0969-4154-4071-A73E-CFFB3715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956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0A703-3DB4-4847-BE8C-0CF37331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813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Nashik District Administration, Ramkund Nashik, official landmark information.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48F71-96A3-463C-93EF-A663D99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7147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0E71B-03C0-49E5-9CF9-D800C3DA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6004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Nashik District Administration, Kushavart Tirtha, Trimbakeshwar, official landmark information.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FDEC4-24D1-4EFD-A3AA-9A7B63B4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339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[4]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4F620-251E-4839-9AF7-B155315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4196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Tiwari, S. &amp; Chowdhary, R. (2022), Technology and crowd management: Kumbh case study.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38F89-09FE-4748-845D-C4CC9E45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3530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[5]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60F3D-D926-4685-8B00-FB7ED392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23875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KumbhRakshak project repository: github.com/hardiksedani/mahakumbh_projects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A69D5-767B-4181-81FA-66478E6A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1722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[6]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52D0E-64EB-4955-AB6E-AC6B38FE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0579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KumbhRakshak local website prototype, screenshots captured 3 October 2026.</a:t>
            </a:r>
          </a:p>
        </p:txBody>
      </p:sp>
    </p:spTree>
    <p:extLst>
      <p:ext uri="{BB962C8B-B14F-4D97-AF65-F5344CB8AC3E}">
        <p14:creationId xmlns:p14="http://schemas.microsoft.com/office/powerpoint/2010/main" val="3924562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01008af744f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63823-75B3-4160-B249-C8D400B4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7858125" cy="497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12e14bad94787"/>
          <a:stretch xmlns:a="http://schemas.openxmlformats.org/drawingml/2006/main"/>
        </p:blipFill>
        <p:spPr>
          <a:xfrm xmlns:a="http://schemas.openxmlformats.org/drawingml/2006/main">
            <a:off x="1714500" y="1994856"/>
            <a:ext cx="5667375" cy="3477887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68b939f1b4d51"/>
          <a:stretch xmlns:a="http://schemas.openxmlformats.org/drawingml/2006/main"/>
        </p:blipFill>
        <p:spPr>
          <a:xfrm xmlns:a="http://schemas.openxmlformats.org/drawingml/2006/main">
            <a:off x="7477125" y="1994856"/>
            <a:ext cx="5667375" cy="347788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1BBBD-030A-475E-85FC-02302641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391275"/>
            <a:ext cx="11658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42228-2F65-4D89-A9D3-A6EA792D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515100"/>
            <a:ext cx="11210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21E27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21E27"/>
                </a:solidFill>
                <a:latin typeface="Calibri"/>
                <a:ea typeface="Calibri"/>
                <a:cs typeface="Calibri"/>
              </a:rPr>
              <a:t>Two Linked 3D Scenes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97D66-7162-4A51-8ACE-4E5B74B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905625"/>
            <a:ext cx="11210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B4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F2B48"/>
                </a:solidFill>
                <a:latin typeface="Calibri"/>
                <a:ea typeface="Calibri"/>
                <a:cs typeface="Calibri"/>
              </a:rPr>
              <a:t>Nashik and Trimbakeshwar each have schematic landmarks and direct links to the relevant feature portals.</a:t>
            </a:r>
          </a:p>
        </p:txBody>
      </p:sp>
    </p:spTree>
    <p:extLst>
      <p:ext uri="{BB962C8B-B14F-4D97-AF65-F5344CB8AC3E}">
        <p14:creationId xmlns:p14="http://schemas.microsoft.com/office/powerpoint/2010/main" val="76209338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808eb9cb74e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955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2026-10-03T17:07:37.8340000Z</dcterms:created>
  <dcterms:modified xsi:type="dcterms:W3CDTF">2026-10-03T17:07:37.8340000Z</dcterms:modified>
</coreProperties>
</file>